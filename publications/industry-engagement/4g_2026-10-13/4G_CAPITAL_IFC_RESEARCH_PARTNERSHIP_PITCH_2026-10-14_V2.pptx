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39d22324b644eb8" /><Relationship Type="http://schemas.openxmlformats.org/officeDocument/2006/relationships/extended-properties" Target="/docProps/app.xml" Id="R71f5a639ee584439" /><Relationship Type="http://schemas.openxmlformats.org/officeDocument/2006/relationships/officeDocument" Target="/ppt/presentation.xml" Id="R45a78dea33d54f4e" /></Relationships>
</file>

<file path=ppt/presentation.xml><?xml version="1.0" encoding="utf-8"?>
<p:presentation xmlns:p="http://schemas.openxmlformats.org/presentationml/2006/main">
  <p:sldMasterIdLst>
    <p:sldMasterId xmlns:r="http://schemas.openxmlformats.org/officeDocument/2006/relationships" id="2147483648" r:id="R3d4c5286826e4b4e"/>
  </p:sldMasterIdLst>
  <p:notesMasterIdLst>
    <p:notesMasterId xmlns:r="http://schemas.openxmlformats.org/officeDocument/2006/relationships" r:id="R13da0ac22afe4de4"/>
  </p:notesMasterIdLst>
  <p:sldIdLst>
    <p:sldId xmlns:r="http://schemas.openxmlformats.org/officeDocument/2006/relationships" id="256" r:id="Rc8509f578d564a98"/>
    <p:sldId xmlns:r="http://schemas.openxmlformats.org/officeDocument/2006/relationships" id="257" r:id="R31065d58df57490a"/>
    <p:sldId xmlns:r="http://schemas.openxmlformats.org/officeDocument/2006/relationships" id="258" r:id="R665ec29c280c46a2"/>
    <p:sldId xmlns:r="http://schemas.openxmlformats.org/officeDocument/2006/relationships" id="259" r:id="Rc97152c14f654085"/>
    <p:sldId xmlns:r="http://schemas.openxmlformats.org/officeDocument/2006/relationships" id="260" r:id="Rd27c4602db634602"/>
    <p:sldId xmlns:r="http://schemas.openxmlformats.org/officeDocument/2006/relationships" id="261" r:id="R15ed41af3e7e44c4"/>
    <p:sldId xmlns:r="http://schemas.openxmlformats.org/officeDocument/2006/relationships" id="262" r:id="R186e907fef1644f2"/>
    <p:sldId xmlns:r="http://schemas.openxmlformats.org/officeDocument/2006/relationships" id="263" r:id="Ra992216b19d1455a"/>
    <p:sldId xmlns:r="http://schemas.openxmlformats.org/officeDocument/2006/relationships" id="264" r:id="Rd93839cf5363493f"/>
    <p:sldId xmlns:r="http://schemas.openxmlformats.org/officeDocument/2006/relationships" id="265" r:id="R2aff294eca934f33"/>
    <p:sldId xmlns:r="http://schemas.openxmlformats.org/officeDocument/2006/relationships" id="266" r:id="Rf44adaa171d84065"/>
    <p:sldId xmlns:r="http://schemas.openxmlformats.org/officeDocument/2006/relationships" id="267" r:id="R4e9eca5db17f457e"/>
    <p:sldId xmlns:r="http://schemas.openxmlformats.org/officeDocument/2006/relationships" id="268" r:id="R481d898fee014d2e"/>
    <p:sldId xmlns:r="http://schemas.openxmlformats.org/officeDocument/2006/relationships" id="269" r:id="Rded1c9093794495e"/>
    <p:sldId xmlns:r="http://schemas.openxmlformats.org/officeDocument/2006/relationships" id="270" r:id="Ra2cdb0ff70654f0e"/>
    <p:sldId xmlns:r="http://schemas.openxmlformats.org/officeDocument/2006/relationships" id="271" r:id="Rdff32ad43cb24073"/>
    <p:sldId xmlns:r="http://schemas.openxmlformats.org/officeDocument/2006/relationships" id="272" r:id="R19616711e00646ad"/>
    <p:sldId xmlns:r="http://schemas.openxmlformats.org/officeDocument/2006/relationships" id="273" r:id="Rd41adaf01c7348e6"/>
    <p:sldId xmlns:r="http://schemas.openxmlformats.org/officeDocument/2006/relationships" id="274" r:id="R62d3b56560e24d2e"/>
    <p:sldId xmlns:r="http://schemas.openxmlformats.org/officeDocument/2006/relationships" id="275" r:id="R5591ebd102d24ffe"/>
    <p:sldId xmlns:r="http://schemas.openxmlformats.org/officeDocument/2006/relationships" id="276" r:id="R5adc55976a6c4af4"/>
    <p:sldId xmlns:r="http://schemas.openxmlformats.org/officeDocument/2006/relationships" id="277" r:id="R00ccf6abf0604810"/>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c56426860af430a" /><Relationship Type="http://schemas.openxmlformats.org/officeDocument/2006/relationships/slideMaster" Target="/ppt/slideMasters/slideMaster1.xml" Id="R3d4c5286826e4b4e" /><Relationship Type="http://schemas.openxmlformats.org/officeDocument/2006/relationships/notesMaster" Target="/ppt/notesMasters/notesMaster1.xml" Id="R13da0ac22afe4de4" /><Relationship Type="http://schemas.openxmlformats.org/officeDocument/2006/relationships/presProps" Target="/ppt/presProps.xml" Id="R0cb5f09549b64582" /><Relationship Type="http://schemas.openxmlformats.org/officeDocument/2006/relationships/tableStyles" Target="/ppt/tableStyles.xml" Id="R5711b077c32d4eb8" /><Relationship Type="http://schemas.openxmlformats.org/officeDocument/2006/relationships/slide" Target="/ppt/slides/slide1.xml" Id="Rc8509f578d564a98" /><Relationship Type="http://schemas.openxmlformats.org/officeDocument/2006/relationships/slide" Target="/ppt/slides/slide2.xml" Id="R31065d58df57490a" /><Relationship Type="http://schemas.openxmlformats.org/officeDocument/2006/relationships/slide" Target="/ppt/slides/slide3.xml" Id="R665ec29c280c46a2" /><Relationship Type="http://schemas.openxmlformats.org/officeDocument/2006/relationships/slide" Target="/ppt/slides/slide4.xml" Id="Rc97152c14f654085" /><Relationship Type="http://schemas.openxmlformats.org/officeDocument/2006/relationships/slide" Target="/ppt/slides/slide5.xml" Id="Rd27c4602db634602" /><Relationship Type="http://schemas.openxmlformats.org/officeDocument/2006/relationships/slide" Target="/ppt/slides/slide6.xml" Id="R15ed41af3e7e44c4" /><Relationship Type="http://schemas.openxmlformats.org/officeDocument/2006/relationships/slide" Target="/ppt/slides/slide7.xml" Id="R186e907fef1644f2" /><Relationship Type="http://schemas.openxmlformats.org/officeDocument/2006/relationships/slide" Target="/ppt/slides/slide8.xml" Id="Ra992216b19d1455a" /><Relationship Type="http://schemas.openxmlformats.org/officeDocument/2006/relationships/slide" Target="/ppt/slides/slide9.xml" Id="Rd93839cf5363493f" /><Relationship Type="http://schemas.openxmlformats.org/officeDocument/2006/relationships/slide" Target="/ppt/slides/slide10.xml" Id="R2aff294eca934f33" /><Relationship Type="http://schemas.openxmlformats.org/officeDocument/2006/relationships/slide" Target="/ppt/slides/slide11.xml" Id="Rf44adaa171d84065" /><Relationship Type="http://schemas.openxmlformats.org/officeDocument/2006/relationships/slide" Target="/ppt/slides/slide12.xml" Id="R4e9eca5db17f457e" /><Relationship Type="http://schemas.openxmlformats.org/officeDocument/2006/relationships/slide" Target="/ppt/slides/slide13.xml" Id="R481d898fee014d2e" /><Relationship Type="http://schemas.openxmlformats.org/officeDocument/2006/relationships/slide" Target="/ppt/slides/slide14.xml" Id="Rded1c9093794495e" /><Relationship Type="http://schemas.openxmlformats.org/officeDocument/2006/relationships/slide" Target="/ppt/slides/slide15.xml" Id="Ra2cdb0ff70654f0e" /><Relationship Type="http://schemas.openxmlformats.org/officeDocument/2006/relationships/slide" Target="/ppt/slides/slide16.xml" Id="Rdff32ad43cb24073" /><Relationship Type="http://schemas.openxmlformats.org/officeDocument/2006/relationships/slide" Target="/ppt/slides/slide17.xml" Id="R19616711e00646ad" /><Relationship Type="http://schemas.openxmlformats.org/officeDocument/2006/relationships/slide" Target="/ppt/slides/slide18.xml" Id="Rd41adaf01c7348e6" /><Relationship Type="http://schemas.openxmlformats.org/officeDocument/2006/relationships/slide" Target="/ppt/slides/slide19.xml" Id="R62d3b56560e24d2e" /><Relationship Type="http://schemas.openxmlformats.org/officeDocument/2006/relationships/slide" Target="/ppt/slides/slide20.xml" Id="R5591ebd102d24ffe" /><Relationship Type="http://schemas.openxmlformats.org/officeDocument/2006/relationships/slide" Target="/ppt/slides/slide21.xml" Id="R5adc55976a6c4af4" /><Relationship Type="http://schemas.openxmlformats.org/officeDocument/2006/relationships/slide" Target="/ppt/slides/slide22.xml" Id="R00ccf6abf060481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23f7195ab7c45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2c2eb9b58c4fbc" /><Relationship Type="http://schemas.openxmlformats.org/officeDocument/2006/relationships/notesMaster" Target="/ppt/notesMasters/notesMaster1.xml" Id="R123da513af1944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88c9c67c9846c5" /><Relationship Type="http://schemas.openxmlformats.org/officeDocument/2006/relationships/notesMaster" Target="/ppt/notesMasters/notesMaster1.xml" Id="R16330a4d8de447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1b2909eef4944a36" /><Relationship Type="http://schemas.openxmlformats.org/officeDocument/2006/relationships/notesMaster" Target="/ppt/notesMasters/notesMaster1.xml" Id="R7743358ffeab4e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49da3040f540c7" /><Relationship Type="http://schemas.openxmlformats.org/officeDocument/2006/relationships/notesMaster" Target="/ppt/notesMasters/notesMaster1.xml" Id="R4df71cdcd1ec4e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ce2ce56c9e44bc" /><Relationship Type="http://schemas.openxmlformats.org/officeDocument/2006/relationships/notesMaster" Target="/ppt/notesMasters/notesMaster1.xml" Id="Rfdbabc2ad3314ca0"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13fbebe0514ac8" /><Relationship Type="http://schemas.openxmlformats.org/officeDocument/2006/relationships/notesMaster" Target="/ppt/notesMasters/notesMaster1.xml" Id="Rbd45dbd441ec404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d73e9aa588431b" /><Relationship Type="http://schemas.openxmlformats.org/officeDocument/2006/relationships/notesMaster" Target="/ppt/notesMasters/notesMaster1.xml" Id="Rbaafabb420024e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836d0a43c7a42e0" /><Relationship Type="http://schemas.openxmlformats.org/officeDocument/2006/relationships/notesMaster" Target="/ppt/notesMasters/notesMaster1.xml" Id="Rf3b26408a4a54d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fab9a23ac44286" /><Relationship Type="http://schemas.openxmlformats.org/officeDocument/2006/relationships/notesMaster" Target="/ppt/notesMasters/notesMaster1.xml" Id="Reb07dc10eb9441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e4e9a591f7b4f26" /><Relationship Type="http://schemas.openxmlformats.org/officeDocument/2006/relationships/notesMaster" Target="/ppt/notesMasters/notesMaster1.xml" Id="R719579c40d894ca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f107ab35633451d" /><Relationship Type="http://schemas.openxmlformats.org/officeDocument/2006/relationships/notesMaster" Target="/ppt/notesMasters/notesMaster1.xml" Id="R7ba97e03ca38425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a634e643154507" /><Relationship Type="http://schemas.openxmlformats.org/officeDocument/2006/relationships/notesMaster" Target="/ppt/notesMasters/notesMaster1.xml" Id="Rb908b0c8e71c4d1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0a73e1ac6cb47c4" /><Relationship Type="http://schemas.openxmlformats.org/officeDocument/2006/relationships/notesMaster" Target="/ppt/notesMasters/notesMaster1.xml" Id="R75a7fbe5b8284e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7ab46a7d2874d35" /><Relationship Type="http://schemas.openxmlformats.org/officeDocument/2006/relationships/notesMaster" Target="/ppt/notesMasters/notesMaster1.xml" Id="Rf90e7a7203b7464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42b69f9c6144960" /><Relationship Type="http://schemas.openxmlformats.org/officeDocument/2006/relationships/notesMaster" Target="/ppt/notesMasters/notesMaster1.xml" Id="R98acd8d0a3e7406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89a8e58303b4ea0" /><Relationship Type="http://schemas.openxmlformats.org/officeDocument/2006/relationships/notesMaster" Target="/ppt/notesMasters/notesMaster1.xml" Id="R1e20feb10a9349f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6bf6193a2cb4255" /><Relationship Type="http://schemas.openxmlformats.org/officeDocument/2006/relationships/notesMaster" Target="/ppt/notesMasters/notesMaster1.xml" Id="R2da3f9ccfded415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2174de2d9444958" /><Relationship Type="http://schemas.openxmlformats.org/officeDocument/2006/relationships/notesMaster" Target="/ppt/notesMasters/notesMaster1.xml" Id="R4650ad889a4f4ee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60a1d3b38b744dd" /><Relationship Type="http://schemas.openxmlformats.org/officeDocument/2006/relationships/notesMaster" Target="/ppt/notesMasters/notesMaster1.xml" Id="Rbcef62388a154b4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c0b84cc9264461" /><Relationship Type="http://schemas.openxmlformats.org/officeDocument/2006/relationships/notesMaster" Target="/ppt/notesMasters/notesMaster1.xml" Id="R1f8718407460439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670ce81cd614983" /><Relationship Type="http://schemas.openxmlformats.org/officeDocument/2006/relationships/notesMaster" Target="/ppt/notesMasters/notesMaster1.xml" Id="R6287f15d07564ac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04343046b304259" /><Relationship Type="http://schemas.openxmlformats.org/officeDocument/2006/relationships/notesMaster" Target="/ppt/notesMasters/notesMaster1.xml" Id="R2f3ed1615c554a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research partnership uses Underwrite for Collection as its organising framework. The completed synthetic case is available for joint review and adaptation to an agreed product. All merchant performance and commercial terms in the calculations are author-selected teaching assumptions.</a:t>
            </a:r>
          </a:p>
          <a:p xmlns:a="http://schemas.openxmlformats.org/drawingml/2006/main">
            <a:r>
              <a:t/>
            </a:r>
          </a:p>
          <a:p xmlns:a="http://schemas.openxmlformats.org/drawingml/2006/main">
            <a:r>
              <a:t>Sources</a:t>
            </a:r>
          </a:p>
          <a:p xmlns:a="http://schemas.openxmlformats.org/drawingml/2006/main">
            <a:r>
              <a:t>[1] N. Maloba, Underwrite for Collection: MSME Credit Lifecycle Whitepaper, 2026. doi: 10.5281/zenodo.23343888. https://doi.org/10.5281/zenodo.23343888</a:t>
            </a:r>
          </a:p>
          <a:p xmlns:a="http://schemas.openxmlformats.org/drawingml/2006/main">
            <a:r>
              <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questions connect the customer operating cycle to portfolio strategy. The first task measures the source of repayment. The second estimates the effect of a decision. The third evaluates the lender economics of risk sharing and the extent to which it supports additional lending.</a:t>
            </a:r>
          </a:p>
          <a:p xmlns:a="http://schemas.openxmlformats.org/drawingml/2006/main">
            <a:r>
              <a:t/>
            </a:r>
          </a:p>
          <a:p xmlns:a="http://schemas.openxmlformats.org/drawingml/2006/main">
            <a:r>
              <a:t>Sources</a:t>
            </a:r>
          </a:p>
          <a:p xmlns:a="http://schemas.openxmlformats.org/drawingml/2006/main">
            <a:r>
              <a:t>[1] N. Maloba, Underwrite for Collection: MSME Credit Lifecycle Whitepaper, 2026. doi: 10.5281/zenodo.23343888. https://doi.org/10.5281/zenodo.23343888</a:t>
            </a:r>
          </a:p>
          <a:p xmlns:a="http://schemas.openxmlformats.org/drawingml/2006/main">
            <a:r>
              <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a:p xmlns:a="http://schemas.openxmlformats.org/drawingml/2006/main">
            <a:r>
              <a:t/>
            </a:r>
          </a:p>
          <a:p xmlns:a="http://schemas.openxmlformats.org/drawingml/2006/main">
            <a:r>
              <a:t>[10] World Bank and FIRST Initiative, Principles for Public Credit Guarantee Schemes for SMEs, 2015. https://www.worldbank.org/en/topic/financialsector/publication/principles-for-public-credit-guarantee-schemes-cgss-for-smes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products and SII were checked on18 October 2026. IFC disclosure narrative describes a $44.4m-equivalent portfolio and up to$6.2m maximum risk, whereas the indicative Board table displays$8.2m. Use the dated executed agreement to configure the actual programme.</a:t>
            </a:r>
          </a:p>
          <a:p xmlns:a="http://schemas.openxmlformats.org/drawingml/2006/main">
            <a:r>
              <a:t/>
            </a:r>
          </a:p>
          <a:p xmlns:a="http://schemas.openxmlformats.org/drawingml/2006/main">
            <a:r>
              <a:t>Sources</a:t>
            </a:r>
          </a:p>
          <a:p xmlns:a="http://schemas.openxmlformats.org/drawingml/2006/main">
            <a:r>
              <a:t>[2] 4G Capital, UPIA: 30-Day Working Capital Business Loans. Accessed 18 October 2026. https://www.4g-capital.com/upia</a:t>
            </a:r>
          </a:p>
          <a:p xmlns:a="http://schemas.openxmlformats.org/drawingml/2006/main">
            <a:r>
              <a:t/>
            </a:r>
          </a:p>
          <a:p xmlns:a="http://schemas.openxmlformats.org/drawingml/2006/main">
            <a:r>
              <a:t>[3] 4G Capital, KUZA: Embedded Retail Credit for Distributors. Accessed 18 October 2026. https://www.4g-capital.com/kuza</a:t>
            </a:r>
          </a:p>
          <a:p xmlns:a="http://schemas.openxmlformats.org/drawingml/2006/main">
            <a:r>
              <a:t/>
            </a:r>
          </a:p>
          <a:p xmlns:a="http://schemas.openxmlformats.org/drawingml/2006/main">
            <a:r>
              <a:t>[4] IFC, MFP-CFLG-4G CAP, Summary of Investment Information, project 53511, updated4July2026. Accessed18 October 2026. https://disclosures.ifc.org/project-detail/SII/53511/mfp-cflg-4g-cap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listed commercial values are synthetic. Six stable merchants, three delayed merchants and three vulnerable merchants share the baseline. Scenario shocks start in cycle 3. One merchant is guarantee-ineligible. Origination stops on day 160 and guarantee inclusion on day 150. The model separately records inventory, receivables, accrued operating expenses and household shortfalls.</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cycle leaves KES 32,650 after repayment</a:t>
            </a:r>
          </a:p>
          <a:p xmlns:a="http://schemas.openxmlformats.org/drawingml/2006/main">
            <a:r>
              <a:t>C21=20,000+125,000−4,200−3,150−100,000−5,000=32,650. Distributor payment creates inventory directly. Principal movement is financing and sales revenue is operating inflow. The first cycle assumes all stock sells and the receipts settle before repayment.</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implemented gate is deterministic cash arithmetic using information from completed cycles. It is not fitted Bayesian or causal estimation. A later validated probabilistic extension can place predictive intervals around turnover, margins and cash and carry those intervals to authorised staff. Model code retains operating expense arrears and household shortfalls so loan repayment does not hide unpaid commitments.</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Repeat loans and defaults change with trading conditions</a:t>
            </a:r>
          </a:p>
          <a:p xmlns:a="http://schemas.openxmlformats.org/drawingml/2006/main">
            <a:r>
              <a:t>Baseline:72loans,60repeat,0defaults. Delayed sales:60loans,48repeat,3defaults. Support plus extension:66loans,54repeat,0defaults. Common severe shock:36loans,24repeat,12defaults. Support outcomes follow stated assumptions and motivate a prospective impact study.</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Merchant cash reveals the consequences of each lending decision</a:t>
            </a:r>
          </a:p>
          <a:p xmlns:a="http://schemas.openxmlformats.org/drawingml/2006/main">
            <a:r>
              <a:t>V01 provides one merchant trajectory. Opening merchant cash is KES 20,000. Cash declines and repeat eligibility changes when trading slows. The supported case assumes improved sell-through and changed timing. Inventory, operating arrears and household shortfalls accompany cash in the exported ledgers.</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Support assumes92% sell-through,25%markup,24sellingdays and3settlement-lagdays for affected loans, plus a14-day extension. These assumptions are not an estimated causal treatment effect. The experimental literature supports evaluating the design of business training locally. Preserve completed and censored cycles, cluster dependence, spillovers and intervention costs in the protocol.</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a:p xmlns:a="http://schemas.openxmlformats.org/drawingml/2006/main">
            <a:r>
              <a:t/>
            </a:r>
          </a:p>
          <a:p xmlns:a="http://schemas.openxmlformats.org/drawingml/2006/main">
            <a:r>
              <a:t>[6] F. Campos et al., Teaching personal initiative beats traditional training in boosting small business in West Africa, Science,357(6357),1287-1290, 2017. doi: 10.1126/science.aan5329. https://doi.org/10.1126/science.aan5329</a:t>
            </a:r>
          </a:p>
          <a:p xmlns:a="http://schemas.openxmlformats.org/drawingml/2006/main">
            <a:r>
              <a:t/>
            </a:r>
          </a:p>
          <a:p xmlns:a="http://schemas.openxmlformats.org/drawingml/2006/main">
            <a:r>
              <a:t>[7] M. A. Hernan and J. M. Robins, Causal Inference: What If, Chapman &amp; Hall/CRC, 2020. https://miguelhernan.org/whatifbook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Contribution=collected fees−origination−servicing−collection−support−funding−guarantee fees−written-off principal+borrower recovery+guarantee cash−recovery remittance. Baseline414000−39024−52377.2615−2502.7397=320095.9988. Delayed-sales316500−33936−44280.9194−2633.9427−44790.9091=190858.2288. Rounded displayed rows can differ byKES 1.</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Scenario contribution compares the same merchant paths with and without protection</a:t>
            </a:r>
          </a:p>
          <a:p xmlns:a="http://schemas.openxmlformats.org/drawingml/2006/main">
            <a:r>
              <a:t>Each protected/unprotected pair keeps merchant behaviour identical. Protection changes guarantee cash, fees and the funding path. It does not change default outcomes within a pair. Negative severe-shock contribution makes retained concentration risk visible.</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result derives from the same exported summary. The case reports realised contribution, not a calibrated return forecast for4G. The severe scenario has12defaults and KES 590058.453 retained credit loss after guarantee benefit and recovery. These comparative results identify what a proposed pilot would measure and validate.</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publicly disclosed first/second layer proportions motivate this KES scale illustration. The KES values are independent teaching amounts, not a currency conversion ofIFC commitments. Processing delays, fees, eligibility, ordering and recovery allocation are selected conventions. The executed agreement would control the actual implementation.</a:t>
            </a:r>
          </a:p>
          <a:p xmlns:a="http://schemas.openxmlformats.org/drawingml/2006/main">
            <a:r>
              <a:t/>
            </a:r>
          </a:p>
          <a:p xmlns:a="http://schemas.openxmlformats.org/drawingml/2006/main">
            <a:r>
              <a:t>Sources</a:t>
            </a:r>
          </a:p>
          <a:p xmlns:a="http://schemas.openxmlformats.org/drawingml/2006/main">
            <a:r>
              <a:t>[4] IFC, MFP-CFLG-4G CAP, Summary of Investment Information, project 53511, updated4July2026. Accessed18 October 2026. https://disclosures.ifc.org/project-detail/SII/53511/mfp-cflg-4g-cap</a:t>
            </a:r>
          </a:p>
          <a:p xmlns:a="http://schemas.openxmlformats.org/drawingml/2006/main">
            <a:r>
              <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a:p xmlns:a="http://schemas.openxmlformats.org/drawingml/2006/main">
            <a:r>
              <a:t/>
            </a:r>
          </a:p>
          <a:p xmlns:a="http://schemas.openxmlformats.org/drawingml/2006/main">
            <a:r>
              <a:t>[10] World Bank and FIRST Initiative, Principles for Public Credit Guarantee Schemes for SMEs, 2015. https://www.worldbank.org/en/topic/financialsector/publication/principles-for-public-credit-guarantee-schemes-cgss-for-smes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Claim settlement and recovery have separate cash dates</a:t>
            </a:r>
          </a:p>
          <a:p xmlns:a="http://schemas.openxmlformats.org/drawingml/2006/main">
            <a:r>
              <a:t>Delayed-sales loan V01-C03 defaults day 107 with KES 37,900 unpaid principal. Claim allocation KES 34,454.545 follows submission112, acceptance122 and settlement152. That scenario has no borrower recovery after the model settles operating arrears. In the common severe shock, D01-C03 receives KES 67,727.273 on day 152 and remits KES 4,727.273 after recovery on day 167. Aggregate severe recoveries are KES 62,400 and remittances KES 18,124.330.</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Settlement lags run from acceptance.30-day settlement occurs day 152;90-day settlement occurs day 212. Both delayed-sales cases have no post-default borrower recovery and receive KES 68,909.09 guarantee cash. Clearing operating arrears before the recovery event leaves no recovery surplus in this scenario. Retained loss is identical KES 44,790.91. Additional funding is204.1637. These amounts are a timing comparison within the simulation.</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Funding follows disbursements, collections and settled claims</a:t>
            </a:r>
          </a:p>
          <a:p xmlns:a="http://schemas.openxmlformats.org/drawingml/2006/main">
            <a:r>
              <a:t>Lender starts with zero cash, draws borrowing as needed, and repays debt with incoming cash. Funding accrues at12%annual on opening debt. Delayed-sales protected peak isKES 1361758.53. A claim receivable remains separate from cash. The severe scenario leaves closing borrowing ofKES 568864.42.</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Gross loss894000 minus borrower recovery62400 minus guarantee cash259665.8768 plus recovery remittance18124.3297 equals retained loss590058.4529. D01-C03: claim67727.2727 atday 152, borrower recovery5200 and remittance4727.2727 atday 167. Borrower unresolved principal831600 remains distinct from the lender retained loss after guarantee compensation. In the support scenario, closing inventory164640 is carried at cost and requires valuation sensitivity. An approved pilot would add capital return, concentration limits and inventory valuation sensitivity.</a:t>
            </a:r>
          </a:p>
          <a:p xmlns:a="http://schemas.openxmlformats.org/drawingml/2006/main">
            <a:r>
              <a:t/>
            </a:r>
          </a:p>
          <a:p xmlns:a="http://schemas.openxmlformats.org/drawingml/2006/main">
            <a:r>
              <a:t>Sources</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workflow rather than a deployed system. The generative layer prepares structured evidence and explanations using approved tools. Calculation services supply numerical results. Decision services enforce permissions and configured policy. A correlationID connects the case; eventIDs, timestamps, approverIDs, modelversions and execution receipts establish the sequence. Customer review and complaint routes remain traceable.</a:t>
            </a:r>
          </a:p>
          <a:p xmlns:a="http://schemas.openxmlformats.org/drawingml/2006/main">
            <a:r>
              <a:t/>
            </a:r>
          </a:p>
          <a:p xmlns:a="http://schemas.openxmlformats.org/drawingml/2006/main">
            <a:r>
              <a:t>Sources</a:t>
            </a:r>
          </a:p>
          <a:p xmlns:a="http://schemas.openxmlformats.org/drawingml/2006/main">
            <a:r>
              <a:t>[1] N. Maloba, Underwrite for Collection: MSME Credit Lifecycle Whitepaper, 2026. doi: 10.5281/zenodo.23343888. https://doi.org/10.5281/zenodo.23343888</a:t>
            </a:r>
          </a:p>
          <a:p xmlns:a="http://schemas.openxmlformats.org/drawingml/2006/main">
            <a:r>
              <a:t/>
            </a:r>
          </a:p>
          <a:p xmlns:a="http://schemas.openxmlformats.org/drawingml/2006/main">
            <a:r>
              <a:t>[8] Republic of Kenya, Data Protection Act, No. 24 of 2019, ss.25,26,29-31,35,41-43,48-49. https://new.kenyalaw.org/akn/ke/act/2019/24/eng@2019-11-15/source</a:t>
            </a:r>
          </a:p>
          <a:p xmlns:a="http://schemas.openxmlformats.org/drawingml/2006/main">
            <a:r>
              <a:t/>
            </a:r>
          </a:p>
          <a:p xmlns:a="http://schemas.openxmlformats.org/drawingml/2006/main">
            <a:r>
              <a:t>[9] Republic of Kenya, Data Protection (General) Regulations, 2021, reg.22 and applicable processing safeguards. https://www.odpc.go.ke/wp-content/uploads/2024/03/THE-DATA-PROTECTION-GENERAL-REGULATIONS-2021-1.pdf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sequence rather than a promised timetable or signed engagement. Historical observations alone do not establish intervention effects. Design the prospective stage around eligibility, clustering, intervention fidelity, delayed outcomes and power. Choose approval thresholds and acceptance metrics with the partner before execution.</a:t>
            </a:r>
          </a:p>
          <a:p xmlns:a="http://schemas.openxmlformats.org/drawingml/2006/main">
            <a:r>
              <a:t/>
            </a:r>
          </a:p>
          <a:p xmlns:a="http://schemas.openxmlformats.org/drawingml/2006/main">
            <a:r>
              <a:t>Sources</a:t>
            </a:r>
          </a:p>
          <a:p xmlns:a="http://schemas.openxmlformats.org/drawingml/2006/main">
            <a:r>
              <a:t>[6] F. Campos et al., Teaching personal initiative beats traditional training in boosting small business in West Africa, Science,357(6357),1287-1290, 2017. doi: 10.1126/science.aan5329. https://doi.org/10.1126/science.aan5329</a:t>
            </a:r>
          </a:p>
          <a:p xmlns:a="http://schemas.openxmlformats.org/drawingml/2006/main">
            <a:r>
              <a:t/>
            </a:r>
          </a:p>
          <a:p xmlns:a="http://schemas.openxmlformats.org/drawingml/2006/main">
            <a:r>
              <a:t>[7] M. A. Hernan and J. M. Robins, Causal Inference: What If, Chapman &amp; Hall/CRC, 2020. https://miguelhernan.org/whatifbook</a:t>
            </a:r>
          </a:p>
          <a:p xmlns:a="http://schemas.openxmlformats.org/drawingml/2006/main">
            <a:r>
              <a:t/>
            </a:r>
          </a:p>
          <a:p xmlns:a="http://schemas.openxmlformats.org/drawingml/2006/main">
            <a:r>
              <a:t>[8] Republic of Kenya, Data Protection Act, No. 24 of 2019, ss.25,26,29-31,35,41-43,48-49. https://new.kenyalaw.org/akn/ke/act/2019/24/eng@2019-11-15/source</a:t>
            </a:r>
          </a:p>
          <a:p xmlns:a="http://schemas.openxmlformats.org/drawingml/2006/main">
            <a:r>
              <a:t/>
            </a:r>
          </a:p>
          <a:p xmlns:a="http://schemas.openxmlformats.org/drawingml/2006/main">
            <a:r>
              <a:t>[9] Republic of Kenya, Data Protection (General) Regulations, 2021, reg.22 and applicable processing safeguards. https://www.odpc.go.ke/wp-content/uploads/2024/03/THE-DATA-PROTECTION-GENERAL-REGULATIONS-2021-1.pdf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Operational legal mapping should confirm applicability to the entity, product, processing purpose and decision. RelevantDPA duties include principles, rights, notice, lawfulprocessing, DPIA, automateddecisions, security and transfers. GeneralRegulations2021reg22 addresses automated individual decision-making. A human review process needs effective authority, enough information and recorded reasons.</a:t>
            </a:r>
          </a:p>
          <a:p xmlns:a="http://schemas.openxmlformats.org/drawingml/2006/main">
            <a:r>
              <a:t/>
            </a:r>
          </a:p>
          <a:p xmlns:a="http://schemas.openxmlformats.org/drawingml/2006/main">
            <a:r>
              <a:t>Sources</a:t>
            </a:r>
          </a:p>
          <a:p xmlns:a="http://schemas.openxmlformats.org/drawingml/2006/main">
            <a:r>
              <a:t>[8] Republic of Kenya, Data Protection Act, No. 24 of 2019, ss.25,26,29-31,35,41-43,48-49. https://new.kenyalaw.org/akn/ke/act/2019/24/eng@2019-11-15/source</a:t>
            </a:r>
          </a:p>
          <a:p xmlns:a="http://schemas.openxmlformats.org/drawingml/2006/main">
            <a:r>
              <a:t/>
            </a:r>
          </a:p>
          <a:p xmlns:a="http://schemas.openxmlformats.org/drawingml/2006/main">
            <a:r>
              <a:t>[9] Republic of Kenya, Data Protection (General) Regulations, 2021, reg.22 and applicable processing safeguards. https://www.odpc.go.ke/wp-content/uploads/2024/03/THE-DATA-PROTECTION-GENERAL-REGULATIONS-2021-1.pdf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initial request is a scoping discussion, not a procurement or deployment commitment. The reproducible case and article can accompany the deck for technical review. Subsequent commercial scope, access controls and responsibilities would be agreed with the relevant4G team.</a:t>
            </a:r>
          </a:p>
          <a:p xmlns:a="http://schemas.openxmlformats.org/drawingml/2006/main">
            <a:r>
              <a:t/>
            </a:r>
          </a:p>
          <a:p xmlns:a="http://schemas.openxmlformats.org/drawingml/2006/main">
            <a:r>
              <a:t>Sources</a:t>
            </a:r>
          </a:p>
          <a:p xmlns:a="http://schemas.openxmlformats.org/drawingml/2006/main">
            <a:r>
              <a:t>[1] N. Maloba, Underwrite for Collection: MSME Credit Lifecycle Whitepaper, 2026. doi: 10.5281/zenodo.23343888. https://doi.org/10.5281/zenodo.23343888</a:t>
            </a:r>
          </a:p>
          <a:p xmlns:a="http://schemas.openxmlformats.org/drawingml/2006/main">
            <a:r>
              <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Full numbered references and hyperlinks appear in the speaker notes. Reproduction uses assumptions.json, model.py, run_case.py, exportedCSV ledgers and summary.json. Deck and original analysis: Creative Commons Attribution-NonCommercial-ShareAlike4.0International. https://creativecommons.org/licenses/by-nc-sa/4.0/</a:t>
            </a:r>
          </a:p>
          <a:p xmlns:a="http://schemas.openxmlformats.org/drawingml/2006/main">
            <a:r>
              <a:t/>
            </a:r>
          </a:p>
          <a:p xmlns:a="http://schemas.openxmlformats.org/drawingml/2006/main">
            <a:r>
              <a:t>Sources</a:t>
            </a:r>
          </a:p>
          <a:p xmlns:a="http://schemas.openxmlformats.org/drawingml/2006/main">
            <a:r>
              <a:t>[1] N. Maloba, Underwrite for Collection: MSME Credit Lifecycle Whitepaper, 2026. doi: 10.5281/zenodo.23343888. https://doi.org/10.5281/zenodo.23343888</a:t>
            </a:r>
          </a:p>
          <a:p xmlns:a="http://schemas.openxmlformats.org/drawingml/2006/main">
            <a:r>
              <a:t/>
            </a:r>
          </a:p>
          <a:p xmlns:a="http://schemas.openxmlformats.org/drawingml/2006/main">
            <a:r>
              <a:t>[2] 4G Capital, UPIA: 30-Day Working Capital Business Loans. Accessed 18 October 2026. https://www.4g-capital.com/upia</a:t>
            </a:r>
          </a:p>
          <a:p xmlns:a="http://schemas.openxmlformats.org/drawingml/2006/main">
            <a:r>
              <a:t/>
            </a:r>
          </a:p>
          <a:p xmlns:a="http://schemas.openxmlformats.org/drawingml/2006/main">
            <a:r>
              <a:t>[3] 4G Capital, KUZA: Embedded Retail Credit for Distributors. Accessed 18 October 2026. https://www.4g-capital.com/kuza</a:t>
            </a:r>
          </a:p>
          <a:p xmlns:a="http://schemas.openxmlformats.org/drawingml/2006/main">
            <a:r>
              <a:t/>
            </a:r>
          </a:p>
          <a:p xmlns:a="http://schemas.openxmlformats.org/drawingml/2006/main">
            <a:r>
              <a:t>[4] IFC, MFP-CFLG-4G CAP, Summary of Investment Information, project 53511, updated4July2026. Accessed18 October 2026. https://disclosures.ifc.org/project-detail/SII/53511/mfp-cflg-4g-cap</a:t>
            </a:r>
          </a:p>
          <a:p xmlns:a="http://schemas.openxmlformats.org/drawingml/2006/main">
            <a:r>
              <a:t/>
            </a:r>
          </a:p>
          <a:p xmlns:a="http://schemas.openxmlformats.org/drawingml/2006/main">
            <a:r>
              <a:t>[5] N. Maloba, 4G-inspired merchant cycle and risk-sharing teaching case, 2026. Reproducible code: https://github.com/TheAlchemistNerd/mwendo-pamoja-continuous-underwriting/tree/main/research_lab/four_g_merchant_finance_case . Local source: research_lab/four_g_merchant_finance_case/assumptions.json and model.py. Output: output/four_g_merchant_finance_case_2026-10-16/summary.json and scenario ledgers.</a:t>
            </a:r>
          </a:p>
          <a:p xmlns:a="http://schemas.openxmlformats.org/drawingml/2006/main">
            <a:r>
              <a:t/>
            </a:r>
          </a:p>
          <a:p xmlns:a="http://schemas.openxmlformats.org/drawingml/2006/main">
            <a:r>
              <a:t>[6] F. Campos et al., Teaching personal initiative beats traditional training in boosting small business in West Africa, Science,357(6357),1287-1290, 2017. doi: 10.1126/science.aan5329. https://doi.org/10.1126/science.aan5329</a:t>
            </a:r>
          </a:p>
          <a:p xmlns:a="http://schemas.openxmlformats.org/drawingml/2006/main">
            <a:r>
              <a:t/>
            </a:r>
          </a:p>
          <a:p xmlns:a="http://schemas.openxmlformats.org/drawingml/2006/main">
            <a:r>
              <a:t>[7] M. A. Hernan and J. M. Robins, Causal Inference: What If, Chapman &amp; Hall/CRC, 2020. https://miguelhernan.org/whatifbook</a:t>
            </a:r>
          </a:p>
          <a:p xmlns:a="http://schemas.openxmlformats.org/drawingml/2006/main">
            <a:r>
              <a:t/>
            </a:r>
          </a:p>
          <a:p xmlns:a="http://schemas.openxmlformats.org/drawingml/2006/main">
            <a:r>
              <a:t>[8] Republic of Kenya, Data Protection Act, No. 24 of 2019, ss.25,26,29-31,35,41-43,48-49. https://new.kenyalaw.org/akn/ke/act/2019/24/eng@2019-11-15/source</a:t>
            </a:r>
          </a:p>
          <a:p xmlns:a="http://schemas.openxmlformats.org/drawingml/2006/main">
            <a:r>
              <a:t/>
            </a:r>
          </a:p>
          <a:p xmlns:a="http://schemas.openxmlformats.org/drawingml/2006/main">
            <a:r>
              <a:t>[9] Republic of Kenya, Data Protection (General) Regulations, 2021, reg.22 and applicable processing safeguards. https://www.odpc.go.ke/wp-content/uploads/2024/03/THE-DATA-PROTECTION-GENERAL-REGULATIONS-2021-1.pdf</a:t>
            </a:r>
          </a:p>
          <a:p xmlns:a="http://schemas.openxmlformats.org/drawingml/2006/main">
            <a:r>
              <a:t/>
            </a:r>
          </a:p>
          <a:p xmlns:a="http://schemas.openxmlformats.org/drawingml/2006/main">
            <a:r>
              <a:t>[10] World Bank and FIRST Initiative, Principles for Public Credit Guarantee Schemes for SMEs, 2015. https://www.worldbank.org/en/topic/financialsector/publication/principles-for-public-credit-guarantee-schemes-cgss-for-smes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700a91007542f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ba055f07bc54eb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c27e7997d6041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f2b673e607b4b6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18d7c59dc6647a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7ad4804742243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C080348-BE5D-4658-A82E-C3863BE1463C}"/>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B5F88DE-A8BF-42BE-B208-1215F6514FCD}"/>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FC5C622-00B3-4236-B85C-1342C25F6D93}"/>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7D8C46-E145-44DB-BA64-7B1EE990994A}"/>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654654E-C088-481C-928E-86F81F8F559E}"/>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90F0E2-C986-47D9-9F18-BE879F86E5F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EE8C0D6-0DA4-4F11-BFF4-46C8F8B2F7DF}"/>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18380F-EB35-4CA6-8D1F-7E77398CF628}"/>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B6E1F8-1462-4FD8-B116-464200AE84D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5BCD76F-61FD-4D33-921F-F3741072A80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095589d6d7549e0" /><Relationship Type="http://schemas.openxmlformats.org/officeDocument/2006/relationships/slideLayout" Target="/ppt/slideLayouts/slideLayout1.xml" Id="R4154f810479141af" /><Relationship Type="http://schemas.openxmlformats.org/officeDocument/2006/relationships/slideLayout" Target="/ppt/slideLayouts/slideLayout2.xml" Id="R3bc27e37d272449e" /><Relationship Type="http://schemas.openxmlformats.org/officeDocument/2006/relationships/slideLayout" Target="/ppt/slideLayouts/slideLayout3.xml" Id="Ra324018dc97e46f2" /><Relationship Type="http://schemas.openxmlformats.org/officeDocument/2006/relationships/slideLayout" Target="/ppt/slideLayouts/slideLayout4.xml" Id="R835c63bf93f14681" /><Relationship Type="http://schemas.openxmlformats.org/officeDocument/2006/relationships/slideLayout" Target="/ppt/slideLayouts/slideLayout5.xml" Id="R2991f5b3959f4359" /><Relationship Type="http://schemas.openxmlformats.org/officeDocument/2006/relationships/slideLayout" Target="/ppt/slideLayouts/slideLayout6.xml" Id="R54e99bb9dad04ff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154f810479141af"/>
    <p:sldLayoutId xmlns:r="http://schemas.openxmlformats.org/officeDocument/2006/relationships" id="2147483650" r:id="R3bc27e37d272449e"/>
    <p:sldLayoutId xmlns:r="http://schemas.openxmlformats.org/officeDocument/2006/relationships" id="2147483651" r:id="Ra324018dc97e46f2"/>
    <p:sldLayoutId xmlns:r="http://schemas.openxmlformats.org/officeDocument/2006/relationships" id="2147483652" r:id="R835c63bf93f14681"/>
    <p:sldLayoutId xmlns:r="http://schemas.openxmlformats.org/officeDocument/2006/relationships" id="2147483653" r:id="R2991f5b3959f4359"/>
    <p:sldLayoutId xmlns:r="http://schemas.openxmlformats.org/officeDocument/2006/relationships" id="2147483654" r:id="R54e99bb9dad04ff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c3ba9ae4455457e" /><Relationship Type="http://schemas.openxmlformats.org/officeDocument/2006/relationships/notesSlide" Target="/ppt/notesSlides/notesSlide1.xml" Id="R85a7fa46747a48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96e72c568ba4437" /><Relationship Type="http://schemas.openxmlformats.org/officeDocument/2006/relationships/notesSlide" Target="/ppt/notesSlides/notesSlide2.xml" Id="Rfbc0cd6b259b422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8ae401368ae4f9c" /><Relationship Type="http://schemas.openxmlformats.org/officeDocument/2006/relationships/notesSlide" Target="/ppt/notesSlides/notesSlide3.xml" Id="Re0f577968da44b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2cfed4df86643d2" /><Relationship Type="http://schemas.openxmlformats.org/officeDocument/2006/relationships/notesSlide" Target="/ppt/notesSlides/notesSlide4.xml" Id="R8d3a130c12ba47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98def8a52f94d74" /><Relationship Type="http://schemas.openxmlformats.org/officeDocument/2006/relationships/image" Target="/ppt/media/image.png" Id="R96c0c12079fe4278" /><Relationship Type="http://schemas.openxmlformats.org/officeDocument/2006/relationships/notesSlide" Target="/ppt/notesSlides/notesSlide5.xml" Id="R5fd61cca0fbf4b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d9ec0ad6e6c4578" /><Relationship Type="http://schemas.openxmlformats.org/officeDocument/2006/relationships/notesSlide" Target="/ppt/notesSlides/notesSlide6.xml" Id="Rc94aadbbf9ff44d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586ed21417245e2" /><Relationship Type="http://schemas.openxmlformats.org/officeDocument/2006/relationships/image" Target="/ppt/media/image2.png" Id="Rceb210d2d12d41d1" /><Relationship Type="http://schemas.openxmlformats.org/officeDocument/2006/relationships/notesSlide" Target="/ppt/notesSlides/notesSlide7.xml" Id="Ra226bc7e9813475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3b8f5088925465c" /><Relationship Type="http://schemas.openxmlformats.org/officeDocument/2006/relationships/image" Target="/ppt/media/image3.png" Id="Rf216d7e1a9fd4fdf" /><Relationship Type="http://schemas.openxmlformats.org/officeDocument/2006/relationships/notesSlide" Target="/ppt/notesSlides/notesSlide8.xml" Id="R680dea64ef9b4cb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d7d7375888f4cfe" /><Relationship Type="http://schemas.openxmlformats.org/officeDocument/2006/relationships/notesSlide" Target="/ppt/notesSlides/notesSlide9.xml" Id="R247a45c65b8e4d7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db93ab4aa8843a1" /><Relationship Type="http://schemas.openxmlformats.org/officeDocument/2006/relationships/notesSlide" Target="/ppt/notesSlides/notesSlide10.xml" Id="Rf3918bd3f76b4c0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b625124d8e44401" /><Relationship Type="http://schemas.openxmlformats.org/officeDocument/2006/relationships/image" Target="/ppt/media/image4.png" Id="R9ad0f0fedd2a45e1" /><Relationship Type="http://schemas.openxmlformats.org/officeDocument/2006/relationships/notesSlide" Target="/ppt/notesSlides/notesSlide11.xml" Id="R3edc78dbedc7432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1a9488041fd49ef" /><Relationship Type="http://schemas.openxmlformats.org/officeDocument/2006/relationships/notesSlide" Target="/ppt/notesSlides/notesSlide12.xml" Id="R8e118f853141496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97cff9526154a3c" /><Relationship Type="http://schemas.openxmlformats.org/officeDocument/2006/relationships/notesSlide" Target="/ppt/notesSlides/notesSlide13.xml" Id="Rd9bc7f90c3cf421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b0055f72c644305" /><Relationship Type="http://schemas.openxmlformats.org/officeDocument/2006/relationships/image" Target="/ppt/media/image5.png" Id="R18e12e50431a4f6a" /><Relationship Type="http://schemas.openxmlformats.org/officeDocument/2006/relationships/notesSlide" Target="/ppt/notesSlides/notesSlide14.xml" Id="R4dd26622f3e84c7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a52155add8e4872" /><Relationship Type="http://schemas.openxmlformats.org/officeDocument/2006/relationships/notesSlide" Target="/ppt/notesSlides/notesSlide15.xml" Id="Rea0f4d9ebd834a0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091a643d3ce46ba" /><Relationship Type="http://schemas.openxmlformats.org/officeDocument/2006/relationships/image" Target="/ppt/media/image6.png" Id="R521b997a968541ab" /><Relationship Type="http://schemas.openxmlformats.org/officeDocument/2006/relationships/notesSlide" Target="/ppt/notesSlides/notesSlide16.xml" Id="R973d84008b0248c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b315b16e72642d7" /><Relationship Type="http://schemas.openxmlformats.org/officeDocument/2006/relationships/notesSlide" Target="/ppt/notesSlides/notesSlide17.xml" Id="R7d95e90f2bc445a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2ce25b3bc714aed" /><Relationship Type="http://schemas.openxmlformats.org/officeDocument/2006/relationships/notesSlide" Target="/ppt/notesSlides/notesSlide18.xml" Id="Rb829e428489e49a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45b6abfd4b54c65" /><Relationship Type="http://schemas.openxmlformats.org/officeDocument/2006/relationships/notesSlide" Target="/ppt/notesSlides/notesSlide19.xml" Id="R0e1e9ccd56644fc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d790bb7c398498c" /><Relationship Type="http://schemas.openxmlformats.org/officeDocument/2006/relationships/notesSlide" Target="/ppt/notesSlides/notesSlide20.xml" Id="R218dbe38441e49e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8b33d30ad114512" /><Relationship Type="http://schemas.openxmlformats.org/officeDocument/2006/relationships/notesSlide" Target="/ppt/notesSlides/notesSlide21.xml" Id="R377507057c324c2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8b8e0de44854df1" /><Relationship Type="http://schemas.openxmlformats.org/officeDocument/2006/relationships/notesSlide" Target="/ppt/notesSlides/notesSlide22.xml" Id="Rf92a64b3eb8845e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244538E-A79E-4FC8-808C-09EF805A6B25}"/>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4G Capital × Underwrite for Collection</a:t>
            </a:r>
          </a:p>
        </p:txBody>
      </p:sp>
      <p:sp>
        <p:nvSpPr>
          <p:cNvPr id="2" name="">
            <a:extLst xmlns:a="http://schemas.openxmlformats.org/drawingml/2006/main">
              <a:ext uri="{FF2B5EF4-FFF2-40B4-BE49-F238E27FC236}">
                <a16:creationId xmlns:a16="http://schemas.microsoft.com/office/drawing/2014/main" id="{E516B902-22A7-4BD6-9B33-A83471AB9F90}"/>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Nevil Maloba • Philtechent Limited • Research partnership proposal • 18 October 2026</a:t>
            </a:r>
          </a:p>
        </p:txBody>
      </p:sp>
      <p:sp>
        <p:nvSpPr>
          <p:cNvPr id="3" name="">
            <a:extLst xmlns:a="http://schemas.openxmlformats.org/drawingml/2006/main">
              <a:ext uri="{FF2B5EF4-FFF2-40B4-BE49-F238E27FC236}">
                <a16:creationId xmlns:a16="http://schemas.microsoft.com/office/drawing/2014/main" id="{A59DBD22-0ABA-421C-9E6F-657D8B87A49C}"/>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a:t>
            </a:r>
          </a:p>
        </p:txBody>
      </p:sp>
      <p:sp>
        <p:nvSpPr>
          <p:cNvPr id="4" name="">
            <a:extLst xmlns:a="http://schemas.openxmlformats.org/drawingml/2006/main">
              <a:ext uri="{FF2B5EF4-FFF2-40B4-BE49-F238E27FC236}">
                <a16:creationId xmlns:a16="http://schemas.microsoft.com/office/drawing/2014/main" id="{A3AFD09E-D130-403F-875F-13DA1E439905}"/>
              </a:ext>
            </a:extLst>
          </p:cNvPr>
          <p:cNvSpPr>
            <a:spLocks xmlns:a="http://schemas.openxmlformats.org/drawingml/2006/main" noGrp="1"/>
          </p:cNvSpPr>
          <p:nvPr/>
        </p:nvSpPr>
        <p:spPr>
          <a:xfrm xmlns:a="http://schemas.openxmlformats.org/drawingml/2006/main">
            <a:off x="666750" y="1952625"/>
            <a:ext cx="13620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4350" b="1">
                <a:solidFill>
                  <a:srgbClr val="142F47"/>
                </a:solidFill>
                <a:latin typeface="Arial"/>
                <a:ea typeface="Arial"/>
                <a:cs typeface="Arial"/>
              </a:defRPr>
            </a:defPPr>
            <a:lvl1pPr>
              <a:defRPr sz="4350" b="1">
                <a:solidFill>
                  <a:srgbClr val="142F47"/>
                </a:solidFill>
                <a:latin typeface="Arial"/>
                <a:ea typeface="Arial"/>
                <a:cs typeface="Arial"/>
              </a:defRPr>
            </a:lvl1pPr>
            <a:lvl2pPr>
              <a:defRPr sz="4350" b="1">
                <a:solidFill>
                  <a:srgbClr val="142F47"/>
                </a:solidFill>
                <a:latin typeface="Arial"/>
                <a:ea typeface="Arial"/>
                <a:cs typeface="Arial"/>
              </a:defRPr>
            </a:lvl2pPr>
            <a:lvl3pPr>
              <a:defRPr sz="4350" b="1">
                <a:solidFill>
                  <a:srgbClr val="142F47"/>
                </a:solidFill>
                <a:latin typeface="Arial"/>
                <a:ea typeface="Arial"/>
                <a:cs typeface="Arial"/>
              </a:defRPr>
            </a:lvl3pPr>
            <a:lvl4pPr>
              <a:defRPr sz="4350" b="1">
                <a:solidFill>
                  <a:srgbClr val="142F47"/>
                </a:solidFill>
                <a:latin typeface="Arial"/>
                <a:ea typeface="Arial"/>
                <a:cs typeface="Arial"/>
              </a:defRPr>
            </a:lvl4pPr>
            <a:lvl5pPr>
              <a:defRPr sz="4350" b="1">
                <a:solidFill>
                  <a:srgbClr val="142F47"/>
                </a:solidFill>
                <a:latin typeface="Arial"/>
                <a:ea typeface="Arial"/>
                <a:cs typeface="Arial"/>
              </a:defRPr>
            </a:lvl5pPr>
            <a:lvl6pPr>
              <a:defRPr sz="4350" b="1">
                <a:solidFill>
                  <a:srgbClr val="142F47"/>
                </a:solidFill>
                <a:latin typeface="Arial"/>
                <a:ea typeface="Arial"/>
                <a:cs typeface="Arial"/>
              </a:defRPr>
            </a:lvl6pPr>
            <a:lvl7pPr>
              <a:defRPr sz="4350" b="1">
                <a:solidFill>
                  <a:srgbClr val="142F47"/>
                </a:solidFill>
                <a:latin typeface="Arial"/>
                <a:ea typeface="Arial"/>
                <a:cs typeface="Arial"/>
              </a:defRPr>
            </a:lvl7pPr>
            <a:lvl8pPr>
              <a:defRPr sz="4350" b="1">
                <a:solidFill>
                  <a:srgbClr val="142F47"/>
                </a:solidFill>
                <a:latin typeface="Arial"/>
                <a:ea typeface="Arial"/>
                <a:cs typeface="Arial"/>
              </a:defRPr>
            </a:lvl8pPr>
            <a:lvl9pPr>
              <a:defRPr sz="4350" b="1">
                <a:solidFill>
                  <a:srgbClr val="142F47"/>
                </a:solidFill>
                <a:latin typeface="Arial"/>
                <a:ea typeface="Arial"/>
                <a:cs typeface="Arial"/>
              </a:defRPr>
            </a:lvl9pPr>
          </a:lstStyle>
          <a:p xmlns:a="http://schemas.openxmlformats.org/drawingml/2006/main">
            <a:pPr>
              <a:defRPr sz="4350" b="1">
                <a:solidFill>
                  <a:srgbClr val="142F47"/>
                </a:solidFill>
                <a:latin typeface="Arial"/>
                <a:ea typeface="Arial"/>
                <a:cs typeface="Arial"/>
              </a:defRPr>
            </a:pPr>
            <a:r>
              <a:rPr sz="4350" b="1">
                <a:solidFill>
                  <a:srgbClr val="142F47"/>
                </a:solidFill>
                <a:latin typeface="Arial"/>
                <a:ea typeface="Arial"/>
                <a:cs typeface="Arial"/>
              </a:rPr>
              <a:t>Merchant cash flows, repeat lending</a:t>
            </a:r>
          </a:p>
          <a:p xmlns:a="http://schemas.openxmlformats.org/drawingml/2006/main">
            <a:pPr>
              <a:defRPr sz="4350" b="1">
                <a:solidFill>
                  <a:srgbClr val="142F47"/>
                </a:solidFill>
                <a:latin typeface="Arial"/>
                <a:ea typeface="Arial"/>
                <a:cs typeface="Arial"/>
              </a:defRPr>
            </a:pPr>
            <a:r>
              <a:rPr sz="4350" b="1">
                <a:solidFill>
                  <a:srgbClr val="142F47"/>
                </a:solidFill>
                <a:latin typeface="Arial"/>
                <a:ea typeface="Arial"/>
                <a:cs typeface="Arial"/>
              </a:rPr>
              <a:t>and the economics of risk sharing</a:t>
            </a:r>
          </a:p>
        </p:txBody>
      </p:sp>
      <p:sp>
        <p:nvSpPr>
          <p:cNvPr id="5" name="">
            <a:extLst xmlns:a="http://schemas.openxmlformats.org/drawingml/2006/main">
              <a:ext uri="{FF2B5EF4-FFF2-40B4-BE49-F238E27FC236}">
                <a16:creationId xmlns:a16="http://schemas.microsoft.com/office/drawing/2014/main" id="{CF077374-09DD-47E9-919C-80CCE7F5C9FE}"/>
              </a:ext>
            </a:extLst>
          </p:cNvPr>
          <p:cNvSpPr>
            <a:spLocks xmlns:a="http://schemas.openxmlformats.org/drawingml/2006/main" noGrp="1"/>
          </p:cNvSpPr>
          <p:nvPr/>
        </p:nvSpPr>
        <p:spPr>
          <a:xfrm xmlns:a="http://schemas.openxmlformats.org/drawingml/2006/main">
            <a:off x="666750" y="4191000"/>
            <a:ext cx="13335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850" b="0">
                <a:solidFill>
                  <a:srgbClr val="142F47"/>
                </a:solidFill>
                <a:latin typeface="Arial"/>
                <a:ea typeface="Arial"/>
                <a:cs typeface="Arial"/>
              </a:defRPr>
            </a:defPPr>
            <a:lvl1pPr>
              <a:defRPr sz="2850" b="0">
                <a:solidFill>
                  <a:srgbClr val="142F47"/>
                </a:solidFill>
                <a:latin typeface="Arial"/>
                <a:ea typeface="Arial"/>
                <a:cs typeface="Arial"/>
              </a:defRPr>
            </a:lvl1pPr>
            <a:lvl2pPr>
              <a:defRPr sz="2850" b="0">
                <a:solidFill>
                  <a:srgbClr val="142F47"/>
                </a:solidFill>
                <a:latin typeface="Arial"/>
                <a:ea typeface="Arial"/>
                <a:cs typeface="Arial"/>
              </a:defRPr>
            </a:lvl2pPr>
            <a:lvl3pPr>
              <a:defRPr sz="2850" b="0">
                <a:solidFill>
                  <a:srgbClr val="142F47"/>
                </a:solidFill>
                <a:latin typeface="Arial"/>
                <a:ea typeface="Arial"/>
                <a:cs typeface="Arial"/>
              </a:defRPr>
            </a:lvl3pPr>
            <a:lvl4pPr>
              <a:defRPr sz="2850" b="0">
                <a:solidFill>
                  <a:srgbClr val="142F47"/>
                </a:solidFill>
                <a:latin typeface="Arial"/>
                <a:ea typeface="Arial"/>
                <a:cs typeface="Arial"/>
              </a:defRPr>
            </a:lvl4pPr>
            <a:lvl5pPr>
              <a:defRPr sz="2850" b="0">
                <a:solidFill>
                  <a:srgbClr val="142F47"/>
                </a:solidFill>
                <a:latin typeface="Arial"/>
                <a:ea typeface="Arial"/>
                <a:cs typeface="Arial"/>
              </a:defRPr>
            </a:lvl5pPr>
            <a:lvl6pPr>
              <a:defRPr sz="2850" b="0">
                <a:solidFill>
                  <a:srgbClr val="142F47"/>
                </a:solidFill>
                <a:latin typeface="Arial"/>
                <a:ea typeface="Arial"/>
                <a:cs typeface="Arial"/>
              </a:defRPr>
            </a:lvl6pPr>
            <a:lvl7pPr>
              <a:defRPr sz="2850" b="0">
                <a:solidFill>
                  <a:srgbClr val="142F47"/>
                </a:solidFill>
                <a:latin typeface="Arial"/>
                <a:ea typeface="Arial"/>
                <a:cs typeface="Arial"/>
              </a:defRPr>
            </a:lvl7pPr>
            <a:lvl8pPr>
              <a:defRPr sz="2850" b="0">
                <a:solidFill>
                  <a:srgbClr val="142F47"/>
                </a:solidFill>
                <a:latin typeface="Arial"/>
                <a:ea typeface="Arial"/>
                <a:cs typeface="Arial"/>
              </a:defRPr>
            </a:lvl8pPr>
            <a:lvl9pPr>
              <a:defRPr sz="2850" b="0">
                <a:solidFill>
                  <a:srgbClr val="142F47"/>
                </a:solidFill>
                <a:latin typeface="Arial"/>
                <a:ea typeface="Arial"/>
                <a:cs typeface="Arial"/>
              </a:defRPr>
            </a:lvl9pPr>
          </a:lstStyle>
          <a:p xmlns:a="http://schemas.openxmlformats.org/drawingml/2006/main">
            <a:pPr>
              <a:defRPr sz="2850" b="0">
                <a:solidFill>
                  <a:srgbClr val="142F47"/>
                </a:solidFill>
                <a:latin typeface="Arial"/>
                <a:ea typeface="Arial"/>
                <a:cs typeface="Arial"/>
              </a:defRPr>
            </a:pPr>
            <a:r>
              <a:rPr sz="2850" b="0">
                <a:solidFill>
                  <a:srgbClr val="142F47"/>
                </a:solidFill>
                <a:latin typeface="Arial"/>
                <a:ea typeface="Arial"/>
                <a:cs typeface="Arial"/>
              </a:rPr>
              <a:t>A reproducible case connects distributor-financed stock to borrower cash, lender contribution and guarantee settlement.</a:t>
            </a:r>
          </a:p>
        </p:txBody>
      </p:sp>
      <p:sp>
        <p:nvSpPr>
          <p:cNvPr id="6" name="">
            <a:extLst xmlns:a="http://schemas.openxmlformats.org/drawingml/2006/main">
              <a:ext uri="{FF2B5EF4-FFF2-40B4-BE49-F238E27FC236}">
                <a16:creationId xmlns:a16="http://schemas.microsoft.com/office/drawing/2014/main" id="{074E3EEF-7968-44D5-B582-395D2556EB23}"/>
              </a:ext>
            </a:extLst>
          </p:cNvPr>
          <p:cNvSpPr>
            <a:spLocks xmlns:a="http://schemas.openxmlformats.org/drawingml/2006/main" noGrp="1"/>
          </p:cNvSpPr>
          <p:nvPr/>
        </p:nvSpPr>
        <p:spPr>
          <a:xfrm xmlns:a="http://schemas.openxmlformats.org/drawingml/2006/main">
            <a:off x="666750" y="6143625"/>
            <a:ext cx="1333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400" b="1">
                <a:solidFill>
                  <a:srgbClr val="093C63"/>
                </a:solidFill>
                <a:latin typeface="Arial"/>
                <a:ea typeface="Arial"/>
                <a:cs typeface="Arial"/>
              </a:defRPr>
            </a:defPPr>
            <a:lvl1pPr>
              <a:defRPr sz="2400" b="1">
                <a:solidFill>
                  <a:srgbClr val="093C63"/>
                </a:solidFill>
                <a:latin typeface="Arial"/>
                <a:ea typeface="Arial"/>
                <a:cs typeface="Arial"/>
              </a:defRPr>
            </a:lvl1pPr>
            <a:lvl2pPr>
              <a:defRPr sz="2400" b="1">
                <a:solidFill>
                  <a:srgbClr val="093C63"/>
                </a:solidFill>
                <a:latin typeface="Arial"/>
                <a:ea typeface="Arial"/>
                <a:cs typeface="Arial"/>
              </a:defRPr>
            </a:lvl2pPr>
            <a:lvl3pPr>
              <a:defRPr sz="2400" b="1">
                <a:solidFill>
                  <a:srgbClr val="093C63"/>
                </a:solidFill>
                <a:latin typeface="Arial"/>
                <a:ea typeface="Arial"/>
                <a:cs typeface="Arial"/>
              </a:defRPr>
            </a:lvl3pPr>
            <a:lvl4pPr>
              <a:defRPr sz="2400" b="1">
                <a:solidFill>
                  <a:srgbClr val="093C63"/>
                </a:solidFill>
                <a:latin typeface="Arial"/>
                <a:ea typeface="Arial"/>
                <a:cs typeface="Arial"/>
              </a:defRPr>
            </a:lvl4pPr>
            <a:lvl5pPr>
              <a:defRPr sz="2400" b="1">
                <a:solidFill>
                  <a:srgbClr val="093C63"/>
                </a:solidFill>
                <a:latin typeface="Arial"/>
                <a:ea typeface="Arial"/>
                <a:cs typeface="Arial"/>
              </a:defRPr>
            </a:lvl5pPr>
            <a:lvl6pPr>
              <a:defRPr sz="2400" b="1">
                <a:solidFill>
                  <a:srgbClr val="093C63"/>
                </a:solidFill>
                <a:latin typeface="Arial"/>
                <a:ea typeface="Arial"/>
                <a:cs typeface="Arial"/>
              </a:defRPr>
            </a:lvl6pPr>
            <a:lvl7pPr>
              <a:defRPr sz="2400" b="1">
                <a:solidFill>
                  <a:srgbClr val="093C63"/>
                </a:solidFill>
                <a:latin typeface="Arial"/>
                <a:ea typeface="Arial"/>
                <a:cs typeface="Arial"/>
              </a:defRPr>
            </a:lvl7pPr>
            <a:lvl8pPr>
              <a:defRPr sz="2400" b="1">
                <a:solidFill>
                  <a:srgbClr val="093C63"/>
                </a:solidFill>
                <a:latin typeface="Arial"/>
                <a:ea typeface="Arial"/>
                <a:cs typeface="Arial"/>
              </a:defRPr>
            </a:lvl8pPr>
            <a:lvl9pPr>
              <a:defRPr sz="2400" b="1">
                <a:solidFill>
                  <a:srgbClr val="093C63"/>
                </a:solidFill>
                <a:latin typeface="Arial"/>
                <a:ea typeface="Arial"/>
                <a:cs typeface="Arial"/>
              </a:defRPr>
            </a:lvl9pPr>
          </a:lstStyle>
          <a:p xmlns:a="http://schemas.openxmlformats.org/drawingml/2006/main">
            <a:pPr>
              <a:defRPr sz="2400" b="1">
                <a:solidFill>
                  <a:srgbClr val="093C63"/>
                </a:solidFill>
                <a:latin typeface="Arial"/>
                <a:ea typeface="Arial"/>
                <a:cs typeface="Arial"/>
              </a:defRPr>
            </a:pPr>
            <a:r>
              <a:rPr sz="2400" b="1">
                <a:solidFill>
                  <a:srgbClr val="093C63"/>
                </a:solidFill>
                <a:latin typeface="Arial"/>
                <a:ea typeface="Arial"/>
                <a:cs typeface="Arial"/>
              </a:rPr>
              <a:t>Proposed first engagement: one product, one defined cohort and one repeat-lending or support decision.</a:t>
            </a:r>
          </a:p>
        </p:txBody>
      </p:sp>
      <p:sp>
        <p:nvSpPr>
          <p:cNvPr id="7" name="">
            <a:extLst xmlns:a="http://schemas.openxmlformats.org/drawingml/2006/main">
              <a:ext uri="{FF2B5EF4-FFF2-40B4-BE49-F238E27FC236}">
                <a16:creationId xmlns:a16="http://schemas.microsoft.com/office/drawing/2014/main" id="{1C02E129-690C-454A-823C-E676022F067F}"/>
              </a:ext>
            </a:extLst>
          </p:cNvPr>
          <p:cNvSpPr>
            <a:spLocks xmlns:a="http://schemas.openxmlformats.org/drawingml/2006/main" noGrp="1"/>
          </p:cNvSpPr>
          <p:nvPr/>
        </p:nvSpPr>
        <p:spPr>
          <a:xfrm xmlns:a="http://schemas.openxmlformats.org/drawingml/2006/main">
            <a:off x="666750" y="7334250"/>
            <a:ext cx="1333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b="0">
                <a:solidFill>
                  <a:srgbClr val="142F47"/>
                </a:solidFill>
                <a:latin typeface="Arial"/>
                <a:ea typeface="Arial"/>
                <a:cs typeface="Arial"/>
              </a:defRPr>
            </a:defPPr>
            <a:lvl1pPr>
              <a:defRPr sz="2250" b="0">
                <a:solidFill>
                  <a:srgbClr val="142F47"/>
                </a:solidFill>
                <a:latin typeface="Arial"/>
                <a:ea typeface="Arial"/>
                <a:cs typeface="Arial"/>
              </a:defRPr>
            </a:lvl1pPr>
            <a:lvl2pPr>
              <a:defRPr sz="2250" b="0">
                <a:solidFill>
                  <a:srgbClr val="142F47"/>
                </a:solidFill>
                <a:latin typeface="Arial"/>
                <a:ea typeface="Arial"/>
                <a:cs typeface="Arial"/>
              </a:defRPr>
            </a:lvl2pPr>
            <a:lvl3pPr>
              <a:defRPr sz="2250" b="0">
                <a:solidFill>
                  <a:srgbClr val="142F47"/>
                </a:solidFill>
                <a:latin typeface="Arial"/>
                <a:ea typeface="Arial"/>
                <a:cs typeface="Arial"/>
              </a:defRPr>
            </a:lvl3pPr>
            <a:lvl4pPr>
              <a:defRPr sz="2250" b="0">
                <a:solidFill>
                  <a:srgbClr val="142F47"/>
                </a:solidFill>
                <a:latin typeface="Arial"/>
                <a:ea typeface="Arial"/>
                <a:cs typeface="Arial"/>
              </a:defRPr>
            </a:lvl4pPr>
            <a:lvl5pPr>
              <a:defRPr sz="2250" b="0">
                <a:solidFill>
                  <a:srgbClr val="142F47"/>
                </a:solidFill>
                <a:latin typeface="Arial"/>
                <a:ea typeface="Arial"/>
                <a:cs typeface="Arial"/>
              </a:defRPr>
            </a:lvl5pPr>
            <a:lvl6pPr>
              <a:defRPr sz="2250" b="0">
                <a:solidFill>
                  <a:srgbClr val="142F47"/>
                </a:solidFill>
                <a:latin typeface="Arial"/>
                <a:ea typeface="Arial"/>
                <a:cs typeface="Arial"/>
              </a:defRPr>
            </a:lvl6pPr>
            <a:lvl7pPr>
              <a:defRPr sz="2250" b="0">
                <a:solidFill>
                  <a:srgbClr val="142F47"/>
                </a:solidFill>
                <a:latin typeface="Arial"/>
                <a:ea typeface="Arial"/>
                <a:cs typeface="Arial"/>
              </a:defRPr>
            </a:lvl7pPr>
            <a:lvl8pPr>
              <a:defRPr sz="2250" b="0">
                <a:solidFill>
                  <a:srgbClr val="142F47"/>
                </a:solidFill>
                <a:latin typeface="Arial"/>
                <a:ea typeface="Arial"/>
                <a:cs typeface="Arial"/>
              </a:defRPr>
            </a:lvl8pPr>
            <a:lvl9pPr>
              <a:defRPr sz="2250" b="0">
                <a:solidFill>
                  <a:srgbClr val="142F47"/>
                </a:solidFill>
                <a:latin typeface="Arial"/>
                <a:ea typeface="Arial"/>
                <a:cs typeface="Arial"/>
              </a:defRPr>
            </a:lvl9pPr>
          </a:lstStyle>
          <a:p xmlns:a="http://schemas.openxmlformats.org/drawingml/2006/main">
            <a:pPr>
              <a:defRPr sz="2250" b="0">
                <a:solidFill>
                  <a:srgbClr val="142F47"/>
                </a:solidFill>
                <a:latin typeface="Arial"/>
                <a:ea typeface="Arial"/>
                <a:cs typeface="Arial"/>
              </a:defRPr>
            </a:pPr>
            <a:r>
              <a:rPr sz="2250" b="0">
                <a:solidFill>
                  <a:srgbClr val="142F47"/>
                </a:solidFill>
                <a:latin typeface="Arial"/>
                <a:ea typeface="Arial"/>
                <a:cs typeface="Arial"/>
              </a:rPr>
              <a:t>nevilmaloba@philtechent.com</a:t>
            </a:r>
          </a:p>
        </p:txBody>
      </p:sp>
    </p:spTree>
    <p:extLst>
      <p:ext uri="{BB962C8B-B14F-4D97-AF65-F5344CB8AC3E}">
        <p14:creationId xmlns:p14="http://schemas.microsoft.com/office/powerpoint/2010/main" val="116406979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D53B04-8436-468E-8FB5-16348FED2051}"/>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The research questions lead to operating decisions</a:t>
            </a:r>
          </a:p>
        </p:txBody>
      </p:sp>
      <p:sp>
        <p:nvSpPr>
          <p:cNvPr id="2" name="">
            <a:extLst xmlns:a="http://schemas.openxmlformats.org/drawingml/2006/main">
              <a:ext uri="{FF2B5EF4-FFF2-40B4-BE49-F238E27FC236}">
                <a16:creationId xmlns:a16="http://schemas.microsoft.com/office/drawing/2014/main" id="{C93A0C55-60DD-4C52-9D4E-F5CE7B13EBFC}"/>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1B66561F-AA04-49C9-9B71-CA6720DF9140}"/>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4C990C8C-A11E-4B0D-B777-225ED5F9C49F}"/>
              </a:ext>
            </a:extLst>
          </p:cNvPr>
          <p:cNvSpPr>
            <a:spLocks xmlns:a="http://schemas.openxmlformats.org/drawingml/2006/main" noGrp="1"/>
          </p:cNvSpPr>
          <p:nvPr/>
        </p:nvSpPr>
        <p:spPr>
          <a:xfrm xmlns:a="http://schemas.openxmlformats.org/drawingml/2006/main">
            <a:off x="666750" y="16668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625" b="0">
                <a:solidFill>
                  <a:srgbClr val="142F47"/>
                </a:solidFill>
                <a:latin typeface="Arial"/>
                <a:ea typeface="Arial"/>
                <a:cs typeface="Arial"/>
              </a:defRPr>
            </a:defPPr>
            <a:lvl1pPr>
              <a:defRPr sz="2625" b="0">
                <a:solidFill>
                  <a:srgbClr val="142F47"/>
                </a:solidFill>
                <a:latin typeface="Arial"/>
                <a:ea typeface="Arial"/>
                <a:cs typeface="Arial"/>
              </a:defRPr>
            </a:lvl1pPr>
            <a:lvl2pPr>
              <a:defRPr sz="2625" b="0">
                <a:solidFill>
                  <a:srgbClr val="142F47"/>
                </a:solidFill>
                <a:latin typeface="Arial"/>
                <a:ea typeface="Arial"/>
                <a:cs typeface="Arial"/>
              </a:defRPr>
            </a:lvl2pPr>
            <a:lvl3pPr>
              <a:defRPr sz="2625" b="0">
                <a:solidFill>
                  <a:srgbClr val="142F47"/>
                </a:solidFill>
                <a:latin typeface="Arial"/>
                <a:ea typeface="Arial"/>
                <a:cs typeface="Arial"/>
              </a:defRPr>
            </a:lvl3pPr>
            <a:lvl4pPr>
              <a:defRPr sz="2625" b="0">
                <a:solidFill>
                  <a:srgbClr val="142F47"/>
                </a:solidFill>
                <a:latin typeface="Arial"/>
                <a:ea typeface="Arial"/>
                <a:cs typeface="Arial"/>
              </a:defRPr>
            </a:lvl4pPr>
            <a:lvl5pPr>
              <a:defRPr sz="2625" b="0">
                <a:solidFill>
                  <a:srgbClr val="142F47"/>
                </a:solidFill>
                <a:latin typeface="Arial"/>
                <a:ea typeface="Arial"/>
                <a:cs typeface="Arial"/>
              </a:defRPr>
            </a:lvl5pPr>
            <a:lvl6pPr>
              <a:defRPr sz="2625" b="0">
                <a:solidFill>
                  <a:srgbClr val="142F47"/>
                </a:solidFill>
                <a:latin typeface="Arial"/>
                <a:ea typeface="Arial"/>
                <a:cs typeface="Arial"/>
              </a:defRPr>
            </a:lvl6pPr>
            <a:lvl7pPr>
              <a:defRPr sz="2625" b="0">
                <a:solidFill>
                  <a:srgbClr val="142F47"/>
                </a:solidFill>
                <a:latin typeface="Arial"/>
                <a:ea typeface="Arial"/>
                <a:cs typeface="Arial"/>
              </a:defRPr>
            </a:lvl7pPr>
            <a:lvl8pPr>
              <a:defRPr sz="2625" b="0">
                <a:solidFill>
                  <a:srgbClr val="142F47"/>
                </a:solidFill>
                <a:latin typeface="Arial"/>
                <a:ea typeface="Arial"/>
                <a:cs typeface="Arial"/>
              </a:defRPr>
            </a:lvl8pPr>
            <a:lvl9pPr>
              <a:defRPr sz="2625" b="0">
                <a:solidFill>
                  <a:srgbClr val="142F47"/>
                </a:solidFill>
                <a:latin typeface="Arial"/>
                <a:ea typeface="Arial"/>
                <a:cs typeface="Arial"/>
              </a:defRPr>
            </a:lvl9pPr>
          </a:lstStyle>
          <a:p xmlns:a="http://schemas.openxmlformats.org/drawingml/2006/main">
            <a:pPr>
              <a:defRPr sz="2625" b="0">
                <a:solidFill>
                  <a:srgbClr val="142F47"/>
                </a:solidFill>
                <a:latin typeface="Arial"/>
                <a:ea typeface="Arial"/>
                <a:cs typeface="Arial"/>
              </a:defRPr>
            </a:pPr>
            <a:r>
              <a:rPr sz="2625" b="0">
                <a:solidFill>
                  <a:srgbClr val="142F47"/>
                </a:solidFill>
                <a:latin typeface="Arial"/>
                <a:ea typeface="Arial"/>
                <a:cs typeface="Arial"/>
              </a:rPr>
              <a:t>1. Does each lending cycle leave the merchant able to replenish stock, meet commitments and repay sustainably? The decision is the next amount, due date and evidence required.</a:t>
            </a:r>
          </a:p>
        </p:txBody>
      </p:sp>
      <p:sp>
        <p:nvSpPr>
          <p:cNvPr id="5" name="">
            <a:extLst xmlns:a="http://schemas.openxmlformats.org/drawingml/2006/main">
              <a:ext uri="{FF2B5EF4-FFF2-40B4-BE49-F238E27FC236}">
                <a16:creationId xmlns:a16="http://schemas.microsoft.com/office/drawing/2014/main" id="{A90AD737-A7DD-47E1-96E1-DA376E9F12B7}"/>
              </a:ext>
            </a:extLst>
          </p:cNvPr>
          <p:cNvSpPr>
            <a:spLocks xmlns:a="http://schemas.openxmlformats.org/drawingml/2006/main" noGrp="1"/>
          </p:cNvSpPr>
          <p:nvPr/>
        </p:nvSpPr>
        <p:spPr>
          <a:xfrm xmlns:a="http://schemas.openxmlformats.org/drawingml/2006/main">
            <a:off x="666750" y="366712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625" b="0">
                <a:solidFill>
                  <a:srgbClr val="142F47"/>
                </a:solidFill>
                <a:latin typeface="Arial"/>
                <a:ea typeface="Arial"/>
                <a:cs typeface="Arial"/>
              </a:defRPr>
            </a:defPPr>
            <a:lvl1pPr>
              <a:defRPr sz="2625" b="0">
                <a:solidFill>
                  <a:srgbClr val="142F47"/>
                </a:solidFill>
                <a:latin typeface="Arial"/>
                <a:ea typeface="Arial"/>
                <a:cs typeface="Arial"/>
              </a:defRPr>
            </a:lvl1pPr>
            <a:lvl2pPr>
              <a:defRPr sz="2625" b="0">
                <a:solidFill>
                  <a:srgbClr val="142F47"/>
                </a:solidFill>
                <a:latin typeface="Arial"/>
                <a:ea typeface="Arial"/>
                <a:cs typeface="Arial"/>
              </a:defRPr>
            </a:lvl2pPr>
            <a:lvl3pPr>
              <a:defRPr sz="2625" b="0">
                <a:solidFill>
                  <a:srgbClr val="142F47"/>
                </a:solidFill>
                <a:latin typeface="Arial"/>
                <a:ea typeface="Arial"/>
                <a:cs typeface="Arial"/>
              </a:defRPr>
            </a:lvl3pPr>
            <a:lvl4pPr>
              <a:defRPr sz="2625" b="0">
                <a:solidFill>
                  <a:srgbClr val="142F47"/>
                </a:solidFill>
                <a:latin typeface="Arial"/>
                <a:ea typeface="Arial"/>
                <a:cs typeface="Arial"/>
              </a:defRPr>
            </a:lvl4pPr>
            <a:lvl5pPr>
              <a:defRPr sz="2625" b="0">
                <a:solidFill>
                  <a:srgbClr val="142F47"/>
                </a:solidFill>
                <a:latin typeface="Arial"/>
                <a:ea typeface="Arial"/>
                <a:cs typeface="Arial"/>
              </a:defRPr>
            </a:lvl5pPr>
            <a:lvl6pPr>
              <a:defRPr sz="2625" b="0">
                <a:solidFill>
                  <a:srgbClr val="142F47"/>
                </a:solidFill>
                <a:latin typeface="Arial"/>
                <a:ea typeface="Arial"/>
                <a:cs typeface="Arial"/>
              </a:defRPr>
            </a:lvl6pPr>
            <a:lvl7pPr>
              <a:defRPr sz="2625" b="0">
                <a:solidFill>
                  <a:srgbClr val="142F47"/>
                </a:solidFill>
                <a:latin typeface="Arial"/>
                <a:ea typeface="Arial"/>
                <a:cs typeface="Arial"/>
              </a:defRPr>
            </a:lvl7pPr>
            <a:lvl8pPr>
              <a:defRPr sz="2625" b="0">
                <a:solidFill>
                  <a:srgbClr val="142F47"/>
                </a:solidFill>
                <a:latin typeface="Arial"/>
                <a:ea typeface="Arial"/>
                <a:cs typeface="Arial"/>
              </a:defRPr>
            </a:lvl8pPr>
            <a:lvl9pPr>
              <a:defRPr sz="2625" b="0">
                <a:solidFill>
                  <a:srgbClr val="142F47"/>
                </a:solidFill>
                <a:latin typeface="Arial"/>
                <a:ea typeface="Arial"/>
                <a:cs typeface="Arial"/>
              </a:defRPr>
            </a:lvl9pPr>
          </a:lstStyle>
          <a:p xmlns:a="http://schemas.openxmlformats.org/drawingml/2006/main">
            <a:pPr>
              <a:defRPr sz="2625" b="0">
                <a:solidFill>
                  <a:srgbClr val="142F47"/>
                </a:solidFill>
                <a:latin typeface="Arial"/>
                <a:ea typeface="Arial"/>
                <a:cs typeface="Arial"/>
              </a:defRPr>
            </a:pPr>
            <a:r>
              <a:rPr sz="2625" b="0">
                <a:solidFill>
                  <a:srgbClr val="142F47"/>
                </a:solidFill>
                <a:latin typeface="Arial"/>
                <a:ea typeface="Arial"/>
                <a:cs typeface="Arial"/>
              </a:rPr>
              <a:t>2. Which support or authorised adjustment improves merchant cash and durable repayment? The decision is which intervention to offer, when and at what cost.</a:t>
            </a:r>
          </a:p>
        </p:txBody>
      </p:sp>
      <p:sp>
        <p:nvSpPr>
          <p:cNvPr id="6" name="">
            <a:extLst xmlns:a="http://schemas.openxmlformats.org/drawingml/2006/main">
              <a:ext uri="{FF2B5EF4-FFF2-40B4-BE49-F238E27FC236}">
                <a16:creationId xmlns:a16="http://schemas.microsoft.com/office/drawing/2014/main" id="{205050C5-EABC-4DA7-A723-D22B628B600B}"/>
              </a:ext>
            </a:extLst>
          </p:cNvPr>
          <p:cNvSpPr>
            <a:spLocks xmlns:a="http://schemas.openxmlformats.org/drawingml/2006/main" noGrp="1"/>
          </p:cNvSpPr>
          <p:nvPr/>
        </p:nvSpPr>
        <p:spPr>
          <a:xfrm xmlns:a="http://schemas.openxmlformats.org/drawingml/2006/main">
            <a:off x="666750" y="56673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625" b="0">
                <a:solidFill>
                  <a:srgbClr val="142F47"/>
                </a:solidFill>
                <a:latin typeface="Arial"/>
                <a:ea typeface="Arial"/>
                <a:cs typeface="Arial"/>
              </a:defRPr>
            </a:defPPr>
            <a:lvl1pPr>
              <a:defRPr sz="2625" b="0">
                <a:solidFill>
                  <a:srgbClr val="142F47"/>
                </a:solidFill>
                <a:latin typeface="Arial"/>
                <a:ea typeface="Arial"/>
                <a:cs typeface="Arial"/>
              </a:defRPr>
            </a:lvl1pPr>
            <a:lvl2pPr>
              <a:defRPr sz="2625" b="0">
                <a:solidFill>
                  <a:srgbClr val="142F47"/>
                </a:solidFill>
                <a:latin typeface="Arial"/>
                <a:ea typeface="Arial"/>
                <a:cs typeface="Arial"/>
              </a:defRPr>
            </a:lvl2pPr>
            <a:lvl3pPr>
              <a:defRPr sz="2625" b="0">
                <a:solidFill>
                  <a:srgbClr val="142F47"/>
                </a:solidFill>
                <a:latin typeface="Arial"/>
                <a:ea typeface="Arial"/>
                <a:cs typeface="Arial"/>
              </a:defRPr>
            </a:lvl3pPr>
            <a:lvl4pPr>
              <a:defRPr sz="2625" b="0">
                <a:solidFill>
                  <a:srgbClr val="142F47"/>
                </a:solidFill>
                <a:latin typeface="Arial"/>
                <a:ea typeface="Arial"/>
                <a:cs typeface="Arial"/>
              </a:defRPr>
            </a:lvl4pPr>
            <a:lvl5pPr>
              <a:defRPr sz="2625" b="0">
                <a:solidFill>
                  <a:srgbClr val="142F47"/>
                </a:solidFill>
                <a:latin typeface="Arial"/>
                <a:ea typeface="Arial"/>
                <a:cs typeface="Arial"/>
              </a:defRPr>
            </a:lvl5pPr>
            <a:lvl6pPr>
              <a:defRPr sz="2625" b="0">
                <a:solidFill>
                  <a:srgbClr val="142F47"/>
                </a:solidFill>
                <a:latin typeface="Arial"/>
                <a:ea typeface="Arial"/>
                <a:cs typeface="Arial"/>
              </a:defRPr>
            </a:lvl6pPr>
            <a:lvl7pPr>
              <a:defRPr sz="2625" b="0">
                <a:solidFill>
                  <a:srgbClr val="142F47"/>
                </a:solidFill>
                <a:latin typeface="Arial"/>
                <a:ea typeface="Arial"/>
                <a:cs typeface="Arial"/>
              </a:defRPr>
            </a:lvl7pPr>
            <a:lvl8pPr>
              <a:defRPr sz="2625" b="0">
                <a:solidFill>
                  <a:srgbClr val="142F47"/>
                </a:solidFill>
                <a:latin typeface="Arial"/>
                <a:ea typeface="Arial"/>
                <a:cs typeface="Arial"/>
              </a:defRPr>
            </a:lvl8pPr>
            <a:lvl9pPr>
              <a:defRPr sz="2625" b="0">
                <a:solidFill>
                  <a:srgbClr val="142F47"/>
                </a:solidFill>
                <a:latin typeface="Arial"/>
                <a:ea typeface="Arial"/>
                <a:cs typeface="Arial"/>
              </a:defRPr>
            </a:lvl9pPr>
          </a:lstStyle>
          <a:p xmlns:a="http://schemas.openxmlformats.org/drawingml/2006/main">
            <a:pPr>
              <a:defRPr sz="2625" b="0">
                <a:solidFill>
                  <a:srgbClr val="142F47"/>
                </a:solidFill>
                <a:latin typeface="Arial"/>
                <a:ea typeface="Arial"/>
                <a:cs typeface="Arial"/>
              </a:defRPr>
            </a:pPr>
            <a:r>
              <a:rPr sz="2625" b="0">
                <a:solidFill>
                  <a:srgbClr val="142F47"/>
                </a:solidFill>
                <a:latin typeface="Arial"/>
                <a:ea typeface="Arial"/>
                <a:cs typeface="Arial"/>
              </a:rPr>
              <a:t>3. How does risk sharing support additional sustainable lending? The decision combines retained loss, claim settlement, funding requirements and programme eligibility.</a:t>
            </a:r>
          </a:p>
        </p:txBody>
      </p:sp>
    </p:spTree>
    <p:extLst>
      <p:ext uri="{BB962C8B-B14F-4D97-AF65-F5344CB8AC3E}">
        <p14:creationId xmlns:p14="http://schemas.microsoft.com/office/powerpoint/2010/main" val="15173231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CB6DC91-E603-4C89-8955-0E492BB8CB30}"/>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4G products and the IFC partnership provide a concrete setting</a:t>
            </a:r>
          </a:p>
        </p:txBody>
      </p:sp>
      <p:sp>
        <p:nvSpPr>
          <p:cNvPr id="2" name="">
            <a:extLst xmlns:a="http://schemas.openxmlformats.org/drawingml/2006/main">
              <a:ext uri="{FF2B5EF4-FFF2-40B4-BE49-F238E27FC236}">
                <a16:creationId xmlns:a16="http://schemas.microsoft.com/office/drawing/2014/main" id="{89D89879-B791-4961-98A8-D25B579663AE}"/>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7639527D-69A1-48A7-AC33-B450F45C9805}"/>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3</a:t>
            </a:r>
          </a:p>
        </p:txBody>
      </p:sp>
      <p:graphicFrame>
        <p:nvGraphicFramePr>
          <p:cNvPr id="4" name="">
            <a:extLst xmlns:a="http://schemas.openxmlformats.org/drawingml/2006/main">
              <a:ext uri="{FF2B5EF4-FFF2-40B4-BE49-F238E27FC236}">
                <a16:creationId xmlns:a16="http://schemas.microsoft.com/office/drawing/2014/main" id="{B9317E8F-914B-4608-9A9B-E5DC2F3B116F}"/>
              </a:ext>
            </a:extLst>
          </p:cNvPr>
          <p:cNvGraphicFramePr/>
          <p:nvPr/>
        </p:nvGraphicFramePr>
        <p:xfrm>
          <a:off xmlns:a="http://schemas.openxmlformats.org/drawingml/2006/main" x="666750" y="1619250"/>
          <a:ext xmlns:a="http://schemas.openxmlformats.org/drawingml/2006/main" cx="13906500" cy="5572125"/>
        </p:xfrm>
        <a:graphic xmlns:a="http://schemas.openxmlformats.org/drawingml/2006/main">
          <a:graphicData uri="http://schemas.openxmlformats.org/drawingml/2006/table">
            <a:tbl>
              <a:tblPr/>
              <a:tblGrid>
                <a:gridCol w="6858000"/>
                <a:gridCol w="7048500"/>
              </a:tblGrid>
              <a:tr h="1114425">
                <a:tc>
                  <a:txBody>
                    <a:bodyPr wrap="square" lIns="114300" tIns="114300" rIns="114300" bIns="114300"/>
                    <a:lstStyle/>
                    <a:p>
                      <a:r>
                        <a:rPr sz="2175" b="1">
                          <a:solidFill>
                            <a:srgbClr val="FFFFFF"/>
                          </a:solidFill>
                          <a:latin typeface="Arial"/>
                          <a:ea typeface="Arial"/>
                          <a:cs typeface="Arial"/>
                        </a:rPr>
                        <a:t>Public context</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75" b="1">
                          <a:solidFill>
                            <a:srgbClr val="FFFFFF"/>
                          </a:solidFill>
                          <a:latin typeface="Arial"/>
                          <a:ea typeface="Arial"/>
                          <a:cs typeface="Arial"/>
                        </a:rPr>
                        <a:t>Research application</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1114425">
                <a:tc>
                  <a:txBody>
                    <a:bodyPr wrap="square" lIns="114300" tIns="114300" rIns="114300" bIns="114300"/>
                    <a:lstStyle/>
                    <a:p>
                      <a:r>
                        <a:rPr sz="2175" b="0">
                          <a:solidFill>
                            <a:srgbClr val="142F47"/>
                          </a:solidFill>
                          <a:latin typeface="Arial"/>
                          <a:ea typeface="Arial"/>
                          <a:cs typeface="Arial"/>
                        </a:rPr>
                        <a:t>UPIA: 30-day working-capital loans with training and support [2]</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75" b="0">
                          <a:solidFill>
                            <a:srgbClr val="142F47"/>
                          </a:solidFill>
                          <a:latin typeface="Arial"/>
                          <a:ea typeface="Arial"/>
                          <a:cs typeface="Arial"/>
                        </a:rPr>
                        <a:t>Evaluate cash conversion, successive loans and delivered support.</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1114425">
                <a:tc>
                  <a:txBody>
                    <a:bodyPr wrap="square" lIns="114300" tIns="114300" rIns="114300" bIns="114300"/>
                    <a:lstStyle/>
                    <a:p>
                      <a:r>
                        <a:rPr sz="2175" b="0">
                          <a:solidFill>
                            <a:srgbClr val="142F47"/>
                          </a:solidFill>
                          <a:latin typeface="Arial"/>
                          <a:ea typeface="Arial"/>
                          <a:cs typeface="Arial"/>
                        </a:rPr>
                        <a:t>KUZA: 21-day distributor-linked stock finance [3]</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75" b="0">
                          <a:solidFill>
                            <a:srgbClr val="142F47"/>
                          </a:solidFill>
                          <a:latin typeface="Arial"/>
                          <a:ea typeface="Arial"/>
                          <a:cs typeface="Arial"/>
                        </a:rPr>
                        <a:t>Reconcile order, distributor payment, delivery, sale and receipt.</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1114425">
                <a:tc>
                  <a:txBody>
                    <a:bodyPr wrap="square" lIns="114300" tIns="114300" rIns="114300" bIns="114300"/>
                    <a:lstStyle/>
                    <a:p>
                      <a:r>
                        <a:rPr sz="2175" b="0">
                          <a:solidFill>
                            <a:srgbClr val="142F47"/>
                          </a:solidFill>
                          <a:latin typeface="Arial"/>
                          <a:ea typeface="Arial"/>
                          <a:cs typeface="Arial"/>
                        </a:rPr>
                        <a:t>IFC project 53511: unfunded guarantee for a new MSME portfolio [4]</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75" b="0">
                          <a:solidFill>
                            <a:srgbClr val="142F47"/>
                          </a:solidFill>
                          <a:latin typeface="Arial"/>
                          <a:ea typeface="Arial"/>
                          <a:cs typeface="Arial"/>
                        </a:rPr>
                        <a:t>Configure eligibility, layer sharing, claims, recoveries and funding.</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1114425">
                <a:tc>
                  <a:txBody>
                    <a:bodyPr wrap="square" lIns="114300" tIns="114300" rIns="114300" bIns="114300"/>
                    <a:lstStyle/>
                    <a:p>
                      <a:r>
                        <a:rPr sz="2175" b="0">
                          <a:solidFill>
                            <a:srgbClr val="142F47"/>
                          </a:solidFill>
                          <a:latin typeface="Arial"/>
                          <a:ea typeface="Arial"/>
                          <a:cs typeface="Arial"/>
                        </a:rPr>
                        <a:t>IFC advisory focus: underwriting and distributor finance [4]</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75" b="0">
                          <a:solidFill>
                            <a:srgbClr val="142F47"/>
                          </a:solidFill>
                          <a:latin typeface="Arial"/>
                          <a:ea typeface="Arial"/>
                          <a:cs typeface="Arial"/>
                        </a:rPr>
                        <a:t>Connect data definitions and decisions to measurable outcomes.</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28C9A2B-10C5-46D6-817F-B746179E04C6}"/>
              </a:ext>
            </a:extLst>
          </p:cNvPr>
          <p:cNvSpPr>
            <a:spLocks xmlns:a="http://schemas.openxmlformats.org/drawingml/2006/main" noGrp="1"/>
          </p:cNvSpPr>
          <p:nvPr/>
        </p:nvSpPr>
        <p:spPr>
          <a:xfrm xmlns:a="http://schemas.openxmlformats.org/drawingml/2006/main">
            <a:off x="666750" y="7505700"/>
            <a:ext cx="1381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b="1">
                <a:solidFill>
                  <a:srgbClr val="093C63"/>
                </a:solidFill>
                <a:latin typeface="Arial"/>
                <a:ea typeface="Arial"/>
                <a:cs typeface="Arial"/>
              </a:defRPr>
            </a:defPPr>
            <a:lvl1pPr>
              <a:defRPr sz="2250" b="1">
                <a:solidFill>
                  <a:srgbClr val="093C63"/>
                </a:solidFill>
                <a:latin typeface="Arial"/>
                <a:ea typeface="Arial"/>
                <a:cs typeface="Arial"/>
              </a:defRPr>
            </a:lvl1pPr>
            <a:lvl2pPr>
              <a:defRPr sz="2250" b="1">
                <a:solidFill>
                  <a:srgbClr val="093C63"/>
                </a:solidFill>
                <a:latin typeface="Arial"/>
                <a:ea typeface="Arial"/>
                <a:cs typeface="Arial"/>
              </a:defRPr>
            </a:lvl2pPr>
            <a:lvl3pPr>
              <a:defRPr sz="2250" b="1">
                <a:solidFill>
                  <a:srgbClr val="093C63"/>
                </a:solidFill>
                <a:latin typeface="Arial"/>
                <a:ea typeface="Arial"/>
                <a:cs typeface="Arial"/>
              </a:defRPr>
            </a:lvl3pPr>
            <a:lvl4pPr>
              <a:defRPr sz="2250" b="1">
                <a:solidFill>
                  <a:srgbClr val="093C63"/>
                </a:solidFill>
                <a:latin typeface="Arial"/>
                <a:ea typeface="Arial"/>
                <a:cs typeface="Arial"/>
              </a:defRPr>
            </a:lvl4pPr>
            <a:lvl5pPr>
              <a:defRPr sz="2250" b="1">
                <a:solidFill>
                  <a:srgbClr val="093C63"/>
                </a:solidFill>
                <a:latin typeface="Arial"/>
                <a:ea typeface="Arial"/>
                <a:cs typeface="Arial"/>
              </a:defRPr>
            </a:lvl5pPr>
            <a:lvl6pPr>
              <a:defRPr sz="2250" b="1">
                <a:solidFill>
                  <a:srgbClr val="093C63"/>
                </a:solidFill>
                <a:latin typeface="Arial"/>
                <a:ea typeface="Arial"/>
                <a:cs typeface="Arial"/>
              </a:defRPr>
            </a:lvl6pPr>
            <a:lvl7pPr>
              <a:defRPr sz="2250" b="1">
                <a:solidFill>
                  <a:srgbClr val="093C63"/>
                </a:solidFill>
                <a:latin typeface="Arial"/>
                <a:ea typeface="Arial"/>
                <a:cs typeface="Arial"/>
              </a:defRPr>
            </a:lvl7pPr>
            <a:lvl8pPr>
              <a:defRPr sz="2250" b="1">
                <a:solidFill>
                  <a:srgbClr val="093C63"/>
                </a:solidFill>
                <a:latin typeface="Arial"/>
                <a:ea typeface="Arial"/>
                <a:cs typeface="Arial"/>
              </a:defRPr>
            </a:lvl8pPr>
            <a:lvl9pPr>
              <a:defRPr sz="2250" b="1">
                <a:solidFill>
                  <a:srgbClr val="093C63"/>
                </a:solidFill>
                <a:latin typeface="Arial"/>
                <a:ea typeface="Arial"/>
                <a:cs typeface="Arial"/>
              </a:defRPr>
            </a:lvl9pPr>
          </a:lstStyle>
          <a:p xmlns:a="http://schemas.openxmlformats.org/drawingml/2006/main">
            <a:pPr>
              <a:defRPr sz="2250" b="1">
                <a:solidFill>
                  <a:srgbClr val="093C63"/>
                </a:solidFill>
                <a:latin typeface="Arial"/>
                <a:ea typeface="Arial"/>
                <a:cs typeface="Arial"/>
              </a:defRPr>
            </a:pPr>
            <a:r>
              <a:rPr sz="2250" b="1">
                <a:solidFill>
                  <a:srgbClr val="093C63"/>
                </a:solidFill>
                <a:latin typeface="Arial"/>
                <a:ea typeface="Arial"/>
                <a:cs typeface="Arial"/>
              </a:rPr>
              <a:t>The proposed case gives these workstreams a common borrower, facility, transaction and cash record.</a:t>
            </a:r>
          </a:p>
        </p:txBody>
      </p:sp>
    </p:spTree>
    <p:extLst>
      <p:ext uri="{BB962C8B-B14F-4D97-AF65-F5344CB8AC3E}">
        <p14:creationId xmlns:p14="http://schemas.microsoft.com/office/powerpoint/2010/main" val="438246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7CDADC0-CEB8-4238-AA44-D233EA6EE24F}"/>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The synthetic case has explicit operating and cost assumptions</a:t>
            </a:r>
          </a:p>
        </p:txBody>
      </p:sp>
      <p:sp>
        <p:nvSpPr>
          <p:cNvPr id="2" name="">
            <a:extLst xmlns:a="http://schemas.openxmlformats.org/drawingml/2006/main">
              <a:ext uri="{FF2B5EF4-FFF2-40B4-BE49-F238E27FC236}">
                <a16:creationId xmlns:a16="http://schemas.microsoft.com/office/drawing/2014/main" id="{A048F610-D2F0-45B0-8A4C-6B03A973A311}"/>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D4A3D07C-6231-48CA-BD51-ED3ACEAD5B0C}"/>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4</a:t>
            </a:r>
          </a:p>
        </p:txBody>
      </p:sp>
      <p:graphicFrame>
        <p:nvGraphicFramePr>
          <p:cNvPr id="4" name="">
            <a:extLst xmlns:a="http://schemas.openxmlformats.org/drawingml/2006/main">
              <a:ext uri="{FF2B5EF4-FFF2-40B4-BE49-F238E27FC236}">
                <a16:creationId xmlns:a16="http://schemas.microsoft.com/office/drawing/2014/main" id="{0469256F-7123-4CD6-8C69-D62BE7A6B2D8}"/>
              </a:ext>
            </a:extLst>
          </p:cNvPr>
          <p:cNvGraphicFramePr/>
          <p:nvPr/>
        </p:nvGraphicFramePr>
        <p:xfrm>
          <a:off xmlns:a="http://schemas.openxmlformats.org/drawingml/2006/main" x="666750" y="1571625"/>
          <a:ext xmlns:a="http://schemas.openxmlformats.org/drawingml/2006/main" cx="13906500" cy="6267450"/>
        </p:xfrm>
        <a:graphic xmlns:a="http://schemas.openxmlformats.org/drawingml/2006/main">
          <a:graphicData uri="http://schemas.openxmlformats.org/drawingml/2006/table">
            <a:tbl>
              <a:tblPr/>
              <a:tblGrid>
                <a:gridCol w="4095750"/>
                <a:gridCol w="9810750"/>
              </a:tblGrid>
              <a:tr h="895350">
                <a:tc>
                  <a:txBody>
                    <a:bodyPr wrap="square" lIns="114300" tIns="114300" rIns="114300" bIns="114300"/>
                    <a:lstStyle/>
                    <a:p>
                      <a:r>
                        <a:rPr sz="2100" b="1">
                          <a:solidFill>
                            <a:srgbClr val="FFFFFF"/>
                          </a:solidFill>
                          <a:latin typeface="Arial"/>
                          <a:ea typeface="Arial"/>
                          <a:cs typeface="Arial"/>
                        </a:rPr>
                        <a:t>Assumption</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Configuration</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895350">
                <a:tc>
                  <a:txBody>
                    <a:bodyPr wrap="square" lIns="114300" tIns="114300" rIns="114300" bIns="114300"/>
                    <a:lstStyle/>
                    <a:p>
                      <a:r>
                        <a:rPr sz="2100" b="0">
                          <a:solidFill>
                            <a:srgbClr val="142F47"/>
                          </a:solidFill>
                          <a:latin typeface="Arial"/>
                          <a:ea typeface="Arial"/>
                          <a:cs typeface="Arial"/>
                        </a:rPr>
                        <a:t>Population and horizon</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12 merchants, 180 operating days, runoff through day 300, up to 6 cycles</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95350">
                <a:tc>
                  <a:txBody>
                    <a:bodyPr wrap="square" lIns="114300" tIns="114300" rIns="114300" bIns="114300"/>
                    <a:lstStyle/>
                    <a:p>
                      <a:r>
                        <a:rPr sz="2100" b="0">
                          <a:solidFill>
                            <a:srgbClr val="142F47"/>
                          </a:solidFill>
                          <a:latin typeface="Arial"/>
                          <a:ea typeface="Arial"/>
                          <a:cs typeface="Arial"/>
                        </a:rPr>
                        <a:t>First facility and merchant cash</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KES 100,000 stock finance, KES 20,000 opening cash,21-day tenor</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895350">
                <a:tc>
                  <a:txBody>
                    <a:bodyPr wrap="square" lIns="114300" tIns="114300" rIns="114300" bIns="114300"/>
                    <a:lstStyle/>
                    <a:p>
                      <a:r>
                        <a:rPr sz="2100" b="0">
                          <a:solidFill>
                            <a:srgbClr val="142F47"/>
                          </a:solidFill>
                          <a:latin typeface="Arial"/>
                          <a:ea typeface="Arial"/>
                          <a:cs typeface="Arial"/>
                        </a:rPr>
                        <a:t>Trading and household needs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25% markup,18 selling days,2-day settlement lag, daily needs KES 200+150</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95350">
                <a:tc>
                  <a:txBody>
                    <a:bodyPr wrap="square" lIns="114300" tIns="114300" rIns="114300" bIns="114300"/>
                    <a:lstStyle/>
                    <a:p>
                      <a:r>
                        <a:rPr sz="2100" b="0">
                          <a:solidFill>
                            <a:srgbClr val="142F47"/>
                          </a:solidFill>
                          <a:latin typeface="Arial"/>
                          <a:ea typeface="Arial"/>
                          <a:cs typeface="Arial"/>
                        </a:rPr>
                        <a:t>Fees and lender costs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5% fee per cycle,12% annual funding, KES 500 origination, KES 2 per open-loan day</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895350">
                <a:tc>
                  <a:txBody>
                    <a:bodyPr wrap="square" lIns="114300" tIns="114300" rIns="114300" bIns="114300"/>
                    <a:lstStyle/>
                    <a:p>
                      <a:r>
                        <a:rPr sz="2100" b="0">
                          <a:solidFill>
                            <a:srgbClr val="142F47"/>
                          </a:solidFill>
                          <a:latin typeface="Arial"/>
                          <a:ea typeface="Arial"/>
                          <a:cs typeface="Arial"/>
                        </a:rPr>
                        <a:t>Repeat-lending rule</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KES 10,000 retained cash floor, KES 50,000–120,000 limits,7-day cooldown</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95350">
                <a:tc>
                  <a:txBody>
                    <a:bodyPr wrap="square" lIns="114300" tIns="114300" rIns="114300" bIns="114300"/>
                    <a:lstStyle/>
                    <a:p>
                      <a:r>
                        <a:rPr sz="2100" b="0">
                          <a:solidFill>
                            <a:srgbClr val="142F47"/>
                          </a:solidFill>
                          <a:latin typeface="Arial"/>
                          <a:ea typeface="Arial"/>
                          <a:cs typeface="Arial"/>
                        </a:rPr>
                        <a:t>Guarantee assumptions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1% annual fee, cumulative KES 4.44m inclusion budget, explicit claims and recovery rules</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Tree>
    <p:extLst>
      <p:ext uri="{BB962C8B-B14F-4D97-AF65-F5344CB8AC3E}">
        <p14:creationId xmlns:p14="http://schemas.microsoft.com/office/powerpoint/2010/main" val="66740147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5C793A41-6284-4397-A1D1-CFD77C8C09A0}"/>
              </a:ext>
            </a:extLst>
          </p:cNvPr>
          <p:cNvPicPr>
            <a:picLocks xmlns:a="http://schemas.openxmlformats.org/drawingml/2006/main" noChangeAspect="1"/>
          </p:cNvPicPr>
          <p:nvPr/>
        </p:nvPicPr>
        <p:blipFill>
          <a:blip xmlns:r="http://schemas.openxmlformats.org/officeDocument/2006/relationships" xmlns:a="http://schemas.openxmlformats.org/drawingml/2006/main" r:embed="R96c0c12079fe4278"/>
          <a:stretch xmlns:a="http://schemas.openxmlformats.org/drawingml/2006/main"/>
        </p:blipFill>
        <p:spPr>
          <a:xfrm xmlns:a="http://schemas.openxmlformats.org/drawingml/2006/main">
            <a:off x="1071563" y="190500"/>
            <a:ext cx="13096875" cy="78581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A73D013-5598-4DC7-AA64-79E9A00FCC8F}"/>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Synthetic KES case • Calculation assumptions and interpretation in the adjacent slides • 18 October 2026</a:t>
            </a:r>
          </a:p>
        </p:txBody>
      </p:sp>
      <p:sp>
        <p:nvSpPr>
          <p:cNvPr id="3" name="">
            <a:extLst xmlns:a="http://schemas.openxmlformats.org/drawingml/2006/main">
              <a:ext uri="{FF2B5EF4-FFF2-40B4-BE49-F238E27FC236}">
                <a16:creationId xmlns:a16="http://schemas.microsoft.com/office/drawing/2014/main" id="{0B61331F-D06D-4280-8793-5DEF53B2F9DF}"/>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5</a:t>
            </a:r>
          </a:p>
        </p:txBody>
      </p:sp>
    </p:spTree>
    <p:extLst>
      <p:ext uri="{BB962C8B-B14F-4D97-AF65-F5344CB8AC3E}">
        <p14:creationId xmlns:p14="http://schemas.microsoft.com/office/powerpoint/2010/main" val="6499540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7E025F-C470-4E25-9CD6-B8C22F61C074}"/>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Repeat lending uses the previous completed operating cycle</a:t>
            </a:r>
          </a:p>
        </p:txBody>
      </p:sp>
      <p:sp>
        <p:nvSpPr>
          <p:cNvPr id="2" name="">
            <a:extLst xmlns:a="http://schemas.openxmlformats.org/drawingml/2006/main">
              <a:ext uri="{FF2B5EF4-FFF2-40B4-BE49-F238E27FC236}">
                <a16:creationId xmlns:a16="http://schemas.microsoft.com/office/drawing/2014/main" id="{DC9B9B9B-B1C1-4266-8CAB-55C0C89B20B4}"/>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6CFF279A-F5C1-4541-B528-429B39618274}"/>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D0870FB5-5948-4913-86A5-9A1FC7BF1E69}"/>
              </a:ext>
            </a:extLst>
          </p:cNvPr>
          <p:cNvSpPr>
            <a:spLocks xmlns:a="http://schemas.openxmlformats.org/drawingml/2006/main" noGrp="1"/>
          </p:cNvSpPr>
          <p:nvPr/>
        </p:nvSpPr>
        <p:spPr>
          <a:xfrm xmlns:a="http://schemas.openxmlformats.org/drawingml/2006/main">
            <a:off x="666750" y="16668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The gate waits for settlement of the previous loan, completion of relevant sales receipts and a seven-day cooling period. The next projection uses the margin, conversion and timing observed by that decision date.</a:t>
            </a:r>
          </a:p>
        </p:txBody>
      </p:sp>
      <p:sp>
        <p:nvSpPr>
          <p:cNvPr id="5" name="">
            <a:extLst xmlns:a="http://schemas.openxmlformats.org/drawingml/2006/main">
              <a:ext uri="{FF2B5EF4-FFF2-40B4-BE49-F238E27FC236}">
                <a16:creationId xmlns:a16="http://schemas.microsoft.com/office/drawing/2014/main" id="{75F4F962-C476-4366-8781-BF1F2A488838}"/>
              </a:ext>
            </a:extLst>
          </p:cNvPr>
          <p:cNvSpPr>
            <a:spLocks xmlns:a="http://schemas.openxmlformats.org/drawingml/2006/main" noGrp="1"/>
          </p:cNvSpPr>
          <p:nvPr/>
        </p:nvSpPr>
        <p:spPr>
          <a:xfrm xmlns:a="http://schemas.openxmlformats.org/drawingml/2006/main">
            <a:off x="666750" y="366712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Projected cash after essential expenses and debt service must retain KES 10,000. A timely borrower with sufficient cash can receive a KES 10,000 increment, up to KES 120,000. A weaker projection reduces the amount or defers lending.</a:t>
            </a:r>
          </a:p>
        </p:txBody>
      </p:sp>
      <p:sp>
        <p:nvSpPr>
          <p:cNvPr id="6" name="">
            <a:extLst xmlns:a="http://schemas.openxmlformats.org/drawingml/2006/main">
              <a:ext uri="{FF2B5EF4-FFF2-40B4-BE49-F238E27FC236}">
                <a16:creationId xmlns:a16="http://schemas.microsoft.com/office/drawing/2014/main" id="{538F7D5A-FA47-44E9-8A50-595C8825B3DB}"/>
              </a:ext>
            </a:extLst>
          </p:cNvPr>
          <p:cNvSpPr>
            <a:spLocks xmlns:a="http://schemas.openxmlformats.org/drawingml/2006/main" noGrp="1"/>
          </p:cNvSpPr>
          <p:nvPr/>
        </p:nvSpPr>
        <p:spPr>
          <a:xfrm xmlns:a="http://schemas.openxmlformats.org/drawingml/2006/main">
            <a:off x="666750" y="56673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The model records each origination and its reasons. A research pilot can compare that rule with approved alternatives while following business cash, repayment, repeat eligibility and customer experience.</a:t>
            </a:r>
          </a:p>
        </p:txBody>
      </p:sp>
    </p:spTree>
    <p:extLst>
      <p:ext uri="{BB962C8B-B14F-4D97-AF65-F5344CB8AC3E}">
        <p14:creationId xmlns:p14="http://schemas.microsoft.com/office/powerpoint/2010/main" val="1528632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72FEB8CF-CF7F-4B81-AA09-3104762844F6}"/>
              </a:ext>
            </a:extLst>
          </p:cNvPr>
          <p:cNvPicPr>
            <a:picLocks xmlns:a="http://schemas.openxmlformats.org/drawingml/2006/main" noChangeAspect="1"/>
          </p:cNvPicPr>
          <p:nvPr/>
        </p:nvPicPr>
        <p:blipFill>
          <a:blip xmlns:r="http://schemas.openxmlformats.org/officeDocument/2006/relationships" xmlns:a="http://schemas.openxmlformats.org/drawingml/2006/main" r:embed="Rceb210d2d12d41d1"/>
          <a:stretch xmlns:a="http://schemas.openxmlformats.org/drawingml/2006/main"/>
        </p:blipFill>
        <p:spPr>
          <a:xfrm xmlns:a="http://schemas.openxmlformats.org/drawingml/2006/main">
            <a:off x="1071563" y="190500"/>
            <a:ext cx="13096875" cy="78581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12835FA-E490-438F-8896-8A56153E3AC2}"/>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Synthetic KES case • Calculation assumptions and interpretation in the adjacent slides • 18 October 2026</a:t>
            </a:r>
          </a:p>
        </p:txBody>
      </p:sp>
      <p:sp>
        <p:nvSpPr>
          <p:cNvPr id="3" name="">
            <a:extLst xmlns:a="http://schemas.openxmlformats.org/drawingml/2006/main">
              <a:ext uri="{FF2B5EF4-FFF2-40B4-BE49-F238E27FC236}">
                <a16:creationId xmlns:a16="http://schemas.microsoft.com/office/drawing/2014/main" id="{82D40F2E-4D16-4C6C-BA69-FE322A649B3B}"/>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7</a:t>
            </a:r>
          </a:p>
        </p:txBody>
      </p:sp>
    </p:spTree>
    <p:extLst>
      <p:ext uri="{BB962C8B-B14F-4D97-AF65-F5344CB8AC3E}">
        <p14:creationId xmlns:p14="http://schemas.microsoft.com/office/powerpoint/2010/main" val="12124369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8468A6BB-6DCC-460E-8411-F2EC6157180B}"/>
              </a:ext>
            </a:extLst>
          </p:cNvPr>
          <p:cNvPicPr>
            <a:picLocks xmlns:a="http://schemas.openxmlformats.org/drawingml/2006/main" noChangeAspect="1"/>
          </p:cNvPicPr>
          <p:nvPr/>
        </p:nvPicPr>
        <p:blipFill>
          <a:blip xmlns:r="http://schemas.openxmlformats.org/officeDocument/2006/relationships" xmlns:a="http://schemas.openxmlformats.org/drawingml/2006/main" r:embed="Rf216d7e1a9fd4fdf"/>
          <a:stretch xmlns:a="http://schemas.openxmlformats.org/drawingml/2006/main"/>
        </p:blipFill>
        <p:spPr>
          <a:xfrm xmlns:a="http://schemas.openxmlformats.org/drawingml/2006/main">
            <a:off x="1071563" y="190500"/>
            <a:ext cx="13096875" cy="78581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0A35914-8214-40F4-91EF-78FBF3424D5C}"/>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Synthetic KES case • Calculation assumptions and interpretation in the adjacent slides • 18 October 2026</a:t>
            </a:r>
          </a:p>
        </p:txBody>
      </p:sp>
      <p:sp>
        <p:nvSpPr>
          <p:cNvPr id="3" name="">
            <a:extLst xmlns:a="http://schemas.openxmlformats.org/drawingml/2006/main">
              <a:ext uri="{FF2B5EF4-FFF2-40B4-BE49-F238E27FC236}">
                <a16:creationId xmlns:a16="http://schemas.microsoft.com/office/drawing/2014/main" id="{F5463A7C-0B92-40A0-84B0-8687108F0ECD}"/>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8</a:t>
            </a:r>
          </a:p>
        </p:txBody>
      </p:sp>
    </p:spTree>
    <p:extLst>
      <p:ext uri="{BB962C8B-B14F-4D97-AF65-F5344CB8AC3E}">
        <p14:creationId xmlns:p14="http://schemas.microsoft.com/office/powerpoint/2010/main" val="17957753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911392-91D2-4727-BBAB-2D2D411CF501}"/>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The support scenario makes a testable economic proposition</a:t>
            </a:r>
          </a:p>
        </p:txBody>
      </p:sp>
      <p:sp>
        <p:nvSpPr>
          <p:cNvPr id="2" name="">
            <a:extLst xmlns:a="http://schemas.openxmlformats.org/drawingml/2006/main">
              <a:ext uri="{FF2B5EF4-FFF2-40B4-BE49-F238E27FC236}">
                <a16:creationId xmlns:a16="http://schemas.microsoft.com/office/drawing/2014/main" id="{17332404-25BF-4D64-8F5E-01C2EB41C3FB}"/>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B627CEEB-2939-4B97-B6DE-45C7F65E1042}"/>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9</a:t>
            </a:r>
          </a:p>
        </p:txBody>
      </p:sp>
      <p:sp>
        <p:nvSpPr>
          <p:cNvPr id="4" name="">
            <a:extLst xmlns:a="http://schemas.openxmlformats.org/drawingml/2006/main">
              <a:ext uri="{FF2B5EF4-FFF2-40B4-BE49-F238E27FC236}">
                <a16:creationId xmlns:a16="http://schemas.microsoft.com/office/drawing/2014/main" id="{0F1A85BA-B8B3-47B0-98FA-E534CBEAF1ED}"/>
              </a:ext>
            </a:extLst>
          </p:cNvPr>
          <p:cNvSpPr>
            <a:spLocks xmlns:a="http://schemas.openxmlformats.org/drawingml/2006/main" noGrp="1"/>
          </p:cNvSpPr>
          <p:nvPr/>
        </p:nvSpPr>
        <p:spPr>
          <a:xfrm xmlns:a="http://schemas.openxmlformats.org/drawingml/2006/main">
            <a:off x="666750" y="16668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Support plus rescheduling produces 66 loans and 0 defaults under the selected trading assumptions. The lender spends KES 21,600 on support. Merchant closing cash totals KES 769,800.</a:t>
            </a:r>
          </a:p>
        </p:txBody>
      </p:sp>
      <p:sp>
        <p:nvSpPr>
          <p:cNvPr id="5" name="">
            <a:extLst xmlns:a="http://schemas.openxmlformats.org/drawingml/2006/main">
              <a:ext uri="{FF2B5EF4-FFF2-40B4-BE49-F238E27FC236}">
                <a16:creationId xmlns:a16="http://schemas.microsoft.com/office/drawing/2014/main" id="{65A58FEE-88FF-41E3-928A-3C981E7365F3}"/>
              </a:ext>
            </a:extLst>
          </p:cNvPr>
          <p:cNvSpPr>
            <a:spLocks xmlns:a="http://schemas.openxmlformats.org/drawingml/2006/main" noGrp="1"/>
          </p:cNvSpPr>
          <p:nvPr/>
        </p:nvSpPr>
        <p:spPr>
          <a:xfrm xmlns:a="http://schemas.openxmlformats.org/drawingml/2006/main">
            <a:off x="666750" y="366712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The same scenario carries KES 164,640 of closing inventory at cost. Its valuation and future sale matter alongside cash. Extension alone retains three defaults, so the model separates extra time from an assumed improvement in trading.</a:t>
            </a:r>
          </a:p>
        </p:txBody>
      </p:sp>
      <p:sp>
        <p:nvSpPr>
          <p:cNvPr id="6" name="">
            <a:extLst xmlns:a="http://schemas.openxmlformats.org/drawingml/2006/main">
              <a:ext uri="{FF2B5EF4-FFF2-40B4-BE49-F238E27FC236}">
                <a16:creationId xmlns:a16="http://schemas.microsoft.com/office/drawing/2014/main" id="{C67DA988-4F92-4E2A-A442-CB025274BB49}"/>
              </a:ext>
            </a:extLst>
          </p:cNvPr>
          <p:cNvSpPr>
            <a:spLocks xmlns:a="http://schemas.openxmlformats.org/drawingml/2006/main" noGrp="1"/>
          </p:cNvSpPr>
          <p:nvPr/>
        </p:nvSpPr>
        <p:spPr>
          <a:xfrm xmlns:a="http://schemas.openxmlformats.org/drawingml/2006/main">
            <a:off x="666750" y="56673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A prospective study would estimate the improvement: compare approved support options, record actual delivery and measure cash after commitments, stock conversion, durable repayment and incremental costs.</a:t>
            </a:r>
          </a:p>
        </p:txBody>
      </p:sp>
    </p:spTree>
    <p:extLst>
      <p:ext uri="{BB962C8B-B14F-4D97-AF65-F5344CB8AC3E}">
        <p14:creationId xmlns:p14="http://schemas.microsoft.com/office/powerpoint/2010/main" val="21256004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9C3897C-9ECB-435A-8C15-D7979FB89D99}"/>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Collected fees reconcile to lender contribution</a:t>
            </a:r>
          </a:p>
        </p:txBody>
      </p:sp>
      <p:sp>
        <p:nvSpPr>
          <p:cNvPr id="2" name="">
            <a:extLst xmlns:a="http://schemas.openxmlformats.org/drawingml/2006/main">
              <a:ext uri="{FF2B5EF4-FFF2-40B4-BE49-F238E27FC236}">
                <a16:creationId xmlns:a16="http://schemas.microsoft.com/office/drawing/2014/main" id="{844D214C-C2FB-4561-95CE-AA2991F63E59}"/>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B867A8BC-A632-468E-A70D-BBA1A360A22B}"/>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10</a:t>
            </a:r>
          </a:p>
        </p:txBody>
      </p:sp>
      <p:graphicFrame>
        <p:nvGraphicFramePr>
          <p:cNvPr id="4" name="">
            <a:extLst xmlns:a="http://schemas.openxmlformats.org/drawingml/2006/main">
              <a:ext uri="{FF2B5EF4-FFF2-40B4-BE49-F238E27FC236}">
                <a16:creationId xmlns:a16="http://schemas.microsoft.com/office/drawing/2014/main" id="{672B337A-0533-4F73-9D39-D4A95520D423}"/>
              </a:ext>
            </a:extLst>
          </p:cNvPr>
          <p:cNvGraphicFramePr/>
          <p:nvPr/>
        </p:nvGraphicFramePr>
        <p:xfrm>
          <a:off xmlns:a="http://schemas.openxmlformats.org/drawingml/2006/main" x="666750" y="1571625"/>
          <a:ext xmlns:a="http://schemas.openxmlformats.org/drawingml/2006/main" cx="13906500" cy="5600700"/>
        </p:xfrm>
        <a:graphic xmlns:a="http://schemas.openxmlformats.org/drawingml/2006/main">
          <a:graphicData uri="http://schemas.openxmlformats.org/drawingml/2006/table">
            <a:tbl>
              <a:tblPr/>
              <a:tblGrid>
                <a:gridCol w="7048500"/>
                <a:gridCol w="3429000"/>
                <a:gridCol w="3429000"/>
              </a:tblGrid>
              <a:tr h="800100">
                <a:tc>
                  <a:txBody>
                    <a:bodyPr wrap="square" lIns="114300" tIns="114300" rIns="114300" bIns="114300"/>
                    <a:lstStyle/>
                    <a:p>
                      <a:r>
                        <a:rPr sz="2100" b="1">
                          <a:solidFill>
                            <a:srgbClr val="FFFFFF"/>
                          </a:solidFill>
                          <a:latin typeface="Arial"/>
                          <a:ea typeface="Arial"/>
                          <a:cs typeface="Arial"/>
                        </a:rPr>
                        <a:t>KES, complete model horizon</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Baseline protected</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Sales shock protected</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800100">
                <a:tc>
                  <a:txBody>
                    <a:bodyPr wrap="square" lIns="114300" tIns="114300" rIns="114300" bIns="114300"/>
                    <a:lstStyle/>
                    <a:p>
                      <a:r>
                        <a:rPr sz="2100" b="0">
                          <a:solidFill>
                            <a:srgbClr val="142F47"/>
                          </a:solidFill>
                          <a:latin typeface="Arial"/>
                          <a:ea typeface="Arial"/>
                          <a:cs typeface="Arial"/>
                        </a:rPr>
                        <a:t>Collected fees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414,000</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316,500</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00100">
                <a:tc>
                  <a:txBody>
                    <a:bodyPr wrap="square" lIns="114300" tIns="114300" rIns="114300" bIns="114300"/>
                    <a:lstStyle/>
                    <a:p>
                      <a:r>
                        <a:rPr sz="2100" b="0">
                          <a:solidFill>
                            <a:srgbClr val="142F47"/>
                          </a:solidFill>
                          <a:latin typeface="Arial"/>
                          <a:ea typeface="Arial"/>
                          <a:cs typeface="Arial"/>
                        </a:rPr>
                        <a:t>Origination + servicing + collection + support</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39,024</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33,936</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800100">
                <a:tc>
                  <a:txBody>
                    <a:bodyPr wrap="square" lIns="114300" tIns="114300" rIns="114300" bIns="114300"/>
                    <a:lstStyle/>
                    <a:p>
                      <a:r>
                        <a:rPr sz="2100" b="0">
                          <a:solidFill>
                            <a:srgbClr val="142F47"/>
                          </a:solidFill>
                          <a:latin typeface="Arial"/>
                          <a:ea typeface="Arial"/>
                          <a:cs typeface="Arial"/>
                        </a:rPr>
                        <a:t>Funding cost</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52,377</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44,281</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00100">
                <a:tc>
                  <a:txBody>
                    <a:bodyPr wrap="square" lIns="114300" tIns="114300" rIns="114300" bIns="114300"/>
                    <a:lstStyle/>
                    <a:p>
                      <a:r>
                        <a:rPr sz="2100" b="0">
                          <a:solidFill>
                            <a:srgbClr val="142F47"/>
                          </a:solidFill>
                          <a:latin typeface="Arial"/>
                          <a:ea typeface="Arial"/>
                          <a:cs typeface="Arial"/>
                        </a:rPr>
                        <a:t>Guarantee fees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2,503</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2,634</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800100">
                <a:tc>
                  <a:txBody>
                    <a:bodyPr wrap="square" lIns="114300" tIns="114300" rIns="114300" bIns="114300"/>
                    <a:lstStyle/>
                    <a:p>
                      <a:r>
                        <a:rPr sz="2100" b="0">
                          <a:solidFill>
                            <a:srgbClr val="142F47"/>
                          </a:solidFill>
                          <a:latin typeface="Arial"/>
                          <a:ea typeface="Arial"/>
                          <a:cs typeface="Arial"/>
                        </a:rPr>
                        <a:t>Retained credit loss after recovery / protection</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0</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44,791</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00100">
                <a:tc>
                  <a:txBody>
                    <a:bodyPr wrap="square" lIns="114300" tIns="114300" rIns="114300" bIns="114300"/>
                    <a:lstStyle/>
                    <a:p>
                      <a:r>
                        <a:rPr sz="2100" b="0">
                          <a:solidFill>
                            <a:srgbClr val="142F47"/>
                          </a:solidFill>
                          <a:latin typeface="Arial"/>
                          <a:ea typeface="Arial"/>
                          <a:cs typeface="Arial"/>
                        </a:rPr>
                        <a:t>Realised contribution</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320,096</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190,858</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8E69944-8DE4-47D2-91D3-294863258F1A}"/>
              </a:ext>
            </a:extLst>
          </p:cNvPr>
          <p:cNvSpPr>
            <a:spLocks xmlns:a="http://schemas.openxmlformats.org/drawingml/2006/main" noGrp="1"/>
          </p:cNvSpPr>
          <p:nvPr/>
        </p:nvSpPr>
        <p:spPr>
          <a:xfrm xmlns:a="http://schemas.openxmlformats.org/drawingml/2006/main">
            <a:off x="666750" y="7496175"/>
            <a:ext cx="13811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00" b="0">
                <a:solidFill>
                  <a:srgbClr val="435565"/>
                </a:solidFill>
                <a:latin typeface="Arial"/>
                <a:ea typeface="Arial"/>
                <a:cs typeface="Arial"/>
              </a:defRPr>
            </a:defPPr>
            <a:lvl1pPr>
              <a:defRPr sz="2100" b="0">
                <a:solidFill>
                  <a:srgbClr val="435565"/>
                </a:solidFill>
                <a:latin typeface="Arial"/>
                <a:ea typeface="Arial"/>
                <a:cs typeface="Arial"/>
              </a:defRPr>
            </a:lvl1pPr>
            <a:lvl2pPr>
              <a:defRPr sz="2100" b="0">
                <a:solidFill>
                  <a:srgbClr val="435565"/>
                </a:solidFill>
                <a:latin typeface="Arial"/>
                <a:ea typeface="Arial"/>
                <a:cs typeface="Arial"/>
              </a:defRPr>
            </a:lvl2pPr>
            <a:lvl3pPr>
              <a:defRPr sz="2100" b="0">
                <a:solidFill>
                  <a:srgbClr val="435565"/>
                </a:solidFill>
                <a:latin typeface="Arial"/>
                <a:ea typeface="Arial"/>
                <a:cs typeface="Arial"/>
              </a:defRPr>
            </a:lvl3pPr>
            <a:lvl4pPr>
              <a:defRPr sz="2100" b="0">
                <a:solidFill>
                  <a:srgbClr val="435565"/>
                </a:solidFill>
                <a:latin typeface="Arial"/>
                <a:ea typeface="Arial"/>
                <a:cs typeface="Arial"/>
              </a:defRPr>
            </a:lvl4pPr>
            <a:lvl5pPr>
              <a:defRPr sz="2100" b="0">
                <a:solidFill>
                  <a:srgbClr val="435565"/>
                </a:solidFill>
                <a:latin typeface="Arial"/>
                <a:ea typeface="Arial"/>
                <a:cs typeface="Arial"/>
              </a:defRPr>
            </a:lvl5pPr>
            <a:lvl6pPr>
              <a:defRPr sz="2100" b="0">
                <a:solidFill>
                  <a:srgbClr val="435565"/>
                </a:solidFill>
                <a:latin typeface="Arial"/>
                <a:ea typeface="Arial"/>
                <a:cs typeface="Arial"/>
              </a:defRPr>
            </a:lvl6pPr>
            <a:lvl7pPr>
              <a:defRPr sz="2100" b="0">
                <a:solidFill>
                  <a:srgbClr val="435565"/>
                </a:solidFill>
                <a:latin typeface="Arial"/>
                <a:ea typeface="Arial"/>
                <a:cs typeface="Arial"/>
              </a:defRPr>
            </a:lvl7pPr>
            <a:lvl8pPr>
              <a:defRPr sz="2100" b="0">
                <a:solidFill>
                  <a:srgbClr val="435565"/>
                </a:solidFill>
                <a:latin typeface="Arial"/>
                <a:ea typeface="Arial"/>
                <a:cs typeface="Arial"/>
              </a:defRPr>
            </a:lvl8pPr>
            <a:lvl9pPr>
              <a:defRPr sz="2100" b="0">
                <a:solidFill>
                  <a:srgbClr val="435565"/>
                </a:solidFill>
                <a:latin typeface="Arial"/>
                <a:ea typeface="Arial"/>
                <a:cs typeface="Arial"/>
              </a:defRPr>
            </a:lvl9pPr>
          </a:lstStyle>
          <a:p xmlns:a="http://schemas.openxmlformats.org/drawingml/2006/main">
            <a:pPr>
              <a:defRPr sz="2100" b="0">
                <a:solidFill>
                  <a:srgbClr val="435565"/>
                </a:solidFill>
                <a:latin typeface="Arial"/>
                <a:ea typeface="Arial"/>
                <a:cs typeface="Arial"/>
              </a:defRPr>
            </a:pPr>
            <a:r>
              <a:rPr sz="2100" b="0">
                <a:solidFill>
                  <a:srgbClr val="435565"/>
                </a:solidFill>
                <a:latin typeface="Arial"/>
                <a:ea typeface="Arial"/>
                <a:cs typeface="Arial"/>
              </a:rPr>
              <a:t>Contribution precedes tax, central overhead allocation and a capital hurdle. All amounts are synthetic.</a:t>
            </a:r>
          </a:p>
        </p:txBody>
      </p:sp>
    </p:spTree>
    <p:extLst>
      <p:ext uri="{BB962C8B-B14F-4D97-AF65-F5344CB8AC3E}">
        <p14:creationId xmlns:p14="http://schemas.microsoft.com/office/powerpoint/2010/main" val="37621223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AAEC7987-19B0-47B8-90D8-B020B424EE19}"/>
              </a:ext>
            </a:extLst>
          </p:cNvPr>
          <p:cNvPicPr>
            <a:picLocks xmlns:a="http://schemas.openxmlformats.org/drawingml/2006/main" noChangeAspect="1"/>
          </p:cNvPicPr>
          <p:nvPr/>
        </p:nvPicPr>
        <p:blipFill>
          <a:blip xmlns:r="http://schemas.openxmlformats.org/officeDocument/2006/relationships" xmlns:a="http://schemas.openxmlformats.org/drawingml/2006/main" r:embed="R9ad0f0fedd2a45e1"/>
          <a:stretch xmlns:a="http://schemas.openxmlformats.org/drawingml/2006/main"/>
        </p:blipFill>
        <p:spPr>
          <a:xfrm xmlns:a="http://schemas.openxmlformats.org/drawingml/2006/main">
            <a:off x="1071563" y="190500"/>
            <a:ext cx="13096875" cy="78581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B52F472-CA8F-49E0-9923-9909E0730FCD}"/>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Synthetic KES case • Calculation assumptions and interpretation in the adjacent slides • 18 October 2026</a:t>
            </a:r>
          </a:p>
        </p:txBody>
      </p:sp>
      <p:sp>
        <p:nvSpPr>
          <p:cNvPr id="3" name="">
            <a:extLst xmlns:a="http://schemas.openxmlformats.org/drawingml/2006/main">
              <a:ext uri="{FF2B5EF4-FFF2-40B4-BE49-F238E27FC236}">
                <a16:creationId xmlns:a16="http://schemas.microsoft.com/office/drawing/2014/main" id="{DEBBD293-EB4A-47E1-BBB8-457E86EE9CD6}"/>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11</a:t>
            </a:r>
          </a:p>
        </p:txBody>
      </p:sp>
    </p:spTree>
    <p:extLst>
      <p:ext uri="{BB962C8B-B14F-4D97-AF65-F5344CB8AC3E}">
        <p14:creationId xmlns:p14="http://schemas.microsoft.com/office/powerpoint/2010/main" val="99305386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C87B3DE-F5AD-4BC5-A950-97E6E8E4B2DB}"/>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The comparison identifies distinct commercial decisions</a:t>
            </a:r>
          </a:p>
        </p:txBody>
      </p:sp>
      <p:sp>
        <p:nvSpPr>
          <p:cNvPr id="2" name="">
            <a:extLst xmlns:a="http://schemas.openxmlformats.org/drawingml/2006/main">
              <a:ext uri="{FF2B5EF4-FFF2-40B4-BE49-F238E27FC236}">
                <a16:creationId xmlns:a16="http://schemas.microsoft.com/office/drawing/2014/main" id="{152A42B9-E5A2-49EB-A948-71FD5605ECF3}"/>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764A0166-8600-42BF-855E-1D8786F459CF}"/>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12</a:t>
            </a:r>
          </a:p>
        </p:txBody>
      </p:sp>
      <p:graphicFrame>
        <p:nvGraphicFramePr>
          <p:cNvPr id="4" name="">
            <a:extLst xmlns:a="http://schemas.openxmlformats.org/drawingml/2006/main">
              <a:ext uri="{FF2B5EF4-FFF2-40B4-BE49-F238E27FC236}">
                <a16:creationId xmlns:a16="http://schemas.microsoft.com/office/drawing/2014/main" id="{2B477F5F-07E8-489C-9650-D84E99C8EAF0}"/>
              </a:ext>
            </a:extLst>
          </p:cNvPr>
          <p:cNvGraphicFramePr/>
          <p:nvPr/>
        </p:nvGraphicFramePr>
        <p:xfrm>
          <a:off xmlns:a="http://schemas.openxmlformats.org/drawingml/2006/main" x="666750" y="1619250"/>
          <a:ext xmlns:a="http://schemas.openxmlformats.org/drawingml/2006/main" cx="13906500" cy="5905500"/>
        </p:xfrm>
        <a:graphic xmlns:a="http://schemas.openxmlformats.org/drawingml/2006/main">
          <a:graphicData uri="http://schemas.openxmlformats.org/drawingml/2006/table">
            <a:tbl>
              <a:tblPr/>
              <a:tblGrid>
                <a:gridCol w="7429500"/>
                <a:gridCol w="6477000"/>
              </a:tblGrid>
              <a:tr h="1181100">
                <a:tc>
                  <a:txBody>
                    <a:bodyPr wrap="square" lIns="114300" tIns="114300" rIns="114300" bIns="114300"/>
                    <a:lstStyle/>
                    <a:p>
                      <a:r>
                        <a:rPr sz="2100" b="1">
                          <a:solidFill>
                            <a:srgbClr val="FFFFFF"/>
                          </a:solidFill>
                          <a:latin typeface="Arial"/>
                          <a:ea typeface="Arial"/>
                          <a:cs typeface="Arial"/>
                        </a:rPr>
                        <a:t>Synthetic result</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Economic interpretation</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1181100">
                <a:tc>
                  <a:txBody>
                    <a:bodyPr wrap="square" lIns="114300" tIns="114300" rIns="114300" bIns="114300"/>
                    <a:lstStyle/>
                    <a:p>
                      <a:r>
                        <a:rPr sz="2100" b="0">
                          <a:solidFill>
                            <a:srgbClr val="142F47"/>
                          </a:solidFill>
                          <a:latin typeface="Arial"/>
                          <a:ea typeface="Arial"/>
                          <a:cs typeface="Arial"/>
                        </a:rPr>
                        <a:t>Baseline: KES 320,096 protected vs 322,671 unprotected</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With no losses, guarantee fees and their funding cost reduce contribution.</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1181100">
                <a:tc>
                  <a:txBody>
                    <a:bodyPr wrap="square" lIns="114300" tIns="114300" rIns="114300" bIns="114300"/>
                    <a:lstStyle/>
                    <a:p>
                      <a:r>
                        <a:rPr sz="2100" b="0">
                          <a:solidFill>
                            <a:srgbClr val="142F47"/>
                          </a:solidFill>
                          <a:latin typeface="Arial"/>
                          <a:ea typeface="Arial"/>
                          <a:cs typeface="Arial"/>
                        </a:rPr>
                        <a:t>Sales shock: KES 190,858 protected vs 124,471 unprotected</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Net claim receipts exceed protection costs. Merchant defaults remain 3 in both paths.</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1181100">
                <a:tc>
                  <a:txBody>
                    <a:bodyPr wrap="square" lIns="114300" tIns="114300" rIns="114300" bIns="114300"/>
                    <a:lstStyle/>
                    <a:p>
                      <a:r>
                        <a:rPr sz="2100" b="0">
                          <a:solidFill>
                            <a:srgbClr val="142F47"/>
                          </a:solidFill>
                          <a:latin typeface="Arial"/>
                          <a:ea typeface="Arial"/>
                          <a:cs typeface="Arial"/>
                        </a:rPr>
                        <a:t>Support + extension: KES 256,838 protected</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The assumed trading improvement supports 66 loans. Test that mechanism and its cost locally.</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1181100">
                <a:tc>
                  <a:txBody>
                    <a:bodyPr wrap="square" lIns="114300" tIns="114300" rIns="114300" bIns="114300"/>
                    <a:lstStyle/>
                    <a:p>
                      <a:r>
                        <a:rPr sz="2100" b="0">
                          <a:solidFill>
                            <a:srgbClr val="142F47"/>
                          </a:solidFill>
                          <a:latin typeface="Arial"/>
                          <a:ea typeface="Arial"/>
                          <a:cs typeface="Arial"/>
                        </a:rPr>
                        <a:t>Severe common shock: KES -568,864 protected</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Retained losses and funding exceed fee income. Concentration and capital capacity need explicit review.</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Tree>
    <p:extLst>
      <p:ext uri="{BB962C8B-B14F-4D97-AF65-F5344CB8AC3E}">
        <p14:creationId xmlns:p14="http://schemas.microsoft.com/office/powerpoint/2010/main" val="148123696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ABF82C-EBA5-42AE-A362-BDC6D154398A}"/>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The teaching guarantee follows two layers and dated eligibility</a:t>
            </a:r>
          </a:p>
        </p:txBody>
      </p:sp>
      <p:sp>
        <p:nvSpPr>
          <p:cNvPr id="2" name="">
            <a:extLst xmlns:a="http://schemas.openxmlformats.org/drawingml/2006/main">
              <a:ext uri="{FF2B5EF4-FFF2-40B4-BE49-F238E27FC236}">
                <a16:creationId xmlns:a16="http://schemas.microsoft.com/office/drawing/2014/main" id="{0824BBEE-A976-4CAF-AF70-46CCF6676A34}"/>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BDC4C37E-E18E-4B3A-A692-88C2F355640D}"/>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FEF3A86F-48C3-4CB6-A75D-AA0EE2837E7B}"/>
              </a:ext>
            </a:extLst>
          </p:cNvPr>
          <p:cNvGraphicFramePr/>
          <p:nvPr/>
        </p:nvGraphicFramePr>
        <p:xfrm>
          <a:off xmlns:a="http://schemas.openxmlformats.org/drawingml/2006/main" x="666750" y="1571625"/>
          <a:ext xmlns:a="http://schemas.openxmlformats.org/drawingml/2006/main" cx="13906500" cy="4267200"/>
        </p:xfrm>
        <a:graphic xmlns:a="http://schemas.openxmlformats.org/drawingml/2006/main">
          <a:graphicData uri="http://schemas.openxmlformats.org/drawingml/2006/table">
            <a:tbl>
              <a:tblPr/>
              <a:tblGrid>
                <a:gridCol w="4000500"/>
                <a:gridCol w="9906000"/>
              </a:tblGrid>
              <a:tr h="1066800">
                <a:tc>
                  <a:txBody>
                    <a:bodyPr wrap="square" lIns="114300" tIns="114300" rIns="114300" bIns="114300"/>
                    <a:lstStyle/>
                    <a:p>
                      <a:r>
                        <a:rPr sz="2175" b="1">
                          <a:solidFill>
                            <a:srgbClr val="FFFFFF"/>
                          </a:solidFill>
                          <a:latin typeface="Arial"/>
                          <a:ea typeface="Arial"/>
                          <a:cs typeface="Arial"/>
                        </a:rPr>
                        <a:t>Layer / rule</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75" b="1">
                          <a:solidFill>
                            <a:srgbClr val="FFFFFF"/>
                          </a:solidFill>
                          <a:latin typeface="Arial"/>
                          <a:ea typeface="Arial"/>
                          <a:cs typeface="Arial"/>
                        </a:rPr>
                        <a:t>Synthetic configuration</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1066800">
                <a:tc>
                  <a:txBody>
                    <a:bodyPr wrap="square" lIns="114300" tIns="114300" rIns="114300" bIns="114300"/>
                    <a:lstStyle/>
                    <a:p>
                      <a:r>
                        <a:rPr sz="2175" b="0">
                          <a:solidFill>
                            <a:srgbClr val="142F47"/>
                          </a:solidFill>
                          <a:latin typeface="Arial"/>
                          <a:ea typeface="Arial"/>
                          <a:cs typeface="Arial"/>
                        </a:rPr>
                        <a:t>First layer</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75" b="0">
                          <a:solidFill>
                            <a:srgbClr val="142F47"/>
                          </a:solidFill>
                          <a:latin typeface="Arial"/>
                          <a:ea typeface="Arial"/>
                          <a:cs typeface="Arial"/>
                        </a:rPr>
                        <a:t>KES 220,000 eligible gross loss width, KES 200,000 maximum protection</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1066800">
                <a:tc>
                  <a:txBody>
                    <a:bodyPr wrap="square" lIns="114300" tIns="114300" rIns="114300" bIns="114300"/>
                    <a:lstStyle/>
                    <a:p>
                      <a:r>
                        <a:rPr sz="2175" b="0">
                          <a:solidFill>
                            <a:srgbClr val="142F47"/>
                          </a:solidFill>
                          <a:latin typeface="Arial"/>
                          <a:ea typeface="Arial"/>
                          <a:cs typeface="Arial"/>
                        </a:rPr>
                        <a:t>Second layer</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75" b="0">
                          <a:solidFill>
                            <a:srgbClr val="142F47"/>
                          </a:solidFill>
                          <a:latin typeface="Arial"/>
                          <a:ea typeface="Arial"/>
                          <a:cs typeface="Arial"/>
                        </a:rPr>
                        <a:t>Next KES 4,220,000 width, KES 420,000 maximum protection</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1066800">
                <a:tc>
                  <a:txBody>
                    <a:bodyPr wrap="square" lIns="114300" tIns="114300" rIns="114300" bIns="114300"/>
                    <a:lstStyle/>
                    <a:p>
                      <a:r>
                        <a:rPr sz="2175" b="0">
                          <a:solidFill>
                            <a:srgbClr val="142F47"/>
                          </a:solidFill>
                          <a:latin typeface="Arial"/>
                          <a:ea typeface="Arial"/>
                          <a:cs typeface="Arial"/>
                        </a:rPr>
                        <a:t>Inclusion and recovery</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75" b="0">
                          <a:solidFill>
                            <a:srgbClr val="142F47"/>
                          </a:solidFill>
                          <a:latin typeface="Arial"/>
                          <a:ea typeface="Arial"/>
                          <a:cs typeface="Arial"/>
                        </a:rPr>
                        <a:t>Cumulative originations budget KES 4.44m, explicit ineligible borrower, no capacity reinstatement</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bl>
          </a:graphicData>
        </a:graphic>
      </p:graphicFrame>
      <p:sp>
        <p:nvSpPr>
          <p:cNvPr id="5" name="">
            <a:extLst xmlns:a="http://schemas.openxmlformats.org/drawingml/2006/main">
              <a:ext uri="{FF2B5EF4-FFF2-40B4-BE49-F238E27FC236}">
                <a16:creationId xmlns:a16="http://schemas.microsoft.com/office/drawing/2014/main" id="{EC5D5C27-7B57-4BD5-ACB7-F9BC22098ADC}"/>
              </a:ext>
            </a:extLst>
          </p:cNvPr>
          <p:cNvSpPr>
            <a:spLocks xmlns:a="http://schemas.openxmlformats.org/drawingml/2006/main" noGrp="1"/>
          </p:cNvSpPr>
          <p:nvPr/>
        </p:nvSpPr>
        <p:spPr>
          <a:xfrm xmlns:a="http://schemas.openxmlformats.org/drawingml/2006/main">
            <a:off x="666750" y="6191250"/>
            <a:ext cx="13906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1">
                <a:solidFill>
                  <a:srgbClr val="093C63"/>
                </a:solidFill>
                <a:latin typeface="Arial"/>
                <a:ea typeface="Arial"/>
                <a:cs typeface="Arial"/>
              </a:defRPr>
            </a:defPPr>
            <a:lvl1pPr>
              <a:defRPr sz="2325" b="1">
                <a:solidFill>
                  <a:srgbClr val="093C63"/>
                </a:solidFill>
                <a:latin typeface="Arial"/>
                <a:ea typeface="Arial"/>
                <a:cs typeface="Arial"/>
              </a:defRPr>
            </a:lvl1pPr>
            <a:lvl2pPr>
              <a:defRPr sz="2325" b="1">
                <a:solidFill>
                  <a:srgbClr val="093C63"/>
                </a:solidFill>
                <a:latin typeface="Arial"/>
                <a:ea typeface="Arial"/>
                <a:cs typeface="Arial"/>
              </a:defRPr>
            </a:lvl2pPr>
            <a:lvl3pPr>
              <a:defRPr sz="2325" b="1">
                <a:solidFill>
                  <a:srgbClr val="093C63"/>
                </a:solidFill>
                <a:latin typeface="Arial"/>
                <a:ea typeface="Arial"/>
                <a:cs typeface="Arial"/>
              </a:defRPr>
            </a:lvl3pPr>
            <a:lvl4pPr>
              <a:defRPr sz="2325" b="1">
                <a:solidFill>
                  <a:srgbClr val="093C63"/>
                </a:solidFill>
                <a:latin typeface="Arial"/>
                <a:ea typeface="Arial"/>
                <a:cs typeface="Arial"/>
              </a:defRPr>
            </a:lvl4pPr>
            <a:lvl5pPr>
              <a:defRPr sz="2325" b="1">
                <a:solidFill>
                  <a:srgbClr val="093C63"/>
                </a:solidFill>
                <a:latin typeface="Arial"/>
                <a:ea typeface="Arial"/>
                <a:cs typeface="Arial"/>
              </a:defRPr>
            </a:lvl5pPr>
            <a:lvl6pPr>
              <a:defRPr sz="2325" b="1">
                <a:solidFill>
                  <a:srgbClr val="093C63"/>
                </a:solidFill>
                <a:latin typeface="Arial"/>
                <a:ea typeface="Arial"/>
                <a:cs typeface="Arial"/>
              </a:defRPr>
            </a:lvl6pPr>
            <a:lvl7pPr>
              <a:defRPr sz="2325" b="1">
                <a:solidFill>
                  <a:srgbClr val="093C63"/>
                </a:solidFill>
                <a:latin typeface="Arial"/>
                <a:ea typeface="Arial"/>
                <a:cs typeface="Arial"/>
              </a:defRPr>
            </a:lvl7pPr>
            <a:lvl8pPr>
              <a:defRPr sz="2325" b="1">
                <a:solidFill>
                  <a:srgbClr val="093C63"/>
                </a:solidFill>
                <a:latin typeface="Arial"/>
                <a:ea typeface="Arial"/>
                <a:cs typeface="Arial"/>
              </a:defRPr>
            </a:lvl8pPr>
            <a:lvl9pPr>
              <a:defRPr sz="2325" b="1">
                <a:solidFill>
                  <a:srgbClr val="093C63"/>
                </a:solidFill>
                <a:latin typeface="Arial"/>
                <a:ea typeface="Arial"/>
                <a:cs typeface="Arial"/>
              </a:defRPr>
            </a:lvl9pPr>
          </a:lstStyle>
          <a:p xmlns:a="http://schemas.openxmlformats.org/drawingml/2006/main">
            <a:pPr>
              <a:defRPr sz="2325" b="1">
                <a:solidFill>
                  <a:srgbClr val="093C63"/>
                </a:solidFill>
                <a:latin typeface="Arial"/>
                <a:ea typeface="Arial"/>
                <a:cs typeface="Arial"/>
              </a:defRPr>
            </a:pPr>
            <a:r>
              <a:rPr sz="2325" b="1">
                <a:solidFill>
                  <a:srgbClr val="093C63"/>
                </a:solidFill>
                <a:latin typeface="Arial"/>
                <a:ea typeface="Arial"/>
                <a:cs typeface="Arial"/>
              </a:rPr>
              <a:t>G(L) = (200/220) min(L,220,000)</a:t>
            </a:r>
          </a:p>
          <a:p xmlns:a="http://schemas.openxmlformats.org/drawingml/2006/main">
            <a:pPr>
              <a:defRPr sz="2325" b="1">
                <a:solidFill>
                  <a:srgbClr val="093C63"/>
                </a:solidFill>
                <a:latin typeface="Arial"/>
                <a:ea typeface="Arial"/>
                <a:cs typeface="Arial"/>
              </a:defRPr>
            </a:pPr>
            <a:r>
              <a:rPr sz="2325" b="1">
                <a:solidFill>
                  <a:srgbClr val="093C63"/>
                </a:solidFill>
                <a:latin typeface="Arial"/>
                <a:ea typeface="Arial"/>
                <a:cs typeface="Arial"/>
              </a:rPr>
              <a:t>           + (420/4,220) min(max(L−220,000,0),4,220,000)</a:t>
            </a:r>
          </a:p>
        </p:txBody>
      </p:sp>
      <p:sp>
        <p:nvSpPr>
          <p:cNvPr id="6" name="">
            <a:extLst xmlns:a="http://schemas.openxmlformats.org/drawingml/2006/main">
              <a:ext uri="{FF2B5EF4-FFF2-40B4-BE49-F238E27FC236}">
                <a16:creationId xmlns:a16="http://schemas.microsoft.com/office/drawing/2014/main" id="{0203E7E9-AB26-47BD-8D1C-7913974D185A}"/>
              </a:ext>
            </a:extLst>
          </p:cNvPr>
          <p:cNvSpPr>
            <a:spLocks xmlns:a="http://schemas.openxmlformats.org/drawingml/2006/main" noGrp="1"/>
          </p:cNvSpPr>
          <p:nvPr/>
        </p:nvSpPr>
        <p:spPr>
          <a:xfrm xmlns:a="http://schemas.openxmlformats.org/drawingml/2006/main">
            <a:off x="666750" y="7334250"/>
            <a:ext cx="13906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0">
                <a:solidFill>
                  <a:srgbClr val="142F47"/>
                </a:solidFill>
                <a:latin typeface="Arial"/>
                <a:ea typeface="Arial"/>
                <a:cs typeface="Arial"/>
              </a:defRPr>
            </a:defPPr>
            <a:lvl1pPr>
              <a:defRPr sz="2175" b="0">
                <a:solidFill>
                  <a:srgbClr val="142F47"/>
                </a:solidFill>
                <a:latin typeface="Arial"/>
                <a:ea typeface="Arial"/>
                <a:cs typeface="Arial"/>
              </a:defRPr>
            </a:lvl1pPr>
            <a:lvl2pPr>
              <a:defRPr sz="2175" b="0">
                <a:solidFill>
                  <a:srgbClr val="142F47"/>
                </a:solidFill>
                <a:latin typeface="Arial"/>
                <a:ea typeface="Arial"/>
                <a:cs typeface="Arial"/>
              </a:defRPr>
            </a:lvl2pPr>
            <a:lvl3pPr>
              <a:defRPr sz="2175" b="0">
                <a:solidFill>
                  <a:srgbClr val="142F47"/>
                </a:solidFill>
                <a:latin typeface="Arial"/>
                <a:ea typeface="Arial"/>
                <a:cs typeface="Arial"/>
              </a:defRPr>
            </a:lvl3pPr>
            <a:lvl4pPr>
              <a:defRPr sz="2175" b="0">
                <a:solidFill>
                  <a:srgbClr val="142F47"/>
                </a:solidFill>
                <a:latin typeface="Arial"/>
                <a:ea typeface="Arial"/>
                <a:cs typeface="Arial"/>
              </a:defRPr>
            </a:lvl4pPr>
            <a:lvl5pPr>
              <a:defRPr sz="2175" b="0">
                <a:solidFill>
                  <a:srgbClr val="142F47"/>
                </a:solidFill>
                <a:latin typeface="Arial"/>
                <a:ea typeface="Arial"/>
                <a:cs typeface="Arial"/>
              </a:defRPr>
            </a:lvl5pPr>
            <a:lvl6pPr>
              <a:defRPr sz="2175" b="0">
                <a:solidFill>
                  <a:srgbClr val="142F47"/>
                </a:solidFill>
                <a:latin typeface="Arial"/>
                <a:ea typeface="Arial"/>
                <a:cs typeface="Arial"/>
              </a:defRPr>
            </a:lvl6pPr>
            <a:lvl7pPr>
              <a:defRPr sz="2175" b="0">
                <a:solidFill>
                  <a:srgbClr val="142F47"/>
                </a:solidFill>
                <a:latin typeface="Arial"/>
                <a:ea typeface="Arial"/>
                <a:cs typeface="Arial"/>
              </a:defRPr>
            </a:lvl7pPr>
            <a:lvl8pPr>
              <a:defRPr sz="2175" b="0">
                <a:solidFill>
                  <a:srgbClr val="142F47"/>
                </a:solidFill>
                <a:latin typeface="Arial"/>
                <a:ea typeface="Arial"/>
                <a:cs typeface="Arial"/>
              </a:defRPr>
            </a:lvl8pPr>
            <a:lvl9pPr>
              <a:defRPr sz="2175" b="0">
                <a:solidFill>
                  <a:srgbClr val="142F47"/>
                </a:solidFill>
                <a:latin typeface="Arial"/>
                <a:ea typeface="Arial"/>
                <a:cs typeface="Arial"/>
              </a:defRPr>
            </a:lvl9pPr>
          </a:lstStyle>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L is cumulative eligible gross loss. Each new loss receives the increase in G(L).</a:t>
            </a:r>
          </a:p>
        </p:txBody>
      </p:sp>
    </p:spTree>
    <p:extLst>
      <p:ext uri="{BB962C8B-B14F-4D97-AF65-F5344CB8AC3E}">
        <p14:creationId xmlns:p14="http://schemas.microsoft.com/office/powerpoint/2010/main" val="78678748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60BD07F7-8601-45C0-8A98-DC5F71868D08}"/>
              </a:ext>
            </a:extLst>
          </p:cNvPr>
          <p:cNvPicPr>
            <a:picLocks xmlns:a="http://schemas.openxmlformats.org/drawingml/2006/main" noChangeAspect="1"/>
          </p:cNvPicPr>
          <p:nvPr/>
        </p:nvPicPr>
        <p:blipFill>
          <a:blip xmlns:r="http://schemas.openxmlformats.org/officeDocument/2006/relationships" xmlns:a="http://schemas.openxmlformats.org/drawingml/2006/main" r:embed="R18e12e50431a4f6a"/>
          <a:stretch xmlns:a="http://schemas.openxmlformats.org/drawingml/2006/main"/>
        </p:blipFill>
        <p:spPr>
          <a:xfrm xmlns:a="http://schemas.openxmlformats.org/drawingml/2006/main">
            <a:off x="1071563" y="190500"/>
            <a:ext cx="13096875" cy="78581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86E496D-93A3-4091-8C3A-D7EC9ABCAEFC}"/>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Synthetic KES case • Calculation assumptions and interpretation in the adjacent slides • 18 October 2026</a:t>
            </a:r>
          </a:p>
        </p:txBody>
      </p:sp>
      <p:sp>
        <p:nvSpPr>
          <p:cNvPr id="3" name="">
            <a:extLst xmlns:a="http://schemas.openxmlformats.org/drawingml/2006/main">
              <a:ext uri="{FF2B5EF4-FFF2-40B4-BE49-F238E27FC236}">
                <a16:creationId xmlns:a16="http://schemas.microsoft.com/office/drawing/2014/main" id="{49E346E3-3259-4B7B-A184-62B5368610B3}"/>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14</a:t>
            </a:r>
          </a:p>
        </p:txBody>
      </p:sp>
    </p:spTree>
    <p:extLst>
      <p:ext uri="{BB962C8B-B14F-4D97-AF65-F5344CB8AC3E}">
        <p14:creationId xmlns:p14="http://schemas.microsoft.com/office/powerpoint/2010/main" val="208310683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A77A68-E77F-4CF0-93C5-1B40310A3C1A}"/>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The settlement lag changes funding cost with merchant outcomes fixed</a:t>
            </a:r>
          </a:p>
        </p:txBody>
      </p:sp>
      <p:sp>
        <p:nvSpPr>
          <p:cNvPr id="2" name="">
            <a:extLst xmlns:a="http://schemas.openxmlformats.org/drawingml/2006/main">
              <a:ext uri="{FF2B5EF4-FFF2-40B4-BE49-F238E27FC236}">
                <a16:creationId xmlns:a16="http://schemas.microsoft.com/office/drawing/2014/main" id="{29E2C592-7AF0-4E4E-AAF0-6EF90919A959}"/>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ABCB05B4-A46F-4B1D-8E59-35A585DA2077}"/>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15</a:t>
            </a:r>
          </a:p>
        </p:txBody>
      </p:sp>
      <p:graphicFrame>
        <p:nvGraphicFramePr>
          <p:cNvPr id="4" name="">
            <a:extLst xmlns:a="http://schemas.openxmlformats.org/drawingml/2006/main">
              <a:ext uri="{FF2B5EF4-FFF2-40B4-BE49-F238E27FC236}">
                <a16:creationId xmlns:a16="http://schemas.microsoft.com/office/drawing/2014/main" id="{8C319E6A-349E-4231-A8DE-64DDFD9BA5BA}"/>
              </a:ext>
            </a:extLst>
          </p:cNvPr>
          <p:cNvGraphicFramePr/>
          <p:nvPr/>
        </p:nvGraphicFramePr>
        <p:xfrm>
          <a:off xmlns:a="http://schemas.openxmlformats.org/drawingml/2006/main" x="666750" y="1524000"/>
          <a:ext xmlns:a="http://schemas.openxmlformats.org/drawingml/2006/main" cx="13906500" cy="5467350"/>
        </p:xfrm>
        <a:graphic xmlns:a="http://schemas.openxmlformats.org/drawingml/2006/main">
          <a:graphicData uri="http://schemas.openxmlformats.org/drawingml/2006/table">
            <a:tbl>
              <a:tblPr/>
              <a:tblGrid>
                <a:gridCol w="7048500"/>
                <a:gridCol w="3429000"/>
                <a:gridCol w="3429000"/>
              </a:tblGrid>
              <a:tr h="781050">
                <a:tc>
                  <a:txBody>
                    <a:bodyPr wrap="square" lIns="114300" tIns="114300" rIns="114300" bIns="114300"/>
                    <a:lstStyle/>
                    <a:p>
                      <a:r>
                        <a:rPr sz="2100" b="1">
                          <a:solidFill>
                            <a:srgbClr val="FFFFFF"/>
                          </a:solidFill>
                          <a:latin typeface="Arial"/>
                          <a:ea typeface="Arial"/>
                          <a:cs typeface="Arial"/>
                        </a:rPr>
                        <a:t>Sales shock, KES</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30-day settlement</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90-day settlement</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781050">
                <a:tc>
                  <a:txBody>
                    <a:bodyPr wrap="square" lIns="114300" tIns="114300" rIns="114300" bIns="114300"/>
                    <a:lstStyle/>
                    <a:p>
                      <a:r>
                        <a:rPr sz="2100" b="0">
                          <a:solidFill>
                            <a:srgbClr val="142F47"/>
                          </a:solidFill>
                          <a:latin typeface="Arial"/>
                          <a:ea typeface="Arial"/>
                          <a:cs typeface="Arial"/>
                        </a:rPr>
                        <a:t>Gross written-off principal</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113,700</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113,700</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781050">
                <a:tc>
                  <a:txBody>
                    <a:bodyPr wrap="square" lIns="114300" tIns="114300" rIns="114300" bIns="114300"/>
                    <a:lstStyle/>
                    <a:p>
                      <a:r>
                        <a:rPr sz="2100" b="0">
                          <a:solidFill>
                            <a:srgbClr val="142F47"/>
                          </a:solidFill>
                          <a:latin typeface="Arial"/>
                          <a:ea typeface="Arial"/>
                          <a:cs typeface="Arial"/>
                        </a:rPr>
                        <a:t>Borrower recovery</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0</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0</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781050">
                <a:tc>
                  <a:txBody>
                    <a:bodyPr wrap="square" lIns="114300" tIns="114300" rIns="114300" bIns="114300"/>
                    <a:lstStyle/>
                    <a:p>
                      <a:r>
                        <a:rPr sz="2100" b="0">
                          <a:solidFill>
                            <a:srgbClr val="142F47"/>
                          </a:solidFill>
                          <a:latin typeface="Arial"/>
                          <a:ea typeface="Arial"/>
                          <a:cs typeface="Arial"/>
                        </a:rPr>
                        <a:t>Guarantee cash received</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68,909</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68,909</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781050">
                <a:tc>
                  <a:txBody>
                    <a:bodyPr wrap="square" lIns="114300" tIns="114300" rIns="114300" bIns="114300"/>
                    <a:lstStyle/>
                    <a:p>
                      <a:r>
                        <a:rPr sz="2100" b="0">
                          <a:solidFill>
                            <a:srgbClr val="142F47"/>
                          </a:solidFill>
                          <a:latin typeface="Arial"/>
                          <a:ea typeface="Arial"/>
                          <a:cs typeface="Arial"/>
                        </a:rPr>
                        <a:t>Later recovery remittance</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0</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0</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781050">
                <a:tc>
                  <a:txBody>
                    <a:bodyPr wrap="square" lIns="114300" tIns="114300" rIns="114300" bIns="114300"/>
                    <a:lstStyle/>
                    <a:p>
                      <a:r>
                        <a:rPr sz="2100" b="0">
                          <a:solidFill>
                            <a:srgbClr val="142F47"/>
                          </a:solidFill>
                          <a:latin typeface="Arial"/>
                          <a:ea typeface="Arial"/>
                          <a:cs typeface="Arial"/>
                        </a:rPr>
                        <a:t>Retained credit loss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44,791</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44,791</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781050">
                <a:tc>
                  <a:txBody>
                    <a:bodyPr wrap="square" lIns="114300" tIns="114300" rIns="114300" bIns="114300"/>
                    <a:lstStyle/>
                    <a:p>
                      <a:r>
                        <a:rPr sz="2100" b="0">
                          <a:solidFill>
                            <a:srgbClr val="142F47"/>
                          </a:solidFill>
                          <a:latin typeface="Arial"/>
                          <a:ea typeface="Arial"/>
                          <a:cs typeface="Arial"/>
                        </a:rPr>
                        <a:t>Lender contribution</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190,858</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190,654</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15848B7-0F75-470E-8F9B-F3226EB8AEBC}"/>
              </a:ext>
            </a:extLst>
          </p:cNvPr>
          <p:cNvSpPr>
            <a:spLocks xmlns:a="http://schemas.openxmlformats.org/drawingml/2006/main" noGrp="1"/>
          </p:cNvSpPr>
          <p:nvPr/>
        </p:nvSpPr>
        <p:spPr>
          <a:xfrm xmlns:a="http://schemas.openxmlformats.org/drawingml/2006/main">
            <a:off x="666750" y="7334250"/>
            <a:ext cx="1381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325" b="1">
                <a:solidFill>
                  <a:srgbClr val="093C63"/>
                </a:solidFill>
                <a:latin typeface="Arial"/>
                <a:ea typeface="Arial"/>
                <a:cs typeface="Arial"/>
              </a:defRPr>
            </a:defPPr>
            <a:lvl1pPr>
              <a:defRPr sz="2325" b="1">
                <a:solidFill>
                  <a:srgbClr val="093C63"/>
                </a:solidFill>
                <a:latin typeface="Arial"/>
                <a:ea typeface="Arial"/>
                <a:cs typeface="Arial"/>
              </a:defRPr>
            </a:lvl1pPr>
            <a:lvl2pPr>
              <a:defRPr sz="2325" b="1">
                <a:solidFill>
                  <a:srgbClr val="093C63"/>
                </a:solidFill>
                <a:latin typeface="Arial"/>
                <a:ea typeface="Arial"/>
                <a:cs typeface="Arial"/>
              </a:defRPr>
            </a:lvl2pPr>
            <a:lvl3pPr>
              <a:defRPr sz="2325" b="1">
                <a:solidFill>
                  <a:srgbClr val="093C63"/>
                </a:solidFill>
                <a:latin typeface="Arial"/>
                <a:ea typeface="Arial"/>
                <a:cs typeface="Arial"/>
              </a:defRPr>
            </a:lvl3pPr>
            <a:lvl4pPr>
              <a:defRPr sz="2325" b="1">
                <a:solidFill>
                  <a:srgbClr val="093C63"/>
                </a:solidFill>
                <a:latin typeface="Arial"/>
                <a:ea typeface="Arial"/>
                <a:cs typeface="Arial"/>
              </a:defRPr>
            </a:lvl4pPr>
            <a:lvl5pPr>
              <a:defRPr sz="2325" b="1">
                <a:solidFill>
                  <a:srgbClr val="093C63"/>
                </a:solidFill>
                <a:latin typeface="Arial"/>
                <a:ea typeface="Arial"/>
                <a:cs typeface="Arial"/>
              </a:defRPr>
            </a:lvl5pPr>
            <a:lvl6pPr>
              <a:defRPr sz="2325" b="1">
                <a:solidFill>
                  <a:srgbClr val="093C63"/>
                </a:solidFill>
                <a:latin typeface="Arial"/>
                <a:ea typeface="Arial"/>
                <a:cs typeface="Arial"/>
              </a:defRPr>
            </a:lvl6pPr>
            <a:lvl7pPr>
              <a:defRPr sz="2325" b="1">
                <a:solidFill>
                  <a:srgbClr val="093C63"/>
                </a:solidFill>
                <a:latin typeface="Arial"/>
                <a:ea typeface="Arial"/>
                <a:cs typeface="Arial"/>
              </a:defRPr>
            </a:lvl7pPr>
            <a:lvl8pPr>
              <a:defRPr sz="2325" b="1">
                <a:solidFill>
                  <a:srgbClr val="093C63"/>
                </a:solidFill>
                <a:latin typeface="Arial"/>
                <a:ea typeface="Arial"/>
                <a:cs typeface="Arial"/>
              </a:defRPr>
            </a:lvl8pPr>
            <a:lvl9pPr>
              <a:defRPr sz="2325" b="1">
                <a:solidFill>
                  <a:srgbClr val="093C63"/>
                </a:solidFill>
                <a:latin typeface="Arial"/>
                <a:ea typeface="Arial"/>
                <a:cs typeface="Arial"/>
              </a:defRPr>
            </a:lvl9pPr>
          </a:lstStyle>
          <a:p xmlns:a="http://schemas.openxmlformats.org/drawingml/2006/main">
            <a:pPr>
              <a:defRPr sz="2325" b="1">
                <a:solidFill>
                  <a:srgbClr val="093C63"/>
                </a:solidFill>
                <a:latin typeface="Arial"/>
                <a:ea typeface="Arial"/>
                <a:cs typeface="Arial"/>
              </a:defRPr>
            </a:pPr>
            <a:r>
              <a:rPr sz="2325" b="1">
                <a:solidFill>
                  <a:srgbClr val="093C63"/>
                </a:solidFill>
                <a:latin typeface="Arial"/>
                <a:ea typeface="Arial"/>
                <a:cs typeface="Arial"/>
              </a:rPr>
              <a:t>The same net protection arrives later. Additional funding reduces contribution by KES 204.</a:t>
            </a:r>
          </a:p>
        </p:txBody>
      </p:sp>
    </p:spTree>
    <p:extLst>
      <p:ext uri="{BB962C8B-B14F-4D97-AF65-F5344CB8AC3E}">
        <p14:creationId xmlns:p14="http://schemas.microsoft.com/office/powerpoint/2010/main" val="16550646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DA59FADA-BE7F-4091-A15B-86E36A3B69AF}"/>
              </a:ext>
            </a:extLst>
          </p:cNvPr>
          <p:cNvPicPr>
            <a:picLocks xmlns:a="http://schemas.openxmlformats.org/drawingml/2006/main" noChangeAspect="1"/>
          </p:cNvPicPr>
          <p:nvPr/>
        </p:nvPicPr>
        <p:blipFill>
          <a:blip xmlns:r="http://schemas.openxmlformats.org/officeDocument/2006/relationships" xmlns:a="http://schemas.openxmlformats.org/drawingml/2006/main" r:embed="R521b997a968541ab"/>
          <a:stretch xmlns:a="http://schemas.openxmlformats.org/drawingml/2006/main"/>
        </p:blipFill>
        <p:spPr>
          <a:xfrm xmlns:a="http://schemas.openxmlformats.org/drawingml/2006/main">
            <a:off x="1071563" y="190500"/>
            <a:ext cx="13096875" cy="7858125"/>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421425-E7C3-4F3C-A31F-4600E3C1358D}"/>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Synthetic KES case • Calculation assumptions and interpretation in the adjacent slides • 18 October 2026</a:t>
            </a:r>
          </a:p>
        </p:txBody>
      </p:sp>
      <p:sp>
        <p:nvSpPr>
          <p:cNvPr id="3" name="">
            <a:extLst xmlns:a="http://schemas.openxmlformats.org/drawingml/2006/main">
              <a:ext uri="{FF2B5EF4-FFF2-40B4-BE49-F238E27FC236}">
                <a16:creationId xmlns:a16="http://schemas.microsoft.com/office/drawing/2014/main" id="{42933F58-DBEA-403A-9D76-CAF44C97CC8D}"/>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16</a:t>
            </a:r>
          </a:p>
        </p:txBody>
      </p:sp>
    </p:spTree>
    <p:extLst>
      <p:ext uri="{BB962C8B-B14F-4D97-AF65-F5344CB8AC3E}">
        <p14:creationId xmlns:p14="http://schemas.microsoft.com/office/powerpoint/2010/main" val="202784903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D59A046-E4A8-4D80-A346-62BCCF2078DA}"/>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Severe losses expose retained credit risk and merchant strain</a:t>
            </a:r>
          </a:p>
        </p:txBody>
      </p:sp>
      <p:sp>
        <p:nvSpPr>
          <p:cNvPr id="2" name="">
            <a:extLst xmlns:a="http://schemas.openxmlformats.org/drawingml/2006/main">
              <a:ext uri="{FF2B5EF4-FFF2-40B4-BE49-F238E27FC236}">
                <a16:creationId xmlns:a16="http://schemas.microsoft.com/office/drawing/2014/main" id="{D4FB02BA-83C8-4385-A9A3-F2EEE2618389}"/>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39240514-3D11-47EA-9037-813CEBCEB229}"/>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17</a:t>
            </a:r>
          </a:p>
        </p:txBody>
      </p:sp>
      <p:graphicFrame>
        <p:nvGraphicFramePr>
          <p:cNvPr id="4" name="">
            <a:extLst xmlns:a="http://schemas.openxmlformats.org/drawingml/2006/main">
              <a:ext uri="{FF2B5EF4-FFF2-40B4-BE49-F238E27FC236}">
                <a16:creationId xmlns:a16="http://schemas.microsoft.com/office/drawing/2014/main" id="{5879A104-82D7-4EA2-AB1C-C5AEDC6FC88A}"/>
              </a:ext>
            </a:extLst>
          </p:cNvPr>
          <p:cNvGraphicFramePr/>
          <p:nvPr/>
        </p:nvGraphicFramePr>
        <p:xfrm>
          <a:off xmlns:a="http://schemas.openxmlformats.org/drawingml/2006/main" x="666750" y="1571625"/>
          <a:ext xmlns:a="http://schemas.openxmlformats.org/drawingml/2006/main" cx="13906500" cy="5334000"/>
        </p:xfrm>
        <a:graphic xmlns:a="http://schemas.openxmlformats.org/drawingml/2006/main">
          <a:graphicData uri="http://schemas.openxmlformats.org/drawingml/2006/table">
            <a:tbl>
              <a:tblPr/>
              <a:tblGrid>
                <a:gridCol w="10287000"/>
                <a:gridCol w="3619500"/>
              </a:tblGrid>
              <a:tr h="762000">
                <a:tc>
                  <a:txBody>
                    <a:bodyPr wrap="square" lIns="114300" tIns="114300" rIns="114300" bIns="114300"/>
                    <a:lstStyle/>
                    <a:p>
                      <a:r>
                        <a:rPr sz="2175" b="1">
                          <a:solidFill>
                            <a:srgbClr val="FFFFFF"/>
                          </a:solidFill>
                          <a:latin typeface="Arial"/>
                          <a:ea typeface="Arial"/>
                          <a:cs typeface="Arial"/>
                        </a:rPr>
                        <a:t>Severe common shock, KES</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75" b="1">
                          <a:solidFill>
                            <a:srgbClr val="FFFFFF"/>
                          </a:solidFill>
                          <a:latin typeface="Arial"/>
                          <a:ea typeface="Arial"/>
                          <a:cs typeface="Arial"/>
                        </a:rPr>
                        <a:t>Amount</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762000">
                <a:tc>
                  <a:txBody>
                    <a:bodyPr wrap="square" lIns="114300" tIns="114300" rIns="114300" bIns="114300"/>
                    <a:lstStyle/>
                    <a:p>
                      <a:r>
                        <a:rPr sz="2175" b="0">
                          <a:solidFill>
                            <a:srgbClr val="142F47"/>
                          </a:solidFill>
                          <a:latin typeface="Arial"/>
                          <a:ea typeface="Arial"/>
                          <a:cs typeface="Arial"/>
                        </a:rPr>
                        <a:t>Gross written-off principal</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75" b="0">
                          <a:solidFill>
                            <a:srgbClr val="142F47"/>
                          </a:solidFill>
                          <a:latin typeface="Arial"/>
                          <a:ea typeface="Arial"/>
                          <a:cs typeface="Arial"/>
                        </a:rPr>
                        <a:t>894,000</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762000">
                <a:tc>
                  <a:txBody>
                    <a:bodyPr wrap="square" lIns="114300" tIns="114300" rIns="114300" bIns="114300"/>
                    <a:lstStyle/>
                    <a:p>
                      <a:r>
                        <a:rPr sz="2175" b="0">
                          <a:solidFill>
                            <a:srgbClr val="142F47"/>
                          </a:solidFill>
                          <a:latin typeface="Arial"/>
                          <a:ea typeface="Arial"/>
                          <a:cs typeface="Arial"/>
                        </a:rPr>
                        <a:t>Less: borrower recovery</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75" b="0">
                          <a:solidFill>
                            <a:srgbClr val="142F47"/>
                          </a:solidFill>
                          <a:latin typeface="Arial"/>
                          <a:ea typeface="Arial"/>
                          <a:cs typeface="Arial"/>
                        </a:rPr>
                        <a:t>62,400</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762000">
                <a:tc>
                  <a:txBody>
                    <a:bodyPr wrap="square" lIns="114300" tIns="114300" rIns="114300" bIns="114300"/>
                    <a:lstStyle/>
                    <a:p>
                      <a:r>
                        <a:rPr sz="2175" b="0">
                          <a:solidFill>
                            <a:srgbClr val="142F47"/>
                          </a:solidFill>
                          <a:latin typeface="Arial"/>
                          <a:ea typeface="Arial"/>
                          <a:cs typeface="Arial"/>
                        </a:rPr>
                        <a:t>Less: guarantee cash received</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75" b="0">
                          <a:solidFill>
                            <a:srgbClr val="142F47"/>
                          </a:solidFill>
                          <a:latin typeface="Arial"/>
                          <a:ea typeface="Arial"/>
                          <a:cs typeface="Arial"/>
                        </a:rPr>
                        <a:t>259,666</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762000">
                <a:tc>
                  <a:txBody>
                    <a:bodyPr wrap="square" lIns="114300" tIns="114300" rIns="114300" bIns="114300"/>
                    <a:lstStyle/>
                    <a:p>
                      <a:r>
                        <a:rPr sz="2175" b="0">
                          <a:solidFill>
                            <a:srgbClr val="142F47"/>
                          </a:solidFill>
                          <a:latin typeface="Arial"/>
                          <a:ea typeface="Arial"/>
                          <a:cs typeface="Arial"/>
                        </a:rPr>
                        <a:t>Add: recovery remitted to guarantor</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75" b="0">
                          <a:solidFill>
                            <a:srgbClr val="142F47"/>
                          </a:solidFill>
                          <a:latin typeface="Arial"/>
                          <a:ea typeface="Arial"/>
                          <a:cs typeface="Arial"/>
                        </a:rPr>
                        <a:t>18,124</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762000">
                <a:tc>
                  <a:txBody>
                    <a:bodyPr wrap="square" lIns="114300" tIns="114300" rIns="114300" bIns="114300"/>
                    <a:lstStyle/>
                    <a:p>
                      <a:r>
                        <a:rPr sz="2175" b="0">
                          <a:solidFill>
                            <a:srgbClr val="142F47"/>
                          </a:solidFill>
                          <a:latin typeface="Arial"/>
                          <a:ea typeface="Arial"/>
                          <a:cs typeface="Arial"/>
                        </a:rPr>
                        <a:t>Retained credit loss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75" b="0">
                          <a:solidFill>
                            <a:srgbClr val="142F47"/>
                          </a:solidFill>
                          <a:latin typeface="Arial"/>
                          <a:ea typeface="Arial"/>
                          <a:cs typeface="Arial"/>
                        </a:rPr>
                        <a:t>590,058</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762000">
                <a:tc>
                  <a:txBody>
                    <a:bodyPr wrap="square" lIns="114300" tIns="114300" rIns="114300" bIns="114300"/>
                    <a:lstStyle/>
                    <a:p>
                      <a:r>
                        <a:rPr sz="2175" b="0">
                          <a:solidFill>
                            <a:srgbClr val="142F47"/>
                          </a:solidFill>
                          <a:latin typeface="Arial"/>
                          <a:ea typeface="Arial"/>
                          <a:cs typeface="Arial"/>
                        </a:rPr>
                        <a:t>Lender contribution after all costs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75" b="0">
                          <a:solidFill>
                            <a:srgbClr val="142F47"/>
                          </a:solidFill>
                          <a:latin typeface="Arial"/>
                          <a:ea typeface="Arial"/>
                          <a:cs typeface="Arial"/>
                        </a:rPr>
                        <a:t>-568,864</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E5572FD-D1A2-4B95-9FCE-1574029CF27E}"/>
              </a:ext>
            </a:extLst>
          </p:cNvPr>
          <p:cNvSpPr>
            <a:spLocks xmlns:a="http://schemas.openxmlformats.org/drawingml/2006/main" noGrp="1"/>
          </p:cNvSpPr>
          <p:nvPr/>
        </p:nvSpPr>
        <p:spPr>
          <a:xfrm xmlns:a="http://schemas.openxmlformats.org/drawingml/2006/main">
            <a:off x="666750" y="7191375"/>
            <a:ext cx="1381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b="0">
                <a:solidFill>
                  <a:srgbClr val="142F47"/>
                </a:solidFill>
                <a:latin typeface="Arial"/>
                <a:ea typeface="Arial"/>
                <a:cs typeface="Arial"/>
              </a:defRPr>
            </a:defPPr>
            <a:lvl1pPr>
              <a:defRPr sz="2250" b="0">
                <a:solidFill>
                  <a:srgbClr val="142F47"/>
                </a:solidFill>
                <a:latin typeface="Arial"/>
                <a:ea typeface="Arial"/>
                <a:cs typeface="Arial"/>
              </a:defRPr>
            </a:lvl1pPr>
            <a:lvl2pPr>
              <a:defRPr sz="2250" b="0">
                <a:solidFill>
                  <a:srgbClr val="142F47"/>
                </a:solidFill>
                <a:latin typeface="Arial"/>
                <a:ea typeface="Arial"/>
                <a:cs typeface="Arial"/>
              </a:defRPr>
            </a:lvl2pPr>
            <a:lvl3pPr>
              <a:defRPr sz="2250" b="0">
                <a:solidFill>
                  <a:srgbClr val="142F47"/>
                </a:solidFill>
                <a:latin typeface="Arial"/>
                <a:ea typeface="Arial"/>
                <a:cs typeface="Arial"/>
              </a:defRPr>
            </a:lvl3pPr>
            <a:lvl4pPr>
              <a:defRPr sz="2250" b="0">
                <a:solidFill>
                  <a:srgbClr val="142F47"/>
                </a:solidFill>
                <a:latin typeface="Arial"/>
                <a:ea typeface="Arial"/>
                <a:cs typeface="Arial"/>
              </a:defRPr>
            </a:lvl4pPr>
            <a:lvl5pPr>
              <a:defRPr sz="2250" b="0">
                <a:solidFill>
                  <a:srgbClr val="142F47"/>
                </a:solidFill>
                <a:latin typeface="Arial"/>
                <a:ea typeface="Arial"/>
                <a:cs typeface="Arial"/>
              </a:defRPr>
            </a:lvl5pPr>
            <a:lvl6pPr>
              <a:defRPr sz="2250" b="0">
                <a:solidFill>
                  <a:srgbClr val="142F47"/>
                </a:solidFill>
                <a:latin typeface="Arial"/>
                <a:ea typeface="Arial"/>
                <a:cs typeface="Arial"/>
              </a:defRPr>
            </a:lvl6pPr>
            <a:lvl7pPr>
              <a:defRPr sz="2250" b="0">
                <a:solidFill>
                  <a:srgbClr val="142F47"/>
                </a:solidFill>
                <a:latin typeface="Arial"/>
                <a:ea typeface="Arial"/>
                <a:cs typeface="Arial"/>
              </a:defRPr>
            </a:lvl7pPr>
            <a:lvl8pPr>
              <a:defRPr sz="2250" b="0">
                <a:solidFill>
                  <a:srgbClr val="142F47"/>
                </a:solidFill>
                <a:latin typeface="Arial"/>
                <a:ea typeface="Arial"/>
                <a:cs typeface="Arial"/>
              </a:defRPr>
            </a:lvl8pPr>
            <a:lvl9pPr>
              <a:defRPr sz="2250" b="0">
                <a:solidFill>
                  <a:srgbClr val="142F47"/>
                </a:solidFill>
                <a:latin typeface="Arial"/>
                <a:ea typeface="Arial"/>
                <a:cs typeface="Arial"/>
              </a:defRPr>
            </a:lvl9pPr>
          </a:lstStyle>
          <a:p xmlns:a="http://schemas.openxmlformats.org/drawingml/2006/main">
            <a:pPr>
              <a:defRPr sz="2250" b="0">
                <a:solidFill>
                  <a:srgbClr val="142F47"/>
                </a:solidFill>
                <a:latin typeface="Arial"/>
                <a:ea typeface="Arial"/>
                <a:cs typeface="Arial"/>
              </a:defRPr>
            </a:pPr>
            <a:r>
              <a:rPr sz="2250" b="0">
                <a:solidFill>
                  <a:srgbClr val="142F47"/>
                </a:solidFill>
                <a:latin typeface="Arial"/>
                <a:ea typeface="Arial"/>
                <a:cs typeface="Arial"/>
              </a:rPr>
              <a:t>Merchant cash totals KES 65,400. Unpaid household need totals KES 81,000. These outcomes accompany the financial result.</a:t>
            </a:r>
          </a:p>
        </p:txBody>
      </p:sp>
    </p:spTree>
    <p:extLst>
      <p:ext uri="{BB962C8B-B14F-4D97-AF65-F5344CB8AC3E}">
        <p14:creationId xmlns:p14="http://schemas.microsoft.com/office/powerpoint/2010/main" val="93003156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2C71BB6-6F38-4CBB-83E3-DB5DA9A05347}"/>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Agentic workflow with controlled calculations and human approval</a:t>
            </a:r>
          </a:p>
        </p:txBody>
      </p:sp>
      <p:sp>
        <p:nvSpPr>
          <p:cNvPr id="2" name="">
            <a:extLst xmlns:a="http://schemas.openxmlformats.org/drawingml/2006/main">
              <a:ext uri="{FF2B5EF4-FFF2-40B4-BE49-F238E27FC236}">
                <a16:creationId xmlns:a16="http://schemas.microsoft.com/office/drawing/2014/main" id="{29E9E0D7-00A0-4E02-9D94-878788DA3D9C}"/>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E94F254C-F2CE-4331-8866-CC22B2C8406B}"/>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18</a:t>
            </a:r>
          </a:p>
        </p:txBody>
      </p:sp>
      <p:graphicFrame>
        <p:nvGraphicFramePr>
          <p:cNvPr id="4" name="">
            <a:extLst xmlns:a="http://schemas.openxmlformats.org/drawingml/2006/main">
              <a:ext uri="{FF2B5EF4-FFF2-40B4-BE49-F238E27FC236}">
                <a16:creationId xmlns:a16="http://schemas.microsoft.com/office/drawing/2014/main" id="{D491CFE5-D352-4E54-8C29-BB124A340D25}"/>
              </a:ext>
            </a:extLst>
          </p:cNvPr>
          <p:cNvGraphicFramePr/>
          <p:nvPr/>
        </p:nvGraphicFramePr>
        <p:xfrm>
          <a:off xmlns:a="http://schemas.openxmlformats.org/drawingml/2006/main" x="666750" y="1524000"/>
          <a:ext xmlns:a="http://schemas.openxmlformats.org/drawingml/2006/main" cx="13906500" cy="6200775"/>
        </p:xfrm>
        <a:graphic xmlns:a="http://schemas.openxmlformats.org/drawingml/2006/main">
          <a:graphicData uri="http://schemas.openxmlformats.org/drawingml/2006/table">
            <a:tbl>
              <a:tblPr/>
              <a:tblGrid>
                <a:gridCol w="5619750"/>
                <a:gridCol w="8286750"/>
              </a:tblGrid>
              <a:tr h="885825">
                <a:tc>
                  <a:txBody>
                    <a:bodyPr wrap="square" lIns="114300" tIns="114300" rIns="114300" bIns="114300"/>
                    <a:lstStyle/>
                    <a:p>
                      <a:r>
                        <a:rPr sz="2100" b="1">
                          <a:solidFill>
                            <a:srgbClr val="FFFFFF"/>
                          </a:solidFill>
                          <a:latin typeface="Arial"/>
                          <a:ea typeface="Arial"/>
                          <a:cs typeface="Arial"/>
                        </a:rPr>
                        <a:t>Step and accountable owner</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Evidence or action</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885825">
                <a:tc>
                  <a:txBody>
                    <a:bodyPr wrap="square" lIns="114300" tIns="114300" rIns="114300" bIns="114300"/>
                    <a:lstStyle/>
                    <a:p>
                      <a:r>
                        <a:rPr sz="2100" b="0">
                          <a:solidFill>
                            <a:srgbClr val="142F47"/>
                          </a:solidFill>
                          <a:latin typeface="Arial"/>
                          <a:ea typeface="Arial"/>
                          <a:cs typeface="Arial"/>
                        </a:rPr>
                        <a:t>1. Intake agent and data steward</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Reconcile orders, stock, receipts and loan records. Record purpose, provenance and freshness.</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85825">
                <a:tc>
                  <a:txBody>
                    <a:bodyPr wrap="square" lIns="114300" tIns="114300" rIns="114300" bIns="114300"/>
                    <a:lstStyle/>
                    <a:p>
                      <a:r>
                        <a:rPr sz="2100" b="0">
                          <a:solidFill>
                            <a:srgbClr val="142F47"/>
                          </a:solidFill>
                          <a:latin typeface="Arial"/>
                          <a:ea typeface="Arial"/>
                          <a:cs typeface="Arial"/>
                        </a:rPr>
                        <a:t>2. Calculation service and model owner</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Run cash projections, eligibility and approved models. Return versions, units and uncertainty.</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885825">
                <a:tc>
                  <a:txBody>
                    <a:bodyPr wrap="square" lIns="114300" tIns="114300" rIns="114300" bIns="114300"/>
                    <a:lstStyle/>
                    <a:p>
                      <a:r>
                        <a:rPr sz="2100" b="0">
                          <a:solidFill>
                            <a:srgbClr val="142F47"/>
                          </a:solidFill>
                          <a:latin typeface="Arial"/>
                          <a:ea typeface="Arial"/>
                          <a:cs typeface="Arial"/>
                        </a:rPr>
                        <a:t>3. Case agent and credit officer</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Assemble options and supporting evidence. Route missing data and policy exceptions for review.</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85825">
                <a:tc>
                  <a:txBody>
                    <a:bodyPr wrap="square" lIns="114300" tIns="114300" rIns="114300" bIns="114300"/>
                    <a:lstStyle/>
                    <a:p>
                      <a:r>
                        <a:rPr sz="2100" b="0">
                          <a:solidFill>
                            <a:srgbClr val="142F47"/>
                          </a:solidFill>
                          <a:latin typeface="Arial"/>
                          <a:ea typeface="Arial"/>
                          <a:cs typeface="Arial"/>
                        </a:rPr>
                        <a:t>4. Maker and independent checker</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Approve a limit, due date or material intervention using the permitted action set.</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885825">
                <a:tc>
                  <a:txBody>
                    <a:bodyPr wrap="square" lIns="114300" tIns="114300" rIns="114300" bIns="114300"/>
                    <a:lstStyle/>
                    <a:p>
                      <a:r>
                        <a:rPr sz="2100" b="0">
                          <a:solidFill>
                            <a:srgbClr val="142F47"/>
                          </a:solidFill>
                          <a:latin typeface="Arial"/>
                          <a:ea typeface="Arial"/>
                          <a:cs typeface="Arial"/>
                        </a:rPr>
                        <a:t>5. Execution service and operations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Send authorised instructions to lending/CRM systems. Capture idempotency keys and receipts.</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885825">
                <a:tc>
                  <a:txBody>
                    <a:bodyPr wrap="square" lIns="114300" tIns="114300" rIns="114300" bIns="114300"/>
                    <a:lstStyle/>
                    <a:p>
                      <a:r>
                        <a:rPr sz="2100" b="0">
                          <a:solidFill>
                            <a:srgbClr val="142F47"/>
                          </a:solidFill>
                          <a:latin typeface="Arial"/>
                          <a:ea typeface="Arial"/>
                          <a:cs typeface="Arial"/>
                        </a:rPr>
                        <a:t>6. Monitoring agent and finance/risk</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Reconcile outcomes, claim events and overrides. Trigger review, then update the evidence record.</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Tree>
    <p:extLst>
      <p:ext uri="{BB962C8B-B14F-4D97-AF65-F5344CB8AC3E}">
        <p14:creationId xmlns:p14="http://schemas.microsoft.com/office/powerpoint/2010/main" val="14103822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603D33A-D329-4922-B952-2B6363AEA52A}"/>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A focused pilot links each phase to an acceptance decision</a:t>
            </a:r>
          </a:p>
        </p:txBody>
      </p:sp>
      <p:sp>
        <p:nvSpPr>
          <p:cNvPr id="2" name="">
            <a:extLst xmlns:a="http://schemas.openxmlformats.org/drawingml/2006/main">
              <a:ext uri="{FF2B5EF4-FFF2-40B4-BE49-F238E27FC236}">
                <a16:creationId xmlns:a16="http://schemas.microsoft.com/office/drawing/2014/main" id="{CFDB1F2A-9B81-4ECB-93DF-A6963FE86AFC}"/>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66DF2F85-A0F8-4FF3-9F22-C1419B0F8DDC}"/>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19</a:t>
            </a:r>
          </a:p>
        </p:txBody>
      </p:sp>
      <p:graphicFrame>
        <p:nvGraphicFramePr>
          <p:cNvPr id="4" name="">
            <a:extLst xmlns:a="http://schemas.openxmlformats.org/drawingml/2006/main">
              <a:ext uri="{FF2B5EF4-FFF2-40B4-BE49-F238E27FC236}">
                <a16:creationId xmlns:a16="http://schemas.microsoft.com/office/drawing/2014/main" id="{BFE1B34D-4AF4-4265-9293-1292012DA350}"/>
              </a:ext>
            </a:extLst>
          </p:cNvPr>
          <p:cNvGraphicFramePr/>
          <p:nvPr/>
        </p:nvGraphicFramePr>
        <p:xfrm>
          <a:off xmlns:a="http://schemas.openxmlformats.org/drawingml/2006/main" x="666750" y="1666875"/>
          <a:ext xmlns:a="http://schemas.openxmlformats.org/drawingml/2006/main" cx="13906500" cy="5905500"/>
        </p:xfrm>
        <a:graphic xmlns:a="http://schemas.openxmlformats.org/drawingml/2006/main">
          <a:graphicData uri="http://schemas.openxmlformats.org/drawingml/2006/table">
            <a:tbl>
              <a:tblPr/>
              <a:tblGrid>
                <a:gridCol w="3048000"/>
                <a:gridCol w="6191250"/>
                <a:gridCol w="4667250"/>
              </a:tblGrid>
              <a:tr h="1181100">
                <a:tc>
                  <a:txBody>
                    <a:bodyPr wrap="square" lIns="114300" tIns="114300" rIns="114300" bIns="114300"/>
                    <a:lstStyle/>
                    <a:p>
                      <a:r>
                        <a:rPr sz="2100" b="1">
                          <a:solidFill>
                            <a:srgbClr val="FFFFFF"/>
                          </a:solidFill>
                          <a:latin typeface="Arial"/>
                          <a:ea typeface="Arial"/>
                          <a:cs typeface="Arial"/>
                        </a:rPr>
                        <a:t>Phase</a:t>
                      </a:r>
                    </a:p>
                  </a:txBody>
                  <a:tcPr marL="91440" marR="91440" marT="45720" marB="45720" anchor="ctr">
                    <a:lnL w="9525">
                      <a:solidFill>
                        <a:srgbClr val="DAE1E7"/>
                      </a:solidFill>
                      <a:prstDash val="solid"/>
                    </a:lnL>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Working output</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c>
                  <a:txBody>
                    <a:bodyPr wrap="square" lIns="114300" tIns="114300" rIns="114300" bIns="114300"/>
                    <a:lstStyle/>
                    <a:p>
                      <a:r>
                        <a:rPr sz="2100" b="1">
                          <a:solidFill>
                            <a:srgbClr val="FFFFFF"/>
                          </a:solidFill>
                          <a:latin typeface="Arial"/>
                          <a:ea typeface="Arial"/>
                          <a:cs typeface="Arial"/>
                        </a:rPr>
                        <a:t>Decision to proceed</a:t>
                      </a:r>
                    </a:p>
                  </a:txBody>
                  <a:tcPr marL="91440" marR="91440" marT="45720" marB="45720" anchor="ctr">
                    <a:lnR w="9525">
                      <a:solidFill>
                        <a:srgbClr val="DAE1E7"/>
                      </a:solidFill>
                      <a:prstDash val="solid"/>
                    </a:lnR>
                    <a:lnT w="9525">
                      <a:solidFill>
                        <a:srgbClr val="DAE1E7"/>
                      </a:solidFill>
                      <a:prstDash val="solid"/>
                    </a:lnT>
                    <a:lnB w="9525">
                      <a:solidFill>
                        <a:srgbClr val="DAE1E7"/>
                      </a:solidFill>
                      <a:prstDash val="solid"/>
                    </a:lnB>
                    <a:solidFill>
                      <a:srgbClr val="093C63"/>
                    </a:solidFill>
                  </a:tcPr>
                </a:tc>
              </a:tr>
              <a:tr h="1181100">
                <a:tc>
                  <a:txBody>
                    <a:bodyPr wrap="square" lIns="114300" tIns="114300" rIns="114300" bIns="114300"/>
                    <a:lstStyle/>
                    <a:p>
                      <a:r>
                        <a:rPr sz="2100" b="0">
                          <a:solidFill>
                            <a:srgbClr val="142F47"/>
                          </a:solidFill>
                          <a:latin typeface="Arial"/>
                          <a:ea typeface="Arial"/>
                          <a:cs typeface="Arial"/>
                        </a:rPr>
                        <a:t>1. Product and data definition</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One product/cohort, evidence dictionary, permissions and executed protection terms</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Credit, operations, legal and finance agree the scope.</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1181100">
                <a:tc>
                  <a:txBody>
                    <a:bodyPr wrap="square" lIns="114300" tIns="114300" rIns="114300" bIns="114300"/>
                    <a:lstStyle/>
                    <a:p>
                      <a:r>
                        <a:rPr sz="2100" b="0">
                          <a:solidFill>
                            <a:srgbClr val="142F47"/>
                          </a:solidFill>
                          <a:latin typeface="Arial"/>
                          <a:ea typeface="Arial"/>
                          <a:cs typeface="Arial"/>
                        </a:rPr>
                        <a:t>2. Historical reconstruction</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Reconciled cash cycles, claims history and time-based validation</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Independent reviewer reproduces balances and results.</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r h="1181100">
                <a:tc>
                  <a:txBody>
                    <a:bodyPr wrap="square" lIns="114300" tIns="114300" rIns="114300" bIns="114300"/>
                    <a:lstStyle/>
                    <a:p>
                      <a:r>
                        <a:rPr sz="2100" b="0">
                          <a:solidFill>
                            <a:srgbClr val="142F47"/>
                          </a:solidFill>
                          <a:latin typeface="Arial"/>
                          <a:ea typeface="Arial"/>
                          <a:cs typeface="Arial"/>
                        </a:rPr>
                        <a:t>3. Shadow recommendations</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Proposed limits/support with uncertainty and officer feedback</a:t>
                      </a:r>
                    </a:p>
                  </a:txBody>
                  <a:tcPr marL="91440" marR="91440" marT="45720" marB="45720" anchor="ctr">
                    <a:lnR w="9525">
                      <a:solidFill>
                        <a:srgbClr val="DAE1E7"/>
                      </a:solidFill>
                      <a:prstDash val="solid"/>
                    </a:lnR>
                    <a:lnB w="9525">
                      <a:solidFill>
                        <a:srgbClr val="DAE1E7"/>
                      </a:solidFill>
                      <a:prstDash val="solid"/>
                    </a:lnB>
                    <a:solidFill>
                      <a:srgbClr val="EDF3F7"/>
                    </a:solidFill>
                  </a:tcPr>
                </a:tc>
                <a:tc>
                  <a:txBody>
                    <a:bodyPr wrap="square" lIns="114300" tIns="114300" rIns="114300" bIns="114300"/>
                    <a:lstStyle/>
                    <a:p>
                      <a:r>
                        <a:rPr sz="2100" b="0">
                          <a:solidFill>
                            <a:srgbClr val="142F47"/>
                          </a:solidFill>
                          <a:latin typeface="Arial"/>
                          <a:ea typeface="Arial"/>
                          <a:cs typeface="Arial"/>
                        </a:rPr>
                        <a:t>Model owner confirms usefulness, stability and review capacity.</a:t>
                      </a:r>
                    </a:p>
                  </a:txBody>
                  <a:tcPr marL="91440" marR="91440" marT="45720" marB="45720" anchor="ctr">
                    <a:lnR w="9525">
                      <a:solidFill>
                        <a:srgbClr val="DAE1E7"/>
                      </a:solidFill>
                      <a:prstDash val="solid"/>
                    </a:lnR>
                    <a:lnB w="9525">
                      <a:solidFill>
                        <a:srgbClr val="DAE1E7"/>
                      </a:solidFill>
                      <a:prstDash val="solid"/>
                    </a:lnB>
                    <a:solidFill>
                      <a:srgbClr val="EDF3F7"/>
                    </a:solidFill>
                  </a:tcPr>
                </a:tc>
              </a:tr>
              <a:tr h="1181100">
                <a:tc>
                  <a:txBody>
                    <a:bodyPr wrap="square" lIns="114300" tIns="114300" rIns="114300" bIns="114300"/>
                    <a:lstStyle/>
                    <a:p>
                      <a:r>
                        <a:rPr sz="2100" b="0">
                          <a:solidFill>
                            <a:srgbClr val="142F47"/>
                          </a:solidFill>
                          <a:latin typeface="Arial"/>
                          <a:ea typeface="Arial"/>
                          <a:cs typeface="Arial"/>
                        </a:rPr>
                        <a:t>4. Approved prospective study</a:t>
                      </a:r>
                    </a:p>
                  </a:txBody>
                  <a:tcPr marL="91440" marR="91440" marT="45720" marB="45720" anchor="ctr">
                    <a:lnL w="9525">
                      <a:solidFill>
                        <a:srgbClr val="DAE1E7"/>
                      </a:solidFill>
                      <a:prstDash val="solid"/>
                    </a:lnL>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Assigned support, delivered actions, costs and customer/lender outcomes</a:t>
                      </a:r>
                    </a:p>
                  </a:txBody>
                  <a:tcPr marL="91440" marR="91440" marT="45720" marB="45720" anchor="ctr">
                    <a:lnR w="9525">
                      <a:solidFill>
                        <a:srgbClr val="DAE1E7"/>
                      </a:solidFill>
                      <a:prstDash val="solid"/>
                    </a:lnR>
                    <a:lnB w="9525">
                      <a:solidFill>
                        <a:srgbClr val="DAE1E7"/>
                      </a:solidFill>
                      <a:prstDash val="solid"/>
                    </a:lnB>
                    <a:solidFill>
                      <a:srgbClr val="FFFFFF"/>
                    </a:solidFill>
                  </a:tcPr>
                </a:tc>
                <a:tc>
                  <a:txBody>
                    <a:bodyPr wrap="square" lIns="114300" tIns="114300" rIns="114300" bIns="114300"/>
                    <a:lstStyle/>
                    <a:p>
                      <a:r>
                        <a:rPr sz="2100" b="0">
                          <a:solidFill>
                            <a:srgbClr val="142F47"/>
                          </a:solidFill>
                          <a:latin typeface="Arial"/>
                          <a:ea typeface="Arial"/>
                          <a:cs typeface="Arial"/>
                        </a:rPr>
                        <a:t>Evaluate prespecified outcomes, uncertainty and operational effects.</a:t>
                      </a:r>
                    </a:p>
                  </a:txBody>
                  <a:tcPr marL="91440" marR="91440" marT="45720" marB="45720" anchor="ctr">
                    <a:lnR w="9525">
                      <a:solidFill>
                        <a:srgbClr val="DAE1E7"/>
                      </a:solidFill>
                      <a:prstDash val="solid"/>
                    </a:lnR>
                    <a:lnB w="9525">
                      <a:solidFill>
                        <a:srgbClr val="DAE1E7"/>
                      </a:solidFill>
                      <a:prstDash val="solid"/>
                    </a:lnB>
                    <a:solidFill>
                      <a:srgbClr val="FFFFFF"/>
                    </a:solidFill>
                  </a:tcPr>
                </a:tc>
              </a:tr>
            </a:tbl>
          </a:graphicData>
        </a:graphic>
      </p:graphicFrame>
    </p:spTree>
    <p:extLst>
      <p:ext uri="{BB962C8B-B14F-4D97-AF65-F5344CB8AC3E}">
        <p14:creationId xmlns:p14="http://schemas.microsoft.com/office/powerpoint/2010/main" val="72255517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FC33A9-6F57-4341-8741-4E6BEFDFB134}"/>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Data access and decision rights enter the specification</a:t>
            </a:r>
          </a:p>
        </p:txBody>
      </p:sp>
      <p:sp>
        <p:nvSpPr>
          <p:cNvPr id="2" name="">
            <a:extLst xmlns:a="http://schemas.openxmlformats.org/drawingml/2006/main">
              <a:ext uri="{FF2B5EF4-FFF2-40B4-BE49-F238E27FC236}">
                <a16:creationId xmlns:a16="http://schemas.microsoft.com/office/drawing/2014/main" id="{9C007D44-CDC8-46C3-BD13-1338203C097D}"/>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CF60D071-E8C7-4939-949E-27738E59D3EF}"/>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20</a:t>
            </a:r>
          </a:p>
        </p:txBody>
      </p:sp>
      <p:sp>
        <p:nvSpPr>
          <p:cNvPr id="4" name="">
            <a:extLst xmlns:a="http://schemas.openxmlformats.org/drawingml/2006/main">
              <a:ext uri="{FF2B5EF4-FFF2-40B4-BE49-F238E27FC236}">
                <a16:creationId xmlns:a16="http://schemas.microsoft.com/office/drawing/2014/main" id="{686F4E41-D156-4485-A8C5-ABF4D2F01102}"/>
              </a:ext>
            </a:extLst>
          </p:cNvPr>
          <p:cNvSpPr>
            <a:spLocks xmlns:a="http://schemas.openxmlformats.org/drawingml/2006/main" noGrp="1"/>
          </p:cNvSpPr>
          <p:nvPr/>
        </p:nvSpPr>
        <p:spPr>
          <a:xfrm xmlns:a="http://schemas.openxmlformats.org/drawingml/2006/main">
            <a:off x="666750" y="16668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The lender keeps identifiable customer data in its approved environment. Purpose-bound access, pseudonymised research views, retention rules and transfer arrangements become explicit requirements.</a:t>
            </a:r>
          </a:p>
        </p:txBody>
      </p:sp>
      <p:sp>
        <p:nvSpPr>
          <p:cNvPr id="5" name="">
            <a:extLst xmlns:a="http://schemas.openxmlformats.org/drawingml/2006/main">
              <a:ext uri="{FF2B5EF4-FFF2-40B4-BE49-F238E27FC236}">
                <a16:creationId xmlns:a16="http://schemas.microsoft.com/office/drawing/2014/main" id="{B111A6EC-56C0-4736-B52A-0F8A99443665}"/>
              </a:ext>
            </a:extLst>
          </p:cNvPr>
          <p:cNvSpPr>
            <a:spLocks xmlns:a="http://schemas.openxmlformats.org/drawingml/2006/main" noGrp="1"/>
          </p:cNvSpPr>
          <p:nvPr/>
        </p:nvSpPr>
        <p:spPr>
          <a:xfrm xmlns:a="http://schemas.openxmlformats.org/drawingml/2006/main">
            <a:off x="666750" y="366712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A complete decision packet records business and facility IDs, relevant transactions, decision time, policy version, available actions and authorised reviewers. CRM and the lending subledger reconcile the resulting action.</a:t>
            </a:r>
          </a:p>
        </p:txBody>
      </p:sp>
      <p:sp>
        <p:nvSpPr>
          <p:cNvPr id="6" name="">
            <a:extLst xmlns:a="http://schemas.openxmlformats.org/drawingml/2006/main">
              <a:ext uri="{FF2B5EF4-FFF2-40B4-BE49-F238E27FC236}">
                <a16:creationId xmlns:a16="http://schemas.microsoft.com/office/drawing/2014/main" id="{F83DAD18-7AF3-4B62-82BB-2D8955F8FEA2}"/>
              </a:ext>
            </a:extLst>
          </p:cNvPr>
          <p:cNvSpPr>
            <a:spLocks xmlns:a="http://schemas.openxmlformats.org/drawingml/2006/main" noGrp="1"/>
          </p:cNvSpPr>
          <p:nvPr/>
        </p:nvSpPr>
        <p:spPr>
          <a:xfrm xmlns:a="http://schemas.openxmlformats.org/drawingml/2006/main">
            <a:off x="666750" y="5667375"/>
            <a:ext cx="13811250"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Customer-facing changes follow the approved review route. The implementation records notice, meaningful explanation, challenge and human review under the applicable Kenyan data-protection framework.</a:t>
            </a:r>
          </a:p>
        </p:txBody>
      </p:sp>
    </p:spTree>
    <p:extLst>
      <p:ext uri="{BB962C8B-B14F-4D97-AF65-F5344CB8AC3E}">
        <p14:creationId xmlns:p14="http://schemas.microsoft.com/office/powerpoint/2010/main" val="4844135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E2321D-C7F6-4F35-BEFB-ACE0941DD454}"/>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The proposed engagement produces a usable decision pack</a:t>
            </a:r>
          </a:p>
        </p:txBody>
      </p:sp>
      <p:sp>
        <p:nvSpPr>
          <p:cNvPr id="2" name="">
            <a:extLst xmlns:a="http://schemas.openxmlformats.org/drawingml/2006/main">
              <a:ext uri="{FF2B5EF4-FFF2-40B4-BE49-F238E27FC236}">
                <a16:creationId xmlns:a16="http://schemas.microsoft.com/office/drawing/2014/main" id="{52B127CF-620F-48D7-9A4F-E2D3728D00F8}"/>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59657642-24B2-4D51-8849-571EE8606D34}"/>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21</a:t>
            </a:r>
          </a:p>
        </p:txBody>
      </p:sp>
      <p:sp>
        <p:nvSpPr>
          <p:cNvPr id="4" name="">
            <a:extLst xmlns:a="http://schemas.openxmlformats.org/drawingml/2006/main">
              <a:ext uri="{FF2B5EF4-FFF2-40B4-BE49-F238E27FC236}">
                <a16:creationId xmlns:a16="http://schemas.microsoft.com/office/drawing/2014/main" id="{C2CDDEA7-8B0A-4849-B124-21CD88EDC0E2}"/>
              </a:ext>
            </a:extLst>
          </p:cNvPr>
          <p:cNvSpPr>
            <a:spLocks xmlns:a="http://schemas.openxmlformats.org/drawingml/2006/main" noGrp="1"/>
          </p:cNvSpPr>
          <p:nvPr/>
        </p:nvSpPr>
        <p:spPr>
          <a:xfrm xmlns:a="http://schemas.openxmlformats.org/drawingml/2006/main">
            <a:off x="666750" y="1666875"/>
            <a:ext cx="13811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Merchant evidence: reconciled stock-to-cash cycles, repeat eligibility, operating obligations and borrower outcomes. Each measure has a defined period and economic meaning.</a:t>
            </a:r>
          </a:p>
        </p:txBody>
      </p:sp>
      <p:sp>
        <p:nvSpPr>
          <p:cNvPr id="5" name="">
            <a:extLst xmlns:a="http://schemas.openxmlformats.org/drawingml/2006/main">
              <a:ext uri="{FF2B5EF4-FFF2-40B4-BE49-F238E27FC236}">
                <a16:creationId xmlns:a16="http://schemas.microsoft.com/office/drawing/2014/main" id="{60722F02-D6C4-42A3-9F15-808AEB5A981B}"/>
              </a:ext>
            </a:extLst>
          </p:cNvPr>
          <p:cNvSpPr>
            <a:spLocks xmlns:a="http://schemas.openxmlformats.org/drawingml/2006/main" noGrp="1"/>
          </p:cNvSpPr>
          <p:nvPr/>
        </p:nvSpPr>
        <p:spPr>
          <a:xfrm xmlns:a="http://schemas.openxmlformats.org/drawingml/2006/main">
            <a:off x="666750" y="3476625"/>
            <a:ext cx="13811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Lender evidence: collected revenue, servicing/support costs, gross and retained losses, claim timing, liquidity demand and concentration stress. These connect pricing and growth decisions.</a:t>
            </a:r>
          </a:p>
        </p:txBody>
      </p:sp>
      <p:sp>
        <p:nvSpPr>
          <p:cNvPr id="6" name="">
            <a:extLst xmlns:a="http://schemas.openxmlformats.org/drawingml/2006/main">
              <a:ext uri="{FF2B5EF4-FFF2-40B4-BE49-F238E27FC236}">
                <a16:creationId xmlns:a16="http://schemas.microsoft.com/office/drawing/2014/main" id="{DD3AA4F3-8D18-4304-B80A-B24FFE816943}"/>
              </a:ext>
            </a:extLst>
          </p:cNvPr>
          <p:cNvSpPr>
            <a:spLocks xmlns:a="http://schemas.openxmlformats.org/drawingml/2006/main" noGrp="1"/>
          </p:cNvSpPr>
          <p:nvPr/>
        </p:nvSpPr>
        <p:spPr>
          <a:xfrm xmlns:a="http://schemas.openxmlformats.org/drawingml/2006/main">
            <a:off x="666750" y="5286375"/>
            <a:ext cx="13811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550" b="0">
                <a:solidFill>
                  <a:srgbClr val="142F47"/>
                </a:solidFill>
                <a:latin typeface="Arial"/>
                <a:ea typeface="Arial"/>
                <a:cs typeface="Arial"/>
              </a:defRPr>
            </a:defPPr>
            <a:lvl1pPr>
              <a:defRPr sz="2550" b="0">
                <a:solidFill>
                  <a:srgbClr val="142F47"/>
                </a:solidFill>
                <a:latin typeface="Arial"/>
                <a:ea typeface="Arial"/>
                <a:cs typeface="Arial"/>
              </a:defRPr>
            </a:lvl1pPr>
            <a:lvl2pPr>
              <a:defRPr sz="2550" b="0">
                <a:solidFill>
                  <a:srgbClr val="142F47"/>
                </a:solidFill>
                <a:latin typeface="Arial"/>
                <a:ea typeface="Arial"/>
                <a:cs typeface="Arial"/>
              </a:defRPr>
            </a:lvl2pPr>
            <a:lvl3pPr>
              <a:defRPr sz="2550" b="0">
                <a:solidFill>
                  <a:srgbClr val="142F47"/>
                </a:solidFill>
                <a:latin typeface="Arial"/>
                <a:ea typeface="Arial"/>
                <a:cs typeface="Arial"/>
              </a:defRPr>
            </a:lvl3pPr>
            <a:lvl4pPr>
              <a:defRPr sz="2550" b="0">
                <a:solidFill>
                  <a:srgbClr val="142F47"/>
                </a:solidFill>
                <a:latin typeface="Arial"/>
                <a:ea typeface="Arial"/>
                <a:cs typeface="Arial"/>
              </a:defRPr>
            </a:lvl4pPr>
            <a:lvl5pPr>
              <a:defRPr sz="2550" b="0">
                <a:solidFill>
                  <a:srgbClr val="142F47"/>
                </a:solidFill>
                <a:latin typeface="Arial"/>
                <a:ea typeface="Arial"/>
                <a:cs typeface="Arial"/>
              </a:defRPr>
            </a:lvl5pPr>
            <a:lvl6pPr>
              <a:defRPr sz="2550" b="0">
                <a:solidFill>
                  <a:srgbClr val="142F47"/>
                </a:solidFill>
                <a:latin typeface="Arial"/>
                <a:ea typeface="Arial"/>
                <a:cs typeface="Arial"/>
              </a:defRPr>
            </a:lvl6pPr>
            <a:lvl7pPr>
              <a:defRPr sz="2550" b="0">
                <a:solidFill>
                  <a:srgbClr val="142F47"/>
                </a:solidFill>
                <a:latin typeface="Arial"/>
                <a:ea typeface="Arial"/>
                <a:cs typeface="Arial"/>
              </a:defRPr>
            </a:lvl7pPr>
            <a:lvl8pPr>
              <a:defRPr sz="2550" b="0">
                <a:solidFill>
                  <a:srgbClr val="142F47"/>
                </a:solidFill>
                <a:latin typeface="Arial"/>
                <a:ea typeface="Arial"/>
                <a:cs typeface="Arial"/>
              </a:defRPr>
            </a:lvl8pPr>
            <a:lvl9pPr>
              <a:defRPr sz="2550" b="0">
                <a:solidFill>
                  <a:srgbClr val="142F47"/>
                </a:solidFill>
                <a:latin typeface="Arial"/>
                <a:ea typeface="Arial"/>
                <a:cs typeface="Arial"/>
              </a:defRPr>
            </a:lvl9pPr>
          </a:lstStyle>
          <a:p xmlns:a="http://schemas.openxmlformats.org/drawingml/2006/main">
            <a:pPr>
              <a:defRPr sz="2550" b="0">
                <a:solidFill>
                  <a:srgbClr val="142F47"/>
                </a:solidFill>
                <a:latin typeface="Arial"/>
                <a:ea typeface="Arial"/>
                <a:cs typeface="Arial"/>
              </a:defRPr>
            </a:pPr>
            <a:r>
              <a:rPr sz="2550" b="0">
                <a:solidFill>
                  <a:srgbClr val="142F47"/>
                </a:solidFill>
                <a:latin typeface="Arial"/>
                <a:ea typeface="Arial"/>
                <a:cs typeface="Arial"/>
              </a:rPr>
              <a:t>Proposed next step: a technical scoping meeting with product, credit, operations, finance and data teams to select the first cohort and agree the acceptance criteria.</a:t>
            </a:r>
          </a:p>
        </p:txBody>
      </p:sp>
      <p:sp>
        <p:nvSpPr>
          <p:cNvPr id="7" name="">
            <a:extLst xmlns:a="http://schemas.openxmlformats.org/drawingml/2006/main">
              <a:ext uri="{FF2B5EF4-FFF2-40B4-BE49-F238E27FC236}">
                <a16:creationId xmlns:a16="http://schemas.microsoft.com/office/drawing/2014/main" id="{F1888AD4-ABCD-4027-B2B4-DEECFEBC7545}"/>
              </a:ext>
            </a:extLst>
          </p:cNvPr>
          <p:cNvSpPr>
            <a:spLocks xmlns:a="http://schemas.openxmlformats.org/drawingml/2006/main" noGrp="1"/>
          </p:cNvSpPr>
          <p:nvPr/>
        </p:nvSpPr>
        <p:spPr>
          <a:xfrm xmlns:a="http://schemas.openxmlformats.org/drawingml/2006/main">
            <a:off x="666750" y="7429500"/>
            <a:ext cx="13906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250" b="1">
                <a:solidFill>
                  <a:srgbClr val="093C63"/>
                </a:solidFill>
                <a:latin typeface="Arial"/>
                <a:ea typeface="Arial"/>
                <a:cs typeface="Arial"/>
              </a:defRPr>
            </a:defPPr>
            <a:lvl1pPr>
              <a:defRPr sz="2250" b="1">
                <a:solidFill>
                  <a:srgbClr val="093C63"/>
                </a:solidFill>
                <a:latin typeface="Arial"/>
                <a:ea typeface="Arial"/>
                <a:cs typeface="Arial"/>
              </a:defRPr>
            </a:lvl1pPr>
            <a:lvl2pPr>
              <a:defRPr sz="2250" b="1">
                <a:solidFill>
                  <a:srgbClr val="093C63"/>
                </a:solidFill>
                <a:latin typeface="Arial"/>
                <a:ea typeface="Arial"/>
                <a:cs typeface="Arial"/>
              </a:defRPr>
            </a:lvl2pPr>
            <a:lvl3pPr>
              <a:defRPr sz="2250" b="1">
                <a:solidFill>
                  <a:srgbClr val="093C63"/>
                </a:solidFill>
                <a:latin typeface="Arial"/>
                <a:ea typeface="Arial"/>
                <a:cs typeface="Arial"/>
              </a:defRPr>
            </a:lvl3pPr>
            <a:lvl4pPr>
              <a:defRPr sz="2250" b="1">
                <a:solidFill>
                  <a:srgbClr val="093C63"/>
                </a:solidFill>
                <a:latin typeface="Arial"/>
                <a:ea typeface="Arial"/>
                <a:cs typeface="Arial"/>
              </a:defRPr>
            </a:lvl4pPr>
            <a:lvl5pPr>
              <a:defRPr sz="2250" b="1">
                <a:solidFill>
                  <a:srgbClr val="093C63"/>
                </a:solidFill>
                <a:latin typeface="Arial"/>
                <a:ea typeface="Arial"/>
                <a:cs typeface="Arial"/>
              </a:defRPr>
            </a:lvl5pPr>
            <a:lvl6pPr>
              <a:defRPr sz="2250" b="1">
                <a:solidFill>
                  <a:srgbClr val="093C63"/>
                </a:solidFill>
                <a:latin typeface="Arial"/>
                <a:ea typeface="Arial"/>
                <a:cs typeface="Arial"/>
              </a:defRPr>
            </a:lvl6pPr>
            <a:lvl7pPr>
              <a:defRPr sz="2250" b="1">
                <a:solidFill>
                  <a:srgbClr val="093C63"/>
                </a:solidFill>
                <a:latin typeface="Arial"/>
                <a:ea typeface="Arial"/>
                <a:cs typeface="Arial"/>
              </a:defRPr>
            </a:lvl7pPr>
            <a:lvl8pPr>
              <a:defRPr sz="2250" b="1">
                <a:solidFill>
                  <a:srgbClr val="093C63"/>
                </a:solidFill>
                <a:latin typeface="Arial"/>
                <a:ea typeface="Arial"/>
                <a:cs typeface="Arial"/>
              </a:defRPr>
            </a:lvl8pPr>
            <a:lvl9pPr>
              <a:defRPr sz="2250" b="1">
                <a:solidFill>
                  <a:srgbClr val="093C63"/>
                </a:solidFill>
                <a:latin typeface="Arial"/>
                <a:ea typeface="Arial"/>
                <a:cs typeface="Arial"/>
              </a:defRPr>
            </a:lvl9pPr>
          </a:lstStyle>
          <a:p xmlns:a="http://schemas.openxmlformats.org/drawingml/2006/main">
            <a:pPr>
              <a:defRPr sz="2250" b="1">
                <a:solidFill>
                  <a:srgbClr val="093C63"/>
                </a:solidFill>
                <a:latin typeface="Arial"/>
                <a:ea typeface="Arial"/>
                <a:cs typeface="Arial"/>
              </a:defRPr>
            </a:pPr>
            <a:r>
              <a:rPr sz="2250" b="1">
                <a:solidFill>
                  <a:srgbClr val="093C63"/>
                </a:solidFill>
                <a:latin typeface="Arial"/>
                <a:ea typeface="Arial"/>
                <a:cs typeface="Arial"/>
              </a:rPr>
              <a:t>Nevil Maloba, Philtechent Limited     nevilmaloba@philtechent.com</a:t>
            </a:r>
          </a:p>
        </p:txBody>
      </p:sp>
    </p:spTree>
    <p:extLst>
      <p:ext uri="{BB962C8B-B14F-4D97-AF65-F5344CB8AC3E}">
        <p14:creationId xmlns:p14="http://schemas.microsoft.com/office/powerpoint/2010/main" val="131107147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924699D-F77E-49D3-8784-CDAA0891AE66}"/>
              </a:ext>
            </a:extLst>
          </p:cNvPr>
          <p:cNvSpPr>
            <a:spLocks xmlns:a="http://schemas.openxmlformats.org/drawingml/2006/main" noGrp="1"/>
          </p:cNvSpPr>
          <p:nvPr/>
        </p:nvSpPr>
        <p:spPr>
          <a:xfrm xmlns:a="http://schemas.openxmlformats.org/drawingml/2006/main">
            <a:off x="666750" y="381000"/>
            <a:ext cx="1390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3600" b="1">
                <a:solidFill>
                  <a:srgbClr val="093C63"/>
                </a:solidFill>
                <a:latin typeface="Arial"/>
                <a:ea typeface="Arial"/>
                <a:cs typeface="Arial"/>
              </a:defRPr>
            </a:defPPr>
            <a:lvl1pPr>
              <a:defRPr sz="3600" b="1">
                <a:solidFill>
                  <a:srgbClr val="093C63"/>
                </a:solidFill>
                <a:latin typeface="Arial"/>
                <a:ea typeface="Arial"/>
                <a:cs typeface="Arial"/>
              </a:defRPr>
            </a:lvl1pPr>
            <a:lvl2pPr>
              <a:defRPr sz="3600" b="1">
                <a:solidFill>
                  <a:srgbClr val="093C63"/>
                </a:solidFill>
                <a:latin typeface="Arial"/>
                <a:ea typeface="Arial"/>
                <a:cs typeface="Arial"/>
              </a:defRPr>
            </a:lvl2pPr>
            <a:lvl3pPr>
              <a:defRPr sz="3600" b="1">
                <a:solidFill>
                  <a:srgbClr val="093C63"/>
                </a:solidFill>
                <a:latin typeface="Arial"/>
                <a:ea typeface="Arial"/>
                <a:cs typeface="Arial"/>
              </a:defRPr>
            </a:lvl3pPr>
            <a:lvl4pPr>
              <a:defRPr sz="3600" b="1">
                <a:solidFill>
                  <a:srgbClr val="093C63"/>
                </a:solidFill>
                <a:latin typeface="Arial"/>
                <a:ea typeface="Arial"/>
                <a:cs typeface="Arial"/>
              </a:defRPr>
            </a:lvl4pPr>
            <a:lvl5pPr>
              <a:defRPr sz="3600" b="1">
                <a:solidFill>
                  <a:srgbClr val="093C63"/>
                </a:solidFill>
                <a:latin typeface="Arial"/>
                <a:ea typeface="Arial"/>
                <a:cs typeface="Arial"/>
              </a:defRPr>
            </a:lvl5pPr>
            <a:lvl6pPr>
              <a:defRPr sz="3600" b="1">
                <a:solidFill>
                  <a:srgbClr val="093C63"/>
                </a:solidFill>
                <a:latin typeface="Arial"/>
                <a:ea typeface="Arial"/>
                <a:cs typeface="Arial"/>
              </a:defRPr>
            </a:lvl6pPr>
            <a:lvl7pPr>
              <a:defRPr sz="3600" b="1">
                <a:solidFill>
                  <a:srgbClr val="093C63"/>
                </a:solidFill>
                <a:latin typeface="Arial"/>
                <a:ea typeface="Arial"/>
                <a:cs typeface="Arial"/>
              </a:defRPr>
            </a:lvl7pPr>
            <a:lvl8pPr>
              <a:defRPr sz="3600" b="1">
                <a:solidFill>
                  <a:srgbClr val="093C63"/>
                </a:solidFill>
                <a:latin typeface="Arial"/>
                <a:ea typeface="Arial"/>
                <a:cs typeface="Arial"/>
              </a:defRPr>
            </a:lvl8pPr>
            <a:lvl9pPr>
              <a:defRPr sz="3600" b="1">
                <a:solidFill>
                  <a:srgbClr val="093C63"/>
                </a:solidFill>
                <a:latin typeface="Arial"/>
                <a:ea typeface="Arial"/>
                <a:cs typeface="Arial"/>
              </a:defRPr>
            </a:lvl9pPr>
          </a:lstStyle>
          <a:p xmlns:a="http://schemas.openxmlformats.org/drawingml/2006/main">
            <a:pPr>
              <a:defRPr sz="3600" b="1">
                <a:solidFill>
                  <a:srgbClr val="093C63"/>
                </a:solidFill>
                <a:latin typeface="Arial"/>
                <a:ea typeface="Arial"/>
                <a:cs typeface="Arial"/>
              </a:defRPr>
            </a:pPr>
            <a:r>
              <a:rPr sz="3600" b="1">
                <a:solidFill>
                  <a:srgbClr val="093C63"/>
                </a:solidFill>
                <a:latin typeface="Arial"/>
                <a:ea typeface="Arial"/>
                <a:cs typeface="Arial"/>
              </a:rPr>
              <a:t>Sources and reproducible material</a:t>
            </a:r>
          </a:p>
        </p:txBody>
      </p:sp>
      <p:sp>
        <p:nvSpPr>
          <p:cNvPr id="2" name="">
            <a:extLst xmlns:a="http://schemas.openxmlformats.org/drawingml/2006/main">
              <a:ext uri="{FF2B5EF4-FFF2-40B4-BE49-F238E27FC236}">
                <a16:creationId xmlns:a16="http://schemas.microsoft.com/office/drawing/2014/main" id="{D0FDAC5F-AC38-45C4-8BC5-E21FBE55A93F}"/>
              </a:ext>
            </a:extLst>
          </p:cNvPr>
          <p:cNvSpPr>
            <a:spLocks xmlns:a="http://schemas.openxmlformats.org/drawingml/2006/main" noGrp="1"/>
          </p:cNvSpPr>
          <p:nvPr/>
        </p:nvSpPr>
        <p:spPr>
          <a:xfrm xmlns:a="http://schemas.openxmlformats.org/drawingml/2006/main">
            <a:off x="666750" y="8191500"/>
            <a:ext cx="1333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Research proposal • Synthetic teaching case • 18 October 2026</a:t>
            </a:r>
          </a:p>
        </p:txBody>
      </p:sp>
      <p:sp>
        <p:nvSpPr>
          <p:cNvPr id="3" name="">
            <a:extLst xmlns:a="http://schemas.openxmlformats.org/drawingml/2006/main">
              <a:ext uri="{FF2B5EF4-FFF2-40B4-BE49-F238E27FC236}">
                <a16:creationId xmlns:a16="http://schemas.microsoft.com/office/drawing/2014/main" id="{E282A169-755E-47D3-B923-6723440BCAFE}"/>
              </a:ext>
            </a:extLst>
          </p:cNvPr>
          <p:cNvSpPr>
            <a:spLocks xmlns:a="http://schemas.openxmlformats.org/drawingml/2006/main" noGrp="1"/>
          </p:cNvSpPr>
          <p:nvPr/>
        </p:nvSpPr>
        <p:spPr>
          <a:xfrm xmlns:a="http://schemas.openxmlformats.org/drawingml/2006/main">
            <a:off x="14097000" y="8191500"/>
            <a:ext cx="5238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1350" b="0">
                <a:solidFill>
                  <a:srgbClr val="435565"/>
                </a:solidFill>
                <a:latin typeface="Arial"/>
                <a:ea typeface="Arial"/>
                <a:cs typeface="Arial"/>
              </a:defRPr>
            </a:defPPr>
            <a:lvl1pPr>
              <a:defRPr sz="1350" b="0">
                <a:solidFill>
                  <a:srgbClr val="435565"/>
                </a:solidFill>
                <a:latin typeface="Arial"/>
                <a:ea typeface="Arial"/>
                <a:cs typeface="Arial"/>
              </a:defRPr>
            </a:lvl1pPr>
            <a:lvl2pPr>
              <a:defRPr sz="1350" b="0">
                <a:solidFill>
                  <a:srgbClr val="435565"/>
                </a:solidFill>
                <a:latin typeface="Arial"/>
                <a:ea typeface="Arial"/>
                <a:cs typeface="Arial"/>
              </a:defRPr>
            </a:lvl2pPr>
            <a:lvl3pPr>
              <a:defRPr sz="1350" b="0">
                <a:solidFill>
                  <a:srgbClr val="435565"/>
                </a:solidFill>
                <a:latin typeface="Arial"/>
                <a:ea typeface="Arial"/>
                <a:cs typeface="Arial"/>
              </a:defRPr>
            </a:lvl3pPr>
            <a:lvl4pPr>
              <a:defRPr sz="1350" b="0">
                <a:solidFill>
                  <a:srgbClr val="435565"/>
                </a:solidFill>
                <a:latin typeface="Arial"/>
                <a:ea typeface="Arial"/>
                <a:cs typeface="Arial"/>
              </a:defRPr>
            </a:lvl4pPr>
            <a:lvl5pPr>
              <a:defRPr sz="1350" b="0">
                <a:solidFill>
                  <a:srgbClr val="435565"/>
                </a:solidFill>
                <a:latin typeface="Arial"/>
                <a:ea typeface="Arial"/>
                <a:cs typeface="Arial"/>
              </a:defRPr>
            </a:lvl5pPr>
            <a:lvl6pPr>
              <a:defRPr sz="1350" b="0">
                <a:solidFill>
                  <a:srgbClr val="435565"/>
                </a:solidFill>
                <a:latin typeface="Arial"/>
                <a:ea typeface="Arial"/>
                <a:cs typeface="Arial"/>
              </a:defRPr>
            </a:lvl6pPr>
            <a:lvl7pPr>
              <a:defRPr sz="1350" b="0">
                <a:solidFill>
                  <a:srgbClr val="435565"/>
                </a:solidFill>
                <a:latin typeface="Arial"/>
                <a:ea typeface="Arial"/>
                <a:cs typeface="Arial"/>
              </a:defRPr>
            </a:lvl7pPr>
            <a:lvl8pPr>
              <a:defRPr sz="1350" b="0">
                <a:solidFill>
                  <a:srgbClr val="435565"/>
                </a:solidFill>
                <a:latin typeface="Arial"/>
                <a:ea typeface="Arial"/>
                <a:cs typeface="Arial"/>
              </a:defRPr>
            </a:lvl8pPr>
            <a:lvl9pPr>
              <a:defRPr sz="1350" b="0">
                <a:solidFill>
                  <a:srgbClr val="435565"/>
                </a:solidFill>
                <a:latin typeface="Arial"/>
                <a:ea typeface="Arial"/>
                <a:cs typeface="Arial"/>
              </a:defRPr>
            </a:lvl9pPr>
          </a:lstStyle>
          <a:p xmlns:a="http://schemas.openxmlformats.org/drawingml/2006/main">
            <a:pPr>
              <a:defRPr sz="1350" b="0">
                <a:solidFill>
                  <a:srgbClr val="435565"/>
                </a:solidFill>
                <a:latin typeface="Arial"/>
                <a:ea typeface="Arial"/>
                <a:cs typeface="Arial"/>
              </a:defRPr>
            </a:pPr>
            <a:r>
              <a:rPr sz="1350" b="0">
                <a:solidFill>
                  <a:srgbClr val="435565"/>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C2B91594-3E4F-46D9-B5E8-97B48A6D5B45}"/>
              </a:ext>
            </a:extLst>
          </p:cNvPr>
          <p:cNvSpPr>
            <a:spLocks xmlns:a="http://schemas.openxmlformats.org/drawingml/2006/main" noGrp="1"/>
          </p:cNvSpPr>
          <p:nvPr/>
        </p:nvSpPr>
        <p:spPr>
          <a:xfrm xmlns:a="http://schemas.openxmlformats.org/drawingml/2006/main">
            <a:off x="666750" y="1476375"/>
            <a:ext cx="13906500" cy="581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175" b="0">
                <a:solidFill>
                  <a:srgbClr val="142F47"/>
                </a:solidFill>
                <a:latin typeface="Arial"/>
                <a:ea typeface="Arial"/>
                <a:cs typeface="Arial"/>
              </a:defRPr>
            </a:defPPr>
            <a:lvl1pPr>
              <a:defRPr sz="2175" b="0">
                <a:solidFill>
                  <a:srgbClr val="142F47"/>
                </a:solidFill>
                <a:latin typeface="Arial"/>
                <a:ea typeface="Arial"/>
                <a:cs typeface="Arial"/>
              </a:defRPr>
            </a:lvl1pPr>
            <a:lvl2pPr>
              <a:defRPr sz="2175" b="0">
                <a:solidFill>
                  <a:srgbClr val="142F47"/>
                </a:solidFill>
                <a:latin typeface="Arial"/>
                <a:ea typeface="Arial"/>
                <a:cs typeface="Arial"/>
              </a:defRPr>
            </a:lvl2pPr>
            <a:lvl3pPr>
              <a:defRPr sz="2175" b="0">
                <a:solidFill>
                  <a:srgbClr val="142F47"/>
                </a:solidFill>
                <a:latin typeface="Arial"/>
                <a:ea typeface="Arial"/>
                <a:cs typeface="Arial"/>
              </a:defRPr>
            </a:lvl3pPr>
            <a:lvl4pPr>
              <a:defRPr sz="2175" b="0">
                <a:solidFill>
                  <a:srgbClr val="142F47"/>
                </a:solidFill>
                <a:latin typeface="Arial"/>
                <a:ea typeface="Arial"/>
                <a:cs typeface="Arial"/>
              </a:defRPr>
            </a:lvl4pPr>
            <a:lvl5pPr>
              <a:defRPr sz="2175" b="0">
                <a:solidFill>
                  <a:srgbClr val="142F47"/>
                </a:solidFill>
                <a:latin typeface="Arial"/>
                <a:ea typeface="Arial"/>
                <a:cs typeface="Arial"/>
              </a:defRPr>
            </a:lvl5pPr>
            <a:lvl6pPr>
              <a:defRPr sz="2175" b="0">
                <a:solidFill>
                  <a:srgbClr val="142F47"/>
                </a:solidFill>
                <a:latin typeface="Arial"/>
                <a:ea typeface="Arial"/>
                <a:cs typeface="Arial"/>
              </a:defRPr>
            </a:lvl6pPr>
            <a:lvl7pPr>
              <a:defRPr sz="2175" b="0">
                <a:solidFill>
                  <a:srgbClr val="142F47"/>
                </a:solidFill>
                <a:latin typeface="Arial"/>
                <a:ea typeface="Arial"/>
                <a:cs typeface="Arial"/>
              </a:defRPr>
            </a:lvl7pPr>
            <a:lvl8pPr>
              <a:defRPr sz="2175" b="0">
                <a:solidFill>
                  <a:srgbClr val="142F47"/>
                </a:solidFill>
                <a:latin typeface="Arial"/>
                <a:ea typeface="Arial"/>
                <a:cs typeface="Arial"/>
              </a:defRPr>
            </a:lvl8pPr>
            <a:lvl9pPr>
              <a:defRPr sz="2175" b="0">
                <a:solidFill>
                  <a:srgbClr val="142F47"/>
                </a:solidFill>
                <a:latin typeface="Arial"/>
                <a:ea typeface="Arial"/>
                <a:cs typeface="Arial"/>
              </a:defRPr>
            </a:lvl9pPr>
          </a:lstStyle>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[1] N. Maloba, Underwrite for Collection, 2026. DOI: 10.5281/zenodo.23343888</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[2] 4G Capital, UPIA product description. 4g-capital.com/upia</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[3] 4G Capital, KUZA product description. 4g-capital.com/kuza</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[4] IFC, MFP-CFLG-4G CAP, SII project 53511, 2026. disclosures.ifc.org</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[5] N. Maloba, Reproducible merchant cycle and risk-sharing case, 2026.</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[6] F. Campos et al., Science,357(6357),1287–1290, 2017. DOI: 10.1126/science.aan5329</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[7] M. A. Hernán and J. M. Robins, Causal Inference: What If, 2020.</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[8] Republic of Kenya, Data Protection Act, No. 24 of 2019.</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[9] Republic of Kenya, Data Protection (General) Regulations, 2021.</a:t>
            </a:r>
          </a:p>
          <a:p xmlns:a="http://schemas.openxmlformats.org/drawingml/2006/main">
            <a:pPr>
              <a:defRPr sz="2175" b="0">
                <a:solidFill>
                  <a:srgbClr val="142F47"/>
                </a:solidFill>
                <a:latin typeface="Arial"/>
                <a:ea typeface="Arial"/>
                <a:cs typeface="Arial"/>
              </a:defRPr>
            </a:pPr>
            <a:r>
              <a:rPr sz="2175" b="0">
                <a:solidFill>
                  <a:srgbClr val="142F47"/>
                </a:solidFill>
                <a:latin typeface="Arial"/>
                <a:ea typeface="Arial"/>
                <a:cs typeface="Arial"/>
              </a:rPr>
              <a:t>[10] World Bank and FIRST, Principles for Public Credit Guarantee Schemes for SMEs, 2015.</a:t>
            </a:r>
          </a:p>
        </p:txBody>
      </p:sp>
      <p:sp>
        <p:nvSpPr>
          <p:cNvPr id="5" name="">
            <a:extLst xmlns:a="http://schemas.openxmlformats.org/drawingml/2006/main">
              <a:ext uri="{FF2B5EF4-FFF2-40B4-BE49-F238E27FC236}">
                <a16:creationId xmlns:a16="http://schemas.microsoft.com/office/drawing/2014/main" id="{A68F7986-B343-4E02-ACA7-617CBBF238E0}"/>
              </a:ext>
            </a:extLst>
          </p:cNvPr>
          <p:cNvSpPr>
            <a:spLocks xmlns:a="http://schemas.openxmlformats.org/drawingml/2006/main" noGrp="1"/>
          </p:cNvSpPr>
          <p:nvPr/>
        </p:nvSpPr>
        <p:spPr>
          <a:xfrm xmlns:a="http://schemas.openxmlformats.org/drawingml/2006/main">
            <a:off x="666750" y="7124700"/>
            <a:ext cx="139065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lstStyle xmlns:a="http://schemas.openxmlformats.org/drawingml/2006/main">
            <a:defPPr>
              <a:defRPr sz="2025" b="1">
                <a:solidFill>
                  <a:srgbClr val="093C63"/>
                </a:solidFill>
                <a:latin typeface="Arial"/>
                <a:ea typeface="Arial"/>
                <a:cs typeface="Arial"/>
              </a:defRPr>
            </a:defPPr>
            <a:lvl1pPr>
              <a:defRPr sz="2025" b="1">
                <a:solidFill>
                  <a:srgbClr val="093C63"/>
                </a:solidFill>
                <a:latin typeface="Arial"/>
                <a:ea typeface="Arial"/>
                <a:cs typeface="Arial"/>
              </a:defRPr>
            </a:lvl1pPr>
            <a:lvl2pPr>
              <a:defRPr sz="2025" b="1">
                <a:solidFill>
                  <a:srgbClr val="093C63"/>
                </a:solidFill>
                <a:latin typeface="Arial"/>
                <a:ea typeface="Arial"/>
                <a:cs typeface="Arial"/>
              </a:defRPr>
            </a:lvl2pPr>
            <a:lvl3pPr>
              <a:defRPr sz="2025" b="1">
                <a:solidFill>
                  <a:srgbClr val="093C63"/>
                </a:solidFill>
                <a:latin typeface="Arial"/>
                <a:ea typeface="Arial"/>
                <a:cs typeface="Arial"/>
              </a:defRPr>
            </a:lvl3pPr>
            <a:lvl4pPr>
              <a:defRPr sz="2025" b="1">
                <a:solidFill>
                  <a:srgbClr val="093C63"/>
                </a:solidFill>
                <a:latin typeface="Arial"/>
                <a:ea typeface="Arial"/>
                <a:cs typeface="Arial"/>
              </a:defRPr>
            </a:lvl4pPr>
            <a:lvl5pPr>
              <a:defRPr sz="2025" b="1">
                <a:solidFill>
                  <a:srgbClr val="093C63"/>
                </a:solidFill>
                <a:latin typeface="Arial"/>
                <a:ea typeface="Arial"/>
                <a:cs typeface="Arial"/>
              </a:defRPr>
            </a:lvl5pPr>
            <a:lvl6pPr>
              <a:defRPr sz="2025" b="1">
                <a:solidFill>
                  <a:srgbClr val="093C63"/>
                </a:solidFill>
                <a:latin typeface="Arial"/>
                <a:ea typeface="Arial"/>
                <a:cs typeface="Arial"/>
              </a:defRPr>
            </a:lvl6pPr>
            <a:lvl7pPr>
              <a:defRPr sz="2025" b="1">
                <a:solidFill>
                  <a:srgbClr val="093C63"/>
                </a:solidFill>
                <a:latin typeface="Arial"/>
                <a:ea typeface="Arial"/>
                <a:cs typeface="Arial"/>
              </a:defRPr>
            </a:lvl7pPr>
            <a:lvl8pPr>
              <a:defRPr sz="2025" b="1">
                <a:solidFill>
                  <a:srgbClr val="093C63"/>
                </a:solidFill>
                <a:latin typeface="Arial"/>
                <a:ea typeface="Arial"/>
                <a:cs typeface="Arial"/>
              </a:defRPr>
            </a:lvl8pPr>
            <a:lvl9pPr>
              <a:defRPr sz="2025" b="1">
                <a:solidFill>
                  <a:srgbClr val="093C63"/>
                </a:solidFill>
                <a:latin typeface="Arial"/>
                <a:ea typeface="Arial"/>
                <a:cs typeface="Arial"/>
              </a:defRPr>
            </a:lvl9pPr>
          </a:lstStyle>
          <a:p xmlns:a="http://schemas.openxmlformats.org/drawingml/2006/main">
            <a:pPr>
              <a:defRPr sz="2025" b="1">
                <a:solidFill>
                  <a:srgbClr val="093C63"/>
                </a:solidFill>
                <a:latin typeface="Arial"/>
                <a:ea typeface="Arial"/>
                <a:cs typeface="Arial"/>
              </a:defRPr>
            </a:pPr>
            <a:r>
              <a:rPr sz="2025" b="1">
                <a:solidFill>
                  <a:srgbClr val="093C63"/>
                </a:solidFill>
                <a:latin typeface="Arial"/>
                <a:ea typeface="Arial"/>
                <a:cs typeface="Arial"/>
              </a:rPr>
              <a:t>Code: github.com/TheAlchemistNerd/mwendo-pamoja-continuous-underwriting</a:t>
            </a:r>
          </a:p>
          <a:p xmlns:a="http://schemas.openxmlformats.org/drawingml/2006/main">
            <a:pPr>
              <a:defRPr sz="2025" b="1">
                <a:solidFill>
                  <a:srgbClr val="093C63"/>
                </a:solidFill>
                <a:latin typeface="Arial"/>
                <a:ea typeface="Arial"/>
                <a:cs typeface="Arial"/>
              </a:defRPr>
            </a:pPr>
            <a:r>
              <a:rPr sz="2025" b="1">
                <a:solidFill>
                  <a:srgbClr val="093C63"/>
                </a:solidFill>
                <a:latin typeface="Arial"/>
                <a:ea typeface="Arial"/>
                <a:cs typeface="Arial"/>
              </a:rPr>
              <a:t>Folder: research_lab/four_g_merchant_finance_case</a:t>
            </a:r>
          </a:p>
        </p:txBody>
      </p:sp>
    </p:spTree>
    <p:extLst>
      <p:ext uri="{BB962C8B-B14F-4D97-AF65-F5344CB8AC3E}">
        <p14:creationId xmlns:p14="http://schemas.microsoft.com/office/powerpoint/2010/main" val="9056549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2026-10-18T17:41:56.7320000Z</dcterms:created>
  <dcterms:modified xsi:type="dcterms:W3CDTF">2026-10-18T17:41:56.7320000Z</dcterms:modified>
</coreProperties>
</file>