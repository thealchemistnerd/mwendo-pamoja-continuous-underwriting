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b89b44af014a3e" /><Relationship Type="http://schemas.openxmlformats.org/officeDocument/2006/relationships/extended-properties" Target="/docProps/app.xml" Id="Re2fce64ddc2a4667" /><Relationship Type="http://schemas.openxmlformats.org/officeDocument/2006/relationships/officeDocument" Target="/ppt/presentation.xml" Id="R2bcf9bc67c2e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c1c277d5c4d06"/>
  </p:sldMasterIdLst>
  <p:notesMasterIdLst>
    <p:notesMasterId xmlns:r="http://schemas.openxmlformats.org/officeDocument/2006/relationships" r:id="R5445a4cf0e1f476b"/>
  </p:notesMasterIdLst>
  <p:sldIdLst>
    <p:sldId xmlns:r="http://schemas.openxmlformats.org/officeDocument/2006/relationships" id="256" r:id="R5be3af746e834722"/>
    <p:sldId xmlns:r="http://schemas.openxmlformats.org/officeDocument/2006/relationships" id="257" r:id="R66a1c4c149e446d7"/>
    <p:sldId xmlns:r="http://schemas.openxmlformats.org/officeDocument/2006/relationships" id="258" r:id="Re43401baa16d4c77"/>
    <p:sldId xmlns:r="http://schemas.openxmlformats.org/officeDocument/2006/relationships" id="259" r:id="R9e4ff030204a4892"/>
    <p:sldId xmlns:r="http://schemas.openxmlformats.org/officeDocument/2006/relationships" id="260" r:id="R3c0735806676485a"/>
    <p:sldId xmlns:r="http://schemas.openxmlformats.org/officeDocument/2006/relationships" id="261" r:id="R0b08f870b70744ae"/>
    <p:sldId xmlns:r="http://schemas.openxmlformats.org/officeDocument/2006/relationships" id="262" r:id="R7f4c07332d5d4e30"/>
    <p:sldId xmlns:r="http://schemas.openxmlformats.org/officeDocument/2006/relationships" id="263" r:id="R8bd1ef55362d4f4a"/>
    <p:sldId xmlns:r="http://schemas.openxmlformats.org/officeDocument/2006/relationships" id="264" r:id="R0fa980a20ecb4388"/>
    <p:sldId xmlns:r="http://schemas.openxmlformats.org/officeDocument/2006/relationships" id="265" r:id="R34e36db7721e42f4"/>
    <p:sldId xmlns:r="http://schemas.openxmlformats.org/officeDocument/2006/relationships" id="266" r:id="Rf5950af06db74b90"/>
    <p:sldId xmlns:r="http://schemas.openxmlformats.org/officeDocument/2006/relationships" id="267" r:id="R32cda0d0cebd41a1"/>
    <p:sldId xmlns:r="http://schemas.openxmlformats.org/officeDocument/2006/relationships" id="268" r:id="R54b8a9a243fd45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67c7abe6c4b81" /><Relationship Type="http://schemas.openxmlformats.org/officeDocument/2006/relationships/slideMaster" Target="/ppt/slideMasters/slideMaster1.xml" Id="R91ec1c277d5c4d06" /><Relationship Type="http://schemas.openxmlformats.org/officeDocument/2006/relationships/notesMaster" Target="/ppt/notesMasters/notesMaster1.xml" Id="R5445a4cf0e1f476b" /><Relationship Type="http://schemas.openxmlformats.org/officeDocument/2006/relationships/presProps" Target="/ppt/presProps.xml" Id="R9cc9760bec824f38" /><Relationship Type="http://schemas.openxmlformats.org/officeDocument/2006/relationships/tableStyles" Target="/ppt/tableStyles.xml" Id="R13b4ca75b41e415f" /><Relationship Type="http://schemas.openxmlformats.org/officeDocument/2006/relationships/slide" Target="/ppt/slides/slide1.xml" Id="R5be3af746e834722" /><Relationship Type="http://schemas.openxmlformats.org/officeDocument/2006/relationships/slide" Target="/ppt/slides/slide2.xml" Id="R66a1c4c149e446d7" /><Relationship Type="http://schemas.openxmlformats.org/officeDocument/2006/relationships/slide" Target="/ppt/slides/slide3.xml" Id="Re43401baa16d4c77" /><Relationship Type="http://schemas.openxmlformats.org/officeDocument/2006/relationships/slide" Target="/ppt/slides/slide4.xml" Id="R9e4ff030204a4892" /><Relationship Type="http://schemas.openxmlformats.org/officeDocument/2006/relationships/slide" Target="/ppt/slides/slide5.xml" Id="R3c0735806676485a" /><Relationship Type="http://schemas.openxmlformats.org/officeDocument/2006/relationships/slide" Target="/ppt/slides/slide6.xml" Id="R0b08f870b70744ae" /><Relationship Type="http://schemas.openxmlformats.org/officeDocument/2006/relationships/slide" Target="/ppt/slides/slide7.xml" Id="R7f4c07332d5d4e30" /><Relationship Type="http://schemas.openxmlformats.org/officeDocument/2006/relationships/slide" Target="/ppt/slides/slide8.xml" Id="R8bd1ef55362d4f4a" /><Relationship Type="http://schemas.openxmlformats.org/officeDocument/2006/relationships/slide" Target="/ppt/slides/slide9.xml" Id="R0fa980a20ecb4388" /><Relationship Type="http://schemas.openxmlformats.org/officeDocument/2006/relationships/slide" Target="/ppt/slides/slide10.xml" Id="R34e36db7721e42f4" /><Relationship Type="http://schemas.openxmlformats.org/officeDocument/2006/relationships/slide" Target="/ppt/slides/slide11.xml" Id="Rf5950af06db74b90" /><Relationship Type="http://schemas.openxmlformats.org/officeDocument/2006/relationships/slide" Target="/ppt/slides/slide12.xml" Id="R32cda0d0cebd41a1" /><Relationship Type="http://schemas.openxmlformats.org/officeDocument/2006/relationships/slide" Target="/ppt/slides/slide13.xml" Id="R54b8a9a243fd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40c82a8c3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4839db7174554" /><Relationship Type="http://schemas.openxmlformats.org/officeDocument/2006/relationships/notesMaster" Target="/ppt/notesMasters/notesMaster1.xml" Id="R05dc0f3498bc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e35a5ecef5458b" /><Relationship Type="http://schemas.openxmlformats.org/officeDocument/2006/relationships/notesMaster" Target="/ppt/notesMasters/notesMaster1.xml" Id="R8156f8d06aaa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b8f5a1b0b469e" /><Relationship Type="http://schemas.openxmlformats.org/officeDocument/2006/relationships/notesMaster" Target="/ppt/notesMasters/notesMaster1.xml" Id="R57b91be826f542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bf2cae0314c9b" /><Relationship Type="http://schemas.openxmlformats.org/officeDocument/2006/relationships/notesMaster" Target="/ppt/notesMasters/notesMaster1.xml" Id="Raa56f699ea42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158834cd074788" /><Relationship Type="http://schemas.openxmlformats.org/officeDocument/2006/relationships/notesMaster" Target="/ppt/notesMasters/notesMaster1.xml" Id="Rc36aea30e71246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2c09fc1574af4" /><Relationship Type="http://schemas.openxmlformats.org/officeDocument/2006/relationships/notesMaster" Target="/ppt/notesMasters/notesMaster1.xml" Id="Rd3d0159bd89f42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f47443f5a64c42" /><Relationship Type="http://schemas.openxmlformats.org/officeDocument/2006/relationships/notesMaster" Target="/ppt/notesMasters/notesMaster1.xml" Id="Racc4889d994147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0b7e0bd62b4fad" /><Relationship Type="http://schemas.openxmlformats.org/officeDocument/2006/relationships/notesMaster" Target="/ppt/notesMasters/notesMaster1.xml" Id="R81d8ed71a3bb48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ccc208b43b4357" /><Relationship Type="http://schemas.openxmlformats.org/officeDocument/2006/relationships/notesMaster" Target="/ppt/notesMasters/notesMaster1.xml" Id="R955f84aaa2e2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ea06f5a074643" /><Relationship Type="http://schemas.openxmlformats.org/officeDocument/2006/relationships/notesMaster" Target="/ppt/notesMasters/notesMaster1.xml" Id="R8273739cad3c4d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0ee1700a034fbd" /><Relationship Type="http://schemas.openxmlformats.org/officeDocument/2006/relationships/notesMaster" Target="/ppt/notesMasters/notesMaster1.xml" Id="Rea0fd7b9ba6543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1b754c0dc14b41" /><Relationship Type="http://schemas.openxmlformats.org/officeDocument/2006/relationships/notesMaster" Target="/ppt/notesMasters/notesMaster1.xml" Id="R91c7811700b7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4177b4562a4c41" /><Relationship Type="http://schemas.openxmlformats.org/officeDocument/2006/relationships/notesMaster" Target="/ppt/notesMasters/notesMaster1.xml" Id="R2ca912b25365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a focused discussion about a research and operating partnership. All modeled examples are clearly identified as synthetic unless stated otherwise.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4G public product material describes working-capital finance and delivery support. This proposal treats product details as items to verify against current customer agreements.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4G Capital public product pages included in the research source pack. Product terms and ranges require confirmation against the current signed offer and programme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teaching inputs: KES 10,000 merchant opening cash; KES 30,000 credit paid directly to supplier; KES 40,000 stock; KES 50,000 settled sales over 21 days; KES 4,000 costs; KES 6,000 owner draw; KES 30,000 principal due. Product charge F remains symbolic until the signed offer sets the amount. Closing cash equals KES 10,000 minus F before tax and other liabilities.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data requirements for a research collaboration. Customer and distributor records would be shared only under an approved data and governance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Underwrite for Collection whitepaper is the evidence and decision framework for this proposed partnership. Zenodo record: https://doi.org/10.5281/zenodo.23343888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evaluation design. Any enhancement must be approved by 4G and delivered within existing customer, operational and regulatory processes.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IFC Summary of Investment Information, project SII/53511. The deck reports the public narrative. The executed agreement is required to specify coverage and claims mechanics.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IFC SII includes a narrative maximum risk of USD 6.2m and a separate indicative approval-table amount of USD 8.20m. IFC's 4 August 2026 announcement describes an aggregate 11:1 target across 4G Capital, Equity Bank Kenya and KCB. The SII also presents a 21x project-specific core mobilization objective. These measures have different scopes and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cash illustration: USD 4k fee at day 0; USD 100k eligible-loss outflow at day 90; USD 60k claim proceeds at day 180; USD 20k recovery at day 360, with 50% retained in this teaching example. The protected path ends at -USD 34k and the comparison path at -USD 80k, a USD 46k nominal difference. The executed agreement supplies the claim, timing and recovery terms used in a transaction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should distinguish empirical portfolio outcomes, synthetic scenario tests, public disclosure and contractually verified claim data. Independent validation and executed terms are necessary before making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proposes a research partnership discussion. The next step is a scoped discussion with 4G and relevant IFC workstream owners.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Further source URLs and publication metadata are maintained in the 4G article's source and coverage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c7d7e1b6348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f98eadfd04d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44ab36b544b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790b3f37e40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d8335832d48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c9aaa17784a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AC5771-C5D7-49B0-B0AE-9A903D902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BE5839-A70D-42F3-88DF-528E9F00BF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1BE969-BDBA-444C-8D3D-A602F84B9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0C128F-DCA6-41A7-BD65-6C41D1CB7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E0F055-E706-41E9-9A02-DE13202428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47C0F3-EA59-4D91-8057-4D4D1E7D8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52C4A0-9640-43A7-A4E8-84B7B2363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789BAF-6C2E-41D7-BA57-C5B7CF910F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B13EA5-8B5F-42F5-A9E3-31DE4C8D1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EA6272-3DFF-4FD0-9DFF-64B309BA8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65deda70d341cb" /><Relationship Type="http://schemas.openxmlformats.org/officeDocument/2006/relationships/slideLayout" Target="/ppt/slideLayouts/slideLayout1.xml" Id="R8cbfdadfef9146a0" /><Relationship Type="http://schemas.openxmlformats.org/officeDocument/2006/relationships/slideLayout" Target="/ppt/slideLayouts/slideLayout2.xml" Id="R41275f3c8f9b4835" /><Relationship Type="http://schemas.openxmlformats.org/officeDocument/2006/relationships/slideLayout" Target="/ppt/slideLayouts/slideLayout3.xml" Id="Rfee3be8314704b88" /><Relationship Type="http://schemas.openxmlformats.org/officeDocument/2006/relationships/slideLayout" Target="/ppt/slideLayouts/slideLayout4.xml" Id="R45ea13f6650c4f0c" /><Relationship Type="http://schemas.openxmlformats.org/officeDocument/2006/relationships/slideLayout" Target="/ppt/slideLayouts/slideLayout5.xml" Id="R686034b512d9420b" /><Relationship Type="http://schemas.openxmlformats.org/officeDocument/2006/relationships/slideLayout" Target="/ppt/slideLayouts/slideLayout6.xml" Id="R013949b35571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fdadfef9146a0"/>
    <p:sldLayoutId xmlns:r="http://schemas.openxmlformats.org/officeDocument/2006/relationships" id="2147483650" r:id="R41275f3c8f9b4835"/>
    <p:sldLayoutId xmlns:r="http://schemas.openxmlformats.org/officeDocument/2006/relationships" id="2147483651" r:id="Rfee3be8314704b88"/>
    <p:sldLayoutId xmlns:r="http://schemas.openxmlformats.org/officeDocument/2006/relationships" id="2147483652" r:id="R45ea13f6650c4f0c"/>
    <p:sldLayoutId xmlns:r="http://schemas.openxmlformats.org/officeDocument/2006/relationships" id="2147483653" r:id="R686034b512d9420b"/>
    <p:sldLayoutId xmlns:r="http://schemas.openxmlformats.org/officeDocument/2006/relationships" id="2147483654" r:id="R013949b35571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31424ecc8415e" /><Relationship Type="http://schemas.openxmlformats.org/officeDocument/2006/relationships/notesSlide" Target="/ppt/notesSlides/notesSlide1.xml" Id="Rd8589b357610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f14fc97b545af" /><Relationship Type="http://schemas.openxmlformats.org/officeDocument/2006/relationships/notesSlide" Target="/ppt/notesSlides/notesSlide2.xml" Id="Rc521c35e6b98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76820335c48e9" /><Relationship Type="http://schemas.openxmlformats.org/officeDocument/2006/relationships/notesSlide" Target="/ppt/notesSlides/notesSlide3.xml" Id="Re9a86efb440a4d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a923fbbe046ff" /><Relationship Type="http://schemas.openxmlformats.org/officeDocument/2006/relationships/image" Target="/ppt/media/image.png" Id="R0056478a784144fd" /><Relationship Type="http://schemas.openxmlformats.org/officeDocument/2006/relationships/notesSlide" Target="/ppt/notesSlides/notesSlide4.xml" Id="R00656ded1c3841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d84de2c454d6c" /><Relationship Type="http://schemas.openxmlformats.org/officeDocument/2006/relationships/notesSlide" Target="/ppt/notesSlides/notesSlide5.xml" Id="R2bad12b38a23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512d5f8a84680" /><Relationship Type="http://schemas.openxmlformats.org/officeDocument/2006/relationships/notesSlide" Target="/ppt/notesSlides/notesSlide6.xml" Id="Rc2b3553f2c9b44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ebfa59bf8444c" /><Relationship Type="http://schemas.openxmlformats.org/officeDocument/2006/relationships/notesSlide" Target="/ppt/notesSlides/notesSlide7.xml" Id="Rbfd2edd4ff6d47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cd5bba5fb483d" /><Relationship Type="http://schemas.openxmlformats.org/officeDocument/2006/relationships/notesSlide" Target="/ppt/notesSlides/notesSlide8.xml" Id="R99a9cc8f47e240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f8c8230564632" /><Relationship Type="http://schemas.openxmlformats.org/officeDocument/2006/relationships/notesSlide" Target="/ppt/notesSlides/notesSlide9.xml" Id="R071746a30b324b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0ebd1990a412e" /><Relationship Type="http://schemas.openxmlformats.org/officeDocument/2006/relationships/image" Target="/ppt/media/image2.png" Id="R55a1ee0d3c0f42d3" /><Relationship Type="http://schemas.openxmlformats.org/officeDocument/2006/relationships/notesSlide" Target="/ppt/notesSlides/notesSlide10.xml" Id="Rf599b6aed26749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306a9438a4df0" /><Relationship Type="http://schemas.openxmlformats.org/officeDocument/2006/relationships/notesSlide" Target="/ppt/notesSlides/notesSlide11.xml" Id="Rcb7e264c94ea4a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f1467c38f42a7" /><Relationship Type="http://schemas.openxmlformats.org/officeDocument/2006/relationships/notesSlide" Target="/ppt/notesSlides/notesSlide12.xml" Id="Rb512ebe2289748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e35849d414ca2" /><Relationship Type="http://schemas.openxmlformats.org/officeDocument/2006/relationships/notesSlide" Target="/ppt/notesSlides/notesSlide13.xml" Id="Rce4688531a6a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90D91-DF38-4948-B14A-7857BF7B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FB973-0B01-4745-9E28-D0420E8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48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7E80"/>
                </a:solidFill>
              </a:defRPr>
            </a:pPr>
            <a:r>
              <a:rPr sz="1050" b="1">
                <a:solidFill>
                  <a:srgbClr val="007E80"/>
                </a:solidFill>
              </a:rPr>
              <a:t>RESEARCH PARTNERSHIP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49C17-08CA-460A-A16C-85D2F79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64B"/>
                </a:solidFill>
              </a:defRPr>
            </a:pPr>
            <a:r>
              <a:rPr sz="3300" b="1">
                <a:solidFill>
                  <a:srgbClr val="16364B"/>
                </a:solidFill>
              </a:rPr>
              <a:t>4G Capital × Underwrite for Collection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98EC7-9A78-486F-B4BE-7F483F8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343C"/>
                </a:solidFill>
              </a:defRPr>
            </a:pPr>
            <a:r>
              <a:rPr sz="1800" b="0">
                <a:solidFill>
                  <a:srgbClr val="26343C"/>
                </a:solidFill>
              </a:rPr>
              <a:t>Follow the working-capital cycle from funded stock through settled sales, repayment, support and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DE11-F1F4-4177-93CD-B209CC78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2893-365B-4A58-B2DA-BB2D3586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3727A"/>
                </a:solidFill>
              </a:defRPr>
            </a:pPr>
            <a:r>
              <a:rPr sz="1500" b="1">
                <a:solidFill>
                  <a:srgbClr val="63727A"/>
                </a:solidFill>
              </a:rPr>
              <a:t>4G Capital and IFC portfolio-finance case  ·  Kenya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C214D-D6E3-4AEB-8303-0AC7879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3727A"/>
                </a:solidFill>
              </a:defRPr>
            </a:pPr>
            <a:r>
              <a:rPr sz="1050" b="0">
                <a:solidFill>
                  <a:srgbClr val="63727A"/>
                </a:solidFill>
              </a:rPr>
              <a:t>Nevil Maloba  ·  Research and quantitative finance  · 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16157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D685C-C917-44A8-943C-7AC9849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PARTNERSHIP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71727-379A-41D4-80C5-2662B31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The trading cycle sets the repayment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73341-DC4E-4DED-AD44-5606C8D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72F27-3D96-4ED6-9CDD-A574C22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49C67-4B9D-4D82-9C7F-6DB1CB2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0A46F-A907-4F2D-94A6-F2AB84F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3E1B3-E5BE-4E72-8853-97C1E98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64B"/>
                </a:solidFill>
              </a:defRPr>
            </a:pPr>
            <a:r>
              <a:rPr sz="1950" b="1">
                <a:solidFill>
                  <a:srgbClr val="16364B"/>
                </a:solidFill>
              </a:rPr>
              <a:t>Which financing and support decisions help a viable microbusiness turn stock into settled cash and meet the next cycle’s obligations?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BD73E-9612-4AE8-BCF9-4C66CE7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Operating lens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DE00A-4F29-49CA-917F-9F6A7FA9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Track order, supplier payment, delivery, sales, cost, repayment, remaining trading cash and renewal.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34383-F385-420A-A4AF-06B2EB0C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Research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06B9-8489-47EB-AC4B-DCEBC79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004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Test timing, support and collection using borrower cash and portfolio outcomes across the facility life.</a:t>
            </a:r>
          </a:p>
        </p:txBody>
      </p:sp>
    </p:spTree>
    <p:extLst>
      <p:ext uri="{BB962C8B-B14F-4D97-AF65-F5344CB8AC3E}">
        <p14:creationId xmlns:p14="http://schemas.microsoft.com/office/powerpoint/2010/main" val="587330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70D83-9423-4B98-8335-3ED1656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PUBLIC PRODUCT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54D7D-9C37-4FA0-9F12-273A4FB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UPIA and KUZA provide two observable cycles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D4B1B-5F9E-4DC2-9424-EA7DD2E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CE10-7B6F-49DF-9FEC-978D928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132DD-F739-4929-BF29-3FC62DE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F3543-A743-4BE5-9D49-AC261D6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7FCE9-3372-4681-A804-B706A18B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UPIA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02DF3-7EE6-4777-B547-892EEF43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Public description: 30-day unsecured working-capital loan, branch support and training, flexible repayment and loyalty-linked pricing; published amount range KES 5,000–149,999.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9CA73-6B7B-4EF7-AB65-6E2BE77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KUZA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B6C4B-E1D3-4DF3-BC88-CE22247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Public description: 21-day stock credit paid to participating distributors, with partner and product criteria; published amount range KES 5,000–360,000.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273A9-5054-447D-9FB1-B10F2CD6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7E80"/>
                </a:solidFill>
              </a:defRPr>
            </a:pPr>
            <a:r>
              <a:rPr sz="1500" b="1">
                <a:solidFill>
                  <a:srgbClr val="007E80"/>
                </a:solidFill>
              </a:rPr>
              <a:t>Study evidence: signed offer, product charge, draw date, supplier settlement, delivery, actual repayment schedule and amendments.</a:t>
            </a:r>
          </a:p>
        </p:txBody>
      </p:sp>
    </p:spTree>
    <p:extLst>
      <p:ext uri="{BB962C8B-B14F-4D97-AF65-F5344CB8AC3E}">
        <p14:creationId xmlns:p14="http://schemas.microsoft.com/office/powerpoint/2010/main" val="103978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DDFC5-E7B2-4247-9F73-58FDEC9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SYNTHETIC KUZA TEACHING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AC1FB-4E51-414C-A808-01424CF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The KES 30,000 advance funds stock before sales settle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7A840-04DE-47C2-AEA9-3220379E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650A4-D511-41DA-ADFF-860CC7E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3312E-4F4C-4F32-91AC-DC4D20B7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47745-9F7D-40C2-998C-47C9423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8AEE8-B472-4F84-B136-036811D878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6478a784144fd"/>
          <a:stretch xmlns:a="http://schemas.openxmlformats.org/drawingml/2006/main"/>
        </p:blipFill>
        <p:spPr>
          <a:xfrm xmlns:a="http://schemas.openxmlformats.org/drawingml/2006/main">
            <a:off x="1853142" y="161925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8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2B0EA-8ABA-4FC6-A352-C2B034D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38AEB-9ED0-4B35-9522-C3E8916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Match every payment to a source and event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3BDB2-55B3-409E-8D81-CDAA6D69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809E6-C729-4789-9591-BD1AFA3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34687-BE73-43F9-B3E7-26E0014B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7FF72-EBDA-4D80-B2AF-0EF9E45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92943-8A78-48A3-BE55-A1795081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E80"/>
                </a:solidFill>
              </a:defRPr>
            </a:pPr>
            <a:r>
              <a:rPr sz="1800" b="1">
                <a:solidFill>
                  <a:srgbClr val="007E80"/>
                </a:solidFill>
              </a:rPr>
              <a:t>Order → credit draw → distributor receipt → delivery → sale → settled receipt → operating outflow → repayment → next-cycle cash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5ACF4-6B40-4480-B693-A651E30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0001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Separate credit from merchant cash; direct-to-supplier funding is not sales revenue.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Match ordered stock to delivered quantity and the merchant’s trading record.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Reconcile sales with settled receipts across payment channels.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Deduct operating costs, existing debt and essential working-capital needs.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Track due date, repayment, cure, renewal and the customer’s remaining cash.</a:t>
            </a:r>
          </a:p>
        </p:txBody>
      </p:sp>
    </p:spTree>
    <p:extLst>
      <p:ext uri="{BB962C8B-B14F-4D97-AF65-F5344CB8AC3E}">
        <p14:creationId xmlns:p14="http://schemas.microsoft.com/office/powerpoint/2010/main" val="1548485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82E76-20E0-431E-AA4B-4E935A3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CREDIT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D0B70-B480-456D-9C94-E525047B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Underwrite for Collection connects approval to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7F347-3AC3-45F1-8CEB-A5A213C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77985-126F-47BD-8B32-89E862F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334C8-DB97-439B-8EB2-E8718D39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D900E-DFD9-4407-BE59-36F20E25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978BA-E82F-451C-BEF4-B75557B7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Before funding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55115-E557-4058-8391-C51B315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Purpose, entity, cash provenance, stock plan, obligations, affordability and facility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A6A8F-D70B-46FD-A4DB-0E5AB1E4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After funding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DF2AA-D0D0-474C-894B-12AC72F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Delivery, sales, collections, changing capacity, hardship, servicing, restructuring and realised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96386-4815-4824-9DFB-0B393A92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64B"/>
                </a:solidFill>
              </a:defRPr>
            </a:pPr>
            <a:r>
              <a:rPr sz="1650" b="1">
                <a:solidFill>
                  <a:srgbClr val="16364B"/>
                </a:solidFill>
              </a:rPr>
              <a:t>The same case identifier should connect evidence, offer, approval, disbursement, servicing events and outcome.</a:t>
            </a:r>
          </a:p>
        </p:txBody>
      </p:sp>
    </p:spTree>
    <p:extLst>
      <p:ext uri="{BB962C8B-B14F-4D97-AF65-F5344CB8AC3E}">
        <p14:creationId xmlns:p14="http://schemas.microsoft.com/office/powerpoint/2010/main" val="2118720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29DB-1B8A-46CC-BF61-6223C6D3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PROPOSED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62B3-749D-44F9-89DE-AAAEE25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Test support that 4G can operationally deliver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D7236-DAD2-42B1-B1ED-FC17F207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5653D-BDB3-45CF-8703-E67BCAD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C2900-A202-4838-852E-872E2F5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29F6C-5C2B-4E21-8D92-47821C99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9A481-7393-4317-A7EC-D9517059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40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64B"/>
                </a:solidFill>
              </a:defRPr>
            </a:pPr>
            <a:r>
              <a:rPr sz="1800" b="1">
                <a:solidFill>
                  <a:srgbClr val="16364B"/>
                </a:solidFill>
              </a:rPr>
              <a:t>Among eligible customers, compare current support with one specified enhancement: a timed stock-planning or repayment-support intervention.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CD313-765A-4BA3-8CEC-521FFD0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C3AAB-EC08-4662-9096-9B6050A3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Delivery and stock fill; settled sales; repayment timing; cure; cash retained for next-cycle trading.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3E54E-8B01-4F9E-8C1F-21806FC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481F5-1BF7-4FC0-9EAE-67D5525F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04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Customer cost and complaints; staff workload; repeat borrowing; arrears, recovery and portfolio concentration.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72CE3-77A8-417E-BB4E-AD0F2AF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7E80"/>
                </a:solidFill>
              </a:defRPr>
            </a:pPr>
            <a:r>
              <a:rPr sz="1425" b="1">
                <a:solidFill>
                  <a:srgbClr val="007E80"/>
                </a:solidFill>
              </a:rPr>
              <a:t>Pre-register eligibility, assignment, customer safeguards, follow-up and analysis before launch.</a:t>
            </a:r>
          </a:p>
        </p:txBody>
      </p:sp>
    </p:spTree>
    <p:extLst>
      <p:ext uri="{BB962C8B-B14F-4D97-AF65-F5344CB8AC3E}">
        <p14:creationId xmlns:p14="http://schemas.microsoft.com/office/powerpoint/2010/main" val="1082382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91403-1829-4C82-833A-9A6E3E9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PUBLIC PROJECT SII/53511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FF55-4931-4E34-B410-D30DAD66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The IFC guarantee has separate first-loss and pari-passu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C7F7-D052-4B46-B93D-0C92445C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B052C-ACBF-46B8-A062-638BEF51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F566D-8579-4AD8-A095-A44756E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B2D31-50F5-4ECF-ACD2-3A9885D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BEB5B-2BE9-422F-B3A2-A204285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0287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Public SII describes an unfunded financial guarantee, approved 29 June and signed 30 June 2026; status displayed Pending Disbursement on 14 October 2026.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Eligible portfolio: up to USD 44.4 million equivalent in Kenyan shillings for a new eligible MSME portfolio.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Narrative first-loss amount: up to USD 2.2 million, with IFC up to USD 2.0 million and 4G bearing the balance.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Further USD 42.2 million layer described as pari passu; IFC exposure capped at USD 4.2 million in that layer.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The executed contract controls claims, exclusions, timing, recoveries, fee and currency treatment.</a:t>
            </a:r>
          </a:p>
        </p:txBody>
      </p:sp>
    </p:spTree>
    <p:extLst>
      <p:ext uri="{BB962C8B-B14F-4D97-AF65-F5344CB8AC3E}">
        <p14:creationId xmlns:p14="http://schemas.microsoft.com/office/powerpoint/2010/main" val="1292141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F7FDA-8C00-4859-AACE-7F0B923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DISCLOSURE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8ABE0-2E78-48BB-9501-13AE021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Public mobilization figures describe separate 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1DC24-44EA-4202-9CDB-75FBEBAE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353E3-3566-4116-AFA0-51D45E47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1ECD0-5476-4690-A503-B47E6710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AD808-032D-41D9-879F-A876118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57C28-F2CC-4FBC-8092-6EF389D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4G-specific SII narrative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2BB5F-26DD-409D-A50F-558DD75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USD 6.2m maximum-risk headline; minimum 21x “core mobilization” objective. The SII defines the label and denominator.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E3811-B1E2-46F3-A9DE-5D2AECB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Other disclosed scopes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5B3B8-A129-4DDF-B3B4-6294E12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4810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USD 8.20m appears in a separate indicative approval table. 11:1 appears in IFC aggregate target across three transactions.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1DA0B-FC81-40AD-8E43-CE8ACC2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64B"/>
                </a:solidFill>
              </a:defRPr>
            </a:pPr>
            <a:r>
              <a:rPr sz="1500" b="1">
                <a:solidFill>
                  <a:srgbClr val="16364B"/>
                </a:solidFill>
              </a:rPr>
              <a:t>Record each figure with its source field, scope, status, numerator, denominator and date; do not combine unmatched measures.</a:t>
            </a:r>
          </a:p>
        </p:txBody>
      </p:sp>
    </p:spTree>
    <p:extLst>
      <p:ext uri="{BB962C8B-B14F-4D97-AF65-F5344CB8AC3E}">
        <p14:creationId xmlns:p14="http://schemas.microsoft.com/office/powerpoint/2010/main" val="784193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DFF91-3C69-4888-9B41-CF223FE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SYNTHETIC CLAIM CASH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3C09F-1ED1-4DF0-838F-5AFFADC6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The claim arrives after the loss, so liquidity needs its own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0F7B-62FC-4098-92BB-6BDDEA8E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68C0D-EB3B-4100-93E5-0C85DC84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B4552-59F9-4897-813B-F1F793E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A94A1-2168-4F7C-97AF-52D985FB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0767A-DDDC-40F7-84BA-B2504AE32E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1ee0d3c0f42d3"/>
          <a:stretch xmlns:a="http://schemas.openxmlformats.org/drawingml/2006/main"/>
        </p:blipFill>
        <p:spPr>
          <a:xfrm xmlns:a="http://schemas.openxmlformats.org/drawingml/2006/main">
            <a:off x="1853142" y="161925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1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E49E0-E57E-427B-9F08-93CC0701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PROPOSED ANALYTICAL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F68B6-0EAA-4C22-8849-3D07DFDF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Measure borrower, portfolio and guarantee cash on separate ledgers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F19CB-2804-4B60-9121-CADA7304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260E-BC87-48AF-B93B-E3E85853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4BBA9-5328-41C3-9920-6C74F8AF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174DB-8D71-41E9-8114-5405D75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01C98-54D4-4CC4-8861-DDA254F9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Credit: cash-flow fit, arrears timing, cure, repeat borrowing and loss severity.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Guarantee: eligible balance, claim trigger, payment delay, fees, caps and post-claim recovery.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Liquidity: peak cumulative funding need before claim settlement.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Profitability: present value under matched protected and unprotected scenarios.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Mobilisation: contractually defined numerator and denominator with attribution evidence.</a:t>
            </a:r>
          </a:p>
          <a:p xmlns:a="http://schemas.openxmlformats.org/drawingml/2006/main">
            <a:pPr>
              <a:defRPr sz="1500" b="0">
                <a:solidFill>
                  <a:srgbClr val="26343C"/>
                </a:solidFill>
              </a:defRPr>
            </a:pPr>
            <a:r>
              <a:rPr sz="1500" b="0">
                <a:solidFill>
                  <a:srgbClr val="26343C"/>
                </a:solidFill>
              </a:rPr>
              <a:t>Borrower: trading cash retained, delivery, repayment fit, complaints and continuity.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8CC3D-0C44-4E2F-9DF7-B4EA559E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7E80"/>
                </a:solidFill>
              </a:defRPr>
            </a:pPr>
            <a:r>
              <a:rPr sz="1350" b="1">
                <a:solidFill>
                  <a:srgbClr val="007E80"/>
                </a:solidFill>
              </a:rPr>
              <a:t>Use reconciled event IDs and independent validation of borrower, portfolio and guarantee ledgers.</a:t>
            </a:r>
          </a:p>
        </p:txBody>
      </p:sp>
    </p:spTree>
    <p:extLst>
      <p:ext uri="{BB962C8B-B14F-4D97-AF65-F5344CB8AC3E}">
        <p14:creationId xmlns:p14="http://schemas.microsoft.com/office/powerpoint/2010/main" val="1261685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440DD-4BC4-4311-99F9-8B30F8C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PROPOSED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FA834-CDBB-4D9D-A8B8-E0A4062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Agree a bounded evidence-design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A3CE9-3C14-4ABD-B10F-00547D91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8089-BC0F-4DCA-BCBF-1A39754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CDBDC-4CB7-4E2A-8797-768BE9AA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AABF8-12DA-402A-B6F6-592E019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C2A86-2DD1-455B-BFAB-5B1C38A3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Participants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0941D-96CA-4635-86E4-060E8C12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4905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4G product, credit, collections, distributor finance, field support, finance, risk, compliance, data and customer-protection owners; IFC workstream owners as appropriate.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89AF0-A86F-453F-9B74-6941304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0"/>
                </a:solidFill>
              </a:defRPr>
            </a:pPr>
            <a:r>
              <a:rPr sz="1575" b="1">
                <a:solidFill>
                  <a:srgbClr val="007E80"/>
                </a:solidFill>
              </a:rPr>
              <a:t>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320CC-DE92-4789-A252-B319E4E1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4905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6343C"/>
                </a:solidFill>
              </a:defRPr>
            </a:pPr>
            <a:r>
              <a:rPr sz="1350" b="0">
                <a:solidFill>
                  <a:srgbClr val="26343C"/>
                </a:solidFill>
              </a:rPr>
              <a:t>Data dictionary and access plan; one product-cycle specification; intervention protocol; IFC claim-data map; outcome measures; decision gates.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FB529-32C8-478C-852C-F268D2FA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E80"/>
                </a:solidFill>
              </a:defRPr>
            </a:pPr>
            <a:r>
              <a:rPr sz="1800" b="1">
                <a:solidFill>
                  <a:srgbClr val="007E80"/>
                </a:solidFill>
              </a:rPr>
              <a:t>Decision requested: identify one product cycle and nominate owners for a feasibility session.</a:t>
            </a:r>
          </a:p>
        </p:txBody>
      </p:sp>
    </p:spTree>
    <p:extLst>
      <p:ext uri="{BB962C8B-B14F-4D97-AF65-F5344CB8AC3E}">
        <p14:creationId xmlns:p14="http://schemas.microsoft.com/office/powerpoint/2010/main" val="14952184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9E75A-628B-40C1-B534-3ACFF3CD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7E8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7E80"/>
                </a:solidFill>
              </a:defRPr>
            </a:pPr>
            <a:r>
              <a:rPr sz="900" b="1">
                <a:solidFill>
                  <a:srgbClr val="007E80"/>
                </a:solidFill>
              </a:rPr>
              <a:t>REFERENCE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B5920-35B1-4033-806B-180631BC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64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64B"/>
                </a:solidFill>
              </a:defRPr>
            </a:pPr>
            <a:r>
              <a:rPr sz="2550" b="1">
                <a:solidFill>
                  <a:srgbClr val="16364B"/>
                </a:solidFill>
              </a:rPr>
              <a:t>Sources and use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01726-9D8C-427C-BCE2-77A3BF8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1ED3F-821C-49E3-8FBB-738B018B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AD403-499B-4296-8A2A-5D9423DF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9130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3727A"/>
                </a:solidFill>
              </a:defRPr>
            </a:pPr>
            <a:r>
              <a:rPr sz="825" b="0">
                <a:solidFill>
                  <a:srgbClr val="63727A"/>
                </a:solidFill>
              </a:rPr>
              <a:t>Research partnership concept  ·  Nevil Maloba  ·  14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0A9AA-F5E5-4FC5-B8C0-3707EE3D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913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3727A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3727A"/>
                </a:solidFill>
              </a:defRPr>
            </a:pPr>
            <a:r>
              <a:rPr sz="825" b="1">
                <a:solidFill>
                  <a:srgbClr val="63727A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719E0-791D-4905-83EE-B0B61AC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0287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43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4G Capital public UPIA and KUZA product material (source URLs are recorded in the article source register).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IFC, Summary of Investment Information, Project SII/53511.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IFC, 4 August 2026 announcement on three Kenyan MSME financing transactions.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Central Bank of Kenya (Non-Deposit Taking Credit Providers) Regulations, 2026, Legal Notice No. 191.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Nevil Maloba, Underwrite for Collection integrated research whitepaper, Zenodo DOI: 10.5281/zenodo.23343888.</a:t>
            </a:r>
          </a:p>
          <a:p xmlns:a="http://schemas.openxmlformats.org/drawingml/2006/main">
            <a:pPr>
              <a:defRPr sz="1425" b="0">
                <a:solidFill>
                  <a:srgbClr val="26343C"/>
                </a:solidFill>
              </a:defRPr>
            </a:pPr>
            <a:r>
              <a:rPr sz="1425" b="0">
                <a:solidFill>
                  <a:srgbClr val="26343C"/>
                </a:solidFill>
              </a:rPr>
              <a:t>All cash and claim examples are synthetic unless expressly described as public disclosure.</a:t>
            </a:r>
          </a:p>
        </p:txBody>
      </p:sp>
    </p:spTree>
    <p:extLst>
      <p:ext uri="{BB962C8B-B14F-4D97-AF65-F5344CB8AC3E}">
        <p14:creationId xmlns:p14="http://schemas.microsoft.com/office/powerpoint/2010/main" val="1265130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2026-10-13T23:25:02.6150000Z</dcterms:created>
  <dcterms:modified xsi:type="dcterms:W3CDTF">2026-10-13T23:25:02.6150000Z</dcterms:modified>
</coreProperties>
</file>