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609e376863479d" /><Relationship Type="http://schemas.openxmlformats.org/officeDocument/2006/relationships/extended-properties" Target="/docProps/app.xml" Id="Rab0403780630434c" /><Relationship Type="http://schemas.openxmlformats.org/officeDocument/2006/relationships/officeDocument" Target="/ppt/presentation.xml" Id="Rf286cebeaf264329" /></Relationships>
</file>

<file path=ppt/presentation.xml><?xml version="1.0" encoding="utf-8"?>
<p:presentation xmlns:p="http://schemas.openxmlformats.org/presentationml/2006/main">
  <p:sldMasterIdLst>
    <p:sldMasterId xmlns:r="http://schemas.openxmlformats.org/officeDocument/2006/relationships" id="2147483648" r:id="R7b1719fc9c344045"/>
  </p:sldMasterIdLst>
  <p:notesMasterIdLst>
    <p:notesMasterId xmlns:r="http://schemas.openxmlformats.org/officeDocument/2006/relationships" r:id="R48c5f40cecbc4317"/>
  </p:notesMasterIdLst>
  <p:sldIdLst>
    <p:sldId xmlns:r="http://schemas.openxmlformats.org/officeDocument/2006/relationships" id="256" r:id="R5be148fc7f7b4286"/>
    <p:sldId xmlns:r="http://schemas.openxmlformats.org/officeDocument/2006/relationships" id="257" r:id="R69ddab3c26b346dd"/>
    <p:sldId xmlns:r="http://schemas.openxmlformats.org/officeDocument/2006/relationships" id="258" r:id="R7f050c2191594e5e"/>
    <p:sldId xmlns:r="http://schemas.openxmlformats.org/officeDocument/2006/relationships" id="259" r:id="R9facdf56bc1d48fd"/>
    <p:sldId xmlns:r="http://schemas.openxmlformats.org/officeDocument/2006/relationships" id="260" r:id="R886662f6f8ce46cb"/>
    <p:sldId xmlns:r="http://schemas.openxmlformats.org/officeDocument/2006/relationships" id="261" r:id="Rac6cad9b7e214b8a"/>
    <p:sldId xmlns:r="http://schemas.openxmlformats.org/officeDocument/2006/relationships" id="262" r:id="R7fca3789335c45be"/>
    <p:sldId xmlns:r="http://schemas.openxmlformats.org/officeDocument/2006/relationships" id="263" r:id="R1f64a5a5b77048a5"/>
    <p:sldId xmlns:r="http://schemas.openxmlformats.org/officeDocument/2006/relationships" id="264" r:id="R50563d42f3424722"/>
    <p:sldId xmlns:r="http://schemas.openxmlformats.org/officeDocument/2006/relationships" id="265" r:id="Rba21439d330e433e"/>
    <p:sldId xmlns:r="http://schemas.openxmlformats.org/officeDocument/2006/relationships" id="266" r:id="R48cafa37252741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b7ea586eb44337" /><Relationship Type="http://schemas.openxmlformats.org/officeDocument/2006/relationships/slideMaster" Target="/ppt/slideMasters/slideMaster1.xml" Id="R7b1719fc9c344045" /><Relationship Type="http://schemas.openxmlformats.org/officeDocument/2006/relationships/notesMaster" Target="/ppt/notesMasters/notesMaster1.xml" Id="R48c5f40cecbc4317" /><Relationship Type="http://schemas.openxmlformats.org/officeDocument/2006/relationships/presProps" Target="/ppt/presProps.xml" Id="R672d2f0db57d4cba" /><Relationship Type="http://schemas.openxmlformats.org/officeDocument/2006/relationships/tableStyles" Target="/ppt/tableStyles.xml" Id="R7a79ec833e57445d" /><Relationship Type="http://schemas.openxmlformats.org/officeDocument/2006/relationships/slide" Target="/ppt/slides/slide1.xml" Id="R5be148fc7f7b4286" /><Relationship Type="http://schemas.openxmlformats.org/officeDocument/2006/relationships/slide" Target="/ppt/slides/slide2.xml" Id="R69ddab3c26b346dd" /><Relationship Type="http://schemas.openxmlformats.org/officeDocument/2006/relationships/slide" Target="/ppt/slides/slide3.xml" Id="R7f050c2191594e5e" /><Relationship Type="http://schemas.openxmlformats.org/officeDocument/2006/relationships/slide" Target="/ppt/slides/slide4.xml" Id="R9facdf56bc1d48fd" /><Relationship Type="http://schemas.openxmlformats.org/officeDocument/2006/relationships/slide" Target="/ppt/slides/slide5.xml" Id="R886662f6f8ce46cb" /><Relationship Type="http://schemas.openxmlformats.org/officeDocument/2006/relationships/slide" Target="/ppt/slides/slide6.xml" Id="Rac6cad9b7e214b8a" /><Relationship Type="http://schemas.openxmlformats.org/officeDocument/2006/relationships/slide" Target="/ppt/slides/slide7.xml" Id="R7fca3789335c45be" /><Relationship Type="http://schemas.openxmlformats.org/officeDocument/2006/relationships/slide" Target="/ppt/slides/slide8.xml" Id="R1f64a5a5b77048a5" /><Relationship Type="http://schemas.openxmlformats.org/officeDocument/2006/relationships/slide" Target="/ppt/slides/slide9.xml" Id="R50563d42f3424722" /><Relationship Type="http://schemas.openxmlformats.org/officeDocument/2006/relationships/slide" Target="/ppt/slides/slide10.xml" Id="Rba21439d330e433e" /><Relationship Type="http://schemas.openxmlformats.org/officeDocument/2006/relationships/slide" Target="/ppt/slides/slide11.xml" Id="R48cafa37252741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be61e0ad3e42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ee6f81631841cd" /><Relationship Type="http://schemas.openxmlformats.org/officeDocument/2006/relationships/notesMaster" Target="/ppt/notesMasters/notesMaster1.xml" Id="R91c4c4987b3444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77a5e53f484276" /><Relationship Type="http://schemas.openxmlformats.org/officeDocument/2006/relationships/notesMaster" Target="/ppt/notesMasters/notesMaster1.xml" Id="R38f4f337851a47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a5c6a30b8d4232" /><Relationship Type="http://schemas.openxmlformats.org/officeDocument/2006/relationships/notesMaster" Target="/ppt/notesMasters/notesMaster1.xml" Id="R3e4024822ab044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efbd93aa0f4e14" /><Relationship Type="http://schemas.openxmlformats.org/officeDocument/2006/relationships/notesMaster" Target="/ppt/notesMasters/notesMaster1.xml" Id="R0ebf105a91404f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046033c1334600" /><Relationship Type="http://schemas.openxmlformats.org/officeDocument/2006/relationships/notesMaster" Target="/ppt/notesMasters/notesMaster1.xml" Id="R30a7d17783834f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5f3831ecbc475f" /><Relationship Type="http://schemas.openxmlformats.org/officeDocument/2006/relationships/notesMaster" Target="/ppt/notesMasters/notesMaster1.xml" Id="Rea22c3ac485e48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1e9fc51bdb4235" /><Relationship Type="http://schemas.openxmlformats.org/officeDocument/2006/relationships/notesMaster" Target="/ppt/notesMasters/notesMaster1.xml" Id="R571c1c61462441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272621ddcb406f" /><Relationship Type="http://schemas.openxmlformats.org/officeDocument/2006/relationships/notesMaster" Target="/ppt/notesMasters/notesMaster1.xml" Id="Re1ea9bbf347c4f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3f72f6dba642fd" /><Relationship Type="http://schemas.openxmlformats.org/officeDocument/2006/relationships/notesMaster" Target="/ppt/notesMasters/notesMaster1.xml" Id="R587f1e12dde240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9ca5d2239e4759" /><Relationship Type="http://schemas.openxmlformats.org/officeDocument/2006/relationships/notesMaster" Target="/ppt/notesMasters/notesMaster1.xml" Id="R91e8d0fd148a48f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f1fda6ce5444994" /><Relationship Type="http://schemas.openxmlformats.org/officeDocument/2006/relationships/notesMaster" Target="/ppt/notesMasters/notesMaster1.xml" Id="R2926cdfc51c74d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open a focused discussion about a research and operating partnership. All modeled examples are clearly identified as synthetic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Anchor: CGAP, Putting Gig Data to Work (2023), pp. 4-5, as cited in the source package. This synthetic case sets out a specific mechanism for testing with partner operating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model has four separate weekly ledgers, joined through dated events. The plotted scenarios are synthetic and use author-selected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156-week model outputs. Driver cash surplus: uninterrupted KES 468,000; scheduled repair KES 399,429; expedited repair KES 456,571; expedited repair with KES 25,000 fee credit KES 481,571. Household cash requirement is met in all four modeled 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From the retained weekly ledgers: scheduled repair has 12 unavailable days, first arrears in week 13, peak arrears KES 50,000, cure in week 32, and KES 3.9 million collected over 156 weeks. Uninterrupted and expedited repair scenarios collect KES 3.9 million without modeled arrears.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values are synthetic outputs, not observed Moove outcomes. Scheduled repair requires KES 62,926 additional equity and has KES 50,000 peak arrears. Expedited repair requires KES 26,473 additional equity and has no modeled arrears. Fee credit requires KES 51,473 additional equity, with KES 25,000 waived fees.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fee-credit comparison. Driver cash surplus rises from KES 456,571 to KES 481,571, while the operator equity call rises from KES 26,473 to KES 51,473.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trial assigns eligible repair cases to the current process or a specified expedited-response offer. If randomisation does not fit operations, a registered comparison design would document its identification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Kenyan data-protection requirements and the participating institutions' governance. Operational events supply measurement evidence, while authorized teams retain credit decision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workshop will define feasibility, data ownership, operating measures and approval gates for a scoped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evidence anchor: CGAP 2023. Model evidence comes from the local reproducible case package at research_lab/mobility_fleet_case and output/mobility_fleet_case_2026-10-13. GitHub remote is the repository URL shown.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1eb32d0de241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88883a692b43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2619f555254e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325e0f305ef45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148d901cd947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d609ef4061a411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0A879C-DB85-41A8-AA6D-98C29A9AD56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C9514F-C9D4-4B3C-97CC-3A88EC095DC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01BD8E0-1A20-4CFD-8E75-9B4D24C2E8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FFFACCC-059E-470E-B3D6-85C8D8D7E3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A093C7B-2DB7-4A30-A60A-CC46649FD3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A45F8B5-E745-4D7B-94A8-636B6151F1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AC9C32-E76F-4DFB-817B-07D87FE130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F786466-52B3-4109-BF71-C8BDE32AA9C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C2DAAC-1A42-4402-89D7-BDB1DEEA9F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A7BEC6-97D8-4E30-8EDF-7CD81683EA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539048ebfe4af7" /><Relationship Type="http://schemas.openxmlformats.org/officeDocument/2006/relationships/slideLayout" Target="/ppt/slideLayouts/slideLayout1.xml" Id="R287ea1a97c4348f7" /><Relationship Type="http://schemas.openxmlformats.org/officeDocument/2006/relationships/slideLayout" Target="/ppt/slideLayouts/slideLayout2.xml" Id="R3cd1dbed74954f81" /><Relationship Type="http://schemas.openxmlformats.org/officeDocument/2006/relationships/slideLayout" Target="/ppt/slideLayouts/slideLayout3.xml" Id="R954104580f4241da" /><Relationship Type="http://schemas.openxmlformats.org/officeDocument/2006/relationships/slideLayout" Target="/ppt/slideLayouts/slideLayout4.xml" Id="Raa883ccd9fef4977" /><Relationship Type="http://schemas.openxmlformats.org/officeDocument/2006/relationships/slideLayout" Target="/ppt/slideLayouts/slideLayout5.xml" Id="Rd717ac0068b24000" /><Relationship Type="http://schemas.openxmlformats.org/officeDocument/2006/relationships/slideLayout" Target="/ppt/slideLayouts/slideLayout6.xml" Id="R01d3ebd406094c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7ea1a97c4348f7"/>
    <p:sldLayoutId xmlns:r="http://schemas.openxmlformats.org/officeDocument/2006/relationships" id="2147483650" r:id="R3cd1dbed74954f81"/>
    <p:sldLayoutId xmlns:r="http://schemas.openxmlformats.org/officeDocument/2006/relationships" id="2147483651" r:id="R954104580f4241da"/>
    <p:sldLayoutId xmlns:r="http://schemas.openxmlformats.org/officeDocument/2006/relationships" id="2147483652" r:id="Raa883ccd9fef4977"/>
    <p:sldLayoutId xmlns:r="http://schemas.openxmlformats.org/officeDocument/2006/relationships" id="2147483653" r:id="Rd717ac0068b24000"/>
    <p:sldLayoutId xmlns:r="http://schemas.openxmlformats.org/officeDocument/2006/relationships" id="2147483654" r:id="R01d3ebd406094c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b8740545d64b23" /><Relationship Type="http://schemas.openxmlformats.org/officeDocument/2006/relationships/notesSlide" Target="/ppt/notesSlides/notesSlide1.xml" Id="Rd91788dc59eb450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cf233d8dde4943" /><Relationship Type="http://schemas.openxmlformats.org/officeDocument/2006/relationships/notesSlide" Target="/ppt/notesSlides/notesSlide2.xml" Id="Rb83fc1f1919e47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d988b65a3c4982" /><Relationship Type="http://schemas.openxmlformats.org/officeDocument/2006/relationships/notesSlide" Target="/ppt/notesSlides/notesSlide3.xml" Id="R4190cd5870584e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0bfea0dbad40e1" /><Relationship Type="http://schemas.openxmlformats.org/officeDocument/2006/relationships/image" Target="/ppt/media/image.png" Id="Rbc091b8375154897" /><Relationship Type="http://schemas.openxmlformats.org/officeDocument/2006/relationships/notesSlide" Target="/ppt/notesSlides/notesSlide4.xml" Id="R8effd18e733b4b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3182b1569514894" /><Relationship Type="http://schemas.openxmlformats.org/officeDocument/2006/relationships/image" Target="/ppt/media/image2.png" Id="R417e0992c14940a9" /><Relationship Type="http://schemas.openxmlformats.org/officeDocument/2006/relationships/notesSlide" Target="/ppt/notesSlides/notesSlide5.xml" Id="R5373a5c6205c43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d0e591f1dae47d8" /><Relationship Type="http://schemas.openxmlformats.org/officeDocument/2006/relationships/image" Target="/ppt/media/image3.png" Id="R94d6ca1e63e14328" /><Relationship Type="http://schemas.openxmlformats.org/officeDocument/2006/relationships/notesSlide" Target="/ppt/notesSlides/notesSlide6.xml" Id="R6d3dd9e16cfb46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c59a806f8624b8a" /><Relationship Type="http://schemas.openxmlformats.org/officeDocument/2006/relationships/image" Target="/ppt/media/image4.png" Id="Rc2f1501cdd1b4d0f" /><Relationship Type="http://schemas.openxmlformats.org/officeDocument/2006/relationships/notesSlide" Target="/ppt/notesSlides/notesSlide7.xml" Id="R1e4e056cb77d49b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cfba1dea93e4a4b" /><Relationship Type="http://schemas.openxmlformats.org/officeDocument/2006/relationships/notesSlide" Target="/ppt/notesSlides/notesSlide8.xml" Id="R43787835edcf484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38000584814d62" /><Relationship Type="http://schemas.openxmlformats.org/officeDocument/2006/relationships/notesSlide" Target="/ppt/notesSlides/notesSlide9.xml" Id="R2f9d5d3ca32344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ee8d866411d482c" /><Relationship Type="http://schemas.openxmlformats.org/officeDocument/2006/relationships/notesSlide" Target="/ppt/notesSlides/notesSlide10.xml" Id="R5d0d9ab0062a41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841f4282b074f95" /><Relationship Type="http://schemas.openxmlformats.org/officeDocument/2006/relationships/notesSlide" Target="/ppt/notesSlides/notesSlide11.xml" Id="R1dd05c4a21554fa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F4953F-835C-4E85-A151-2E1585F28B9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7E80"/>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867B10-836C-43B5-9F97-AD4A44BB3100}"/>
              </a:ext>
            </a:extLst>
          </p:cNvPr>
          <p:cNvSpPr>
            <a:spLocks xmlns:a="http://schemas.openxmlformats.org/drawingml/2006/main" noGrp="1"/>
          </p:cNvSpPr>
          <p:nvPr/>
        </p:nvSpPr>
        <p:spPr>
          <a:xfrm xmlns:a="http://schemas.openxmlformats.org/drawingml/2006/main">
            <a:off x="809625" y="704850"/>
            <a:ext cx="9525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007E80"/>
                </a:solidFill>
              </a:defRPr>
            </a:defPPr>
          </a:lstStyle>
          <a:p xmlns:a="http://schemas.openxmlformats.org/drawingml/2006/main">
            <a:pPr>
              <a:defRPr sz="1050" b="1">
                <a:solidFill>
                  <a:srgbClr val="007E80"/>
                </a:solidFill>
              </a:defRPr>
            </a:pPr>
            <a:r>
              <a:rPr sz="1050" b="1">
                <a:solidFill>
                  <a:srgbClr val="007E80"/>
                </a:solidFill>
              </a:rPr>
              <a:t>RESEARCH PARTNERSHIP PROPOSAL</a:t>
            </a:r>
          </a:p>
        </p:txBody>
      </p:sp>
      <p:sp>
        <p:nvSpPr>
          <p:cNvPr id="3" name="">
            <a:extLst xmlns:a="http://schemas.openxmlformats.org/drawingml/2006/main">
              <a:ext uri="{FF2B5EF4-FFF2-40B4-BE49-F238E27FC236}">
                <a16:creationId xmlns:a16="http://schemas.microsoft.com/office/drawing/2014/main" id="{5F27AB18-EA81-4DB5-96E3-9D3F6A2D898E}"/>
              </a:ext>
            </a:extLst>
          </p:cNvPr>
          <p:cNvSpPr>
            <a:spLocks xmlns:a="http://schemas.openxmlformats.org/drawingml/2006/main" noGrp="1"/>
          </p:cNvSpPr>
          <p:nvPr/>
        </p:nvSpPr>
        <p:spPr>
          <a:xfrm xmlns:a="http://schemas.openxmlformats.org/drawingml/2006/main">
            <a:off x="809625" y="1524000"/>
            <a:ext cx="10191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6364B"/>
                </a:solidFill>
              </a:defRPr>
            </a:defPPr>
          </a:lstStyle>
          <a:p xmlns:a="http://schemas.openxmlformats.org/drawingml/2006/main">
            <a:pPr>
              <a:defRPr sz="3300" b="1">
                <a:solidFill>
                  <a:srgbClr val="16364B"/>
                </a:solidFill>
              </a:defRPr>
            </a:pPr>
            <a:r>
              <a:rPr sz="3300" b="1">
                <a:solidFill>
                  <a:srgbClr val="16364B"/>
                </a:solidFill>
              </a:rPr>
              <a:t>Moove × Mwendo Pamoja</a:t>
            </a:r>
          </a:p>
        </p:txBody>
      </p:sp>
      <p:sp>
        <p:nvSpPr>
          <p:cNvPr id="4" name="">
            <a:extLst xmlns:a="http://schemas.openxmlformats.org/drawingml/2006/main">
              <a:ext uri="{FF2B5EF4-FFF2-40B4-BE49-F238E27FC236}">
                <a16:creationId xmlns:a16="http://schemas.microsoft.com/office/drawing/2014/main" id="{14852628-7D22-4700-926E-273E20612608}"/>
              </a:ext>
            </a:extLst>
          </p:cNvPr>
          <p:cNvSpPr>
            <a:spLocks xmlns:a="http://schemas.openxmlformats.org/drawingml/2006/main" noGrp="1"/>
          </p:cNvSpPr>
          <p:nvPr/>
        </p:nvSpPr>
        <p:spPr>
          <a:xfrm xmlns:a="http://schemas.openxmlformats.org/drawingml/2006/main">
            <a:off x="809625" y="3333750"/>
            <a:ext cx="9620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26343C"/>
                </a:solidFill>
              </a:defRPr>
            </a:defPPr>
          </a:lstStyle>
          <a:p xmlns:a="http://schemas.openxmlformats.org/drawingml/2006/main">
            <a:pPr>
              <a:defRPr sz="1800" b="0">
                <a:solidFill>
                  <a:srgbClr val="26343C"/>
                </a:solidFill>
              </a:defRPr>
            </a:pPr>
            <a:r>
              <a:rPr sz="1800" b="0">
                <a:solidFill>
                  <a:srgbClr val="26343C"/>
                </a:solidFill>
              </a:rPr>
              <a:t>Test how vehicle uptime changes driver cash, fee collection and the financing economics across a full contract.</a:t>
            </a:r>
          </a:p>
        </p:txBody>
      </p:sp>
      <p:sp>
        <p:nvSpPr>
          <p:cNvPr id="5" name="">
            <a:extLst xmlns:a="http://schemas.openxmlformats.org/drawingml/2006/main">
              <a:ext uri="{FF2B5EF4-FFF2-40B4-BE49-F238E27FC236}">
                <a16:creationId xmlns:a16="http://schemas.microsoft.com/office/drawing/2014/main" id="{BD07615F-D60D-418E-A91B-DE5C31634A1D}"/>
              </a:ext>
            </a:extLst>
          </p:cNvPr>
          <p:cNvSpPr>
            <a:spLocks xmlns:a="http://schemas.openxmlformats.org/drawingml/2006/main" noGrp="1"/>
          </p:cNvSpPr>
          <p:nvPr/>
        </p:nvSpPr>
        <p:spPr>
          <a:xfrm xmlns:a="http://schemas.openxmlformats.org/drawingml/2006/main">
            <a:off x="809625" y="4552950"/>
            <a:ext cx="904875" cy="38100"/>
          </a:xfrm>
          <a:prstGeom xmlns:a="http://schemas.openxmlformats.org/drawingml/2006/main" prst="rect">
            <a:avLst/>
          </a:prstGeom>
          <a:solidFill xmlns:a="http://schemas.openxmlformats.org/drawingml/2006/main">
            <a:srgbClr val="DB97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E11C96-5389-4AE4-BBF7-92A7D7F832C5}"/>
              </a:ext>
            </a:extLst>
          </p:cNvPr>
          <p:cNvSpPr>
            <a:spLocks xmlns:a="http://schemas.openxmlformats.org/drawingml/2006/main" noGrp="1"/>
          </p:cNvSpPr>
          <p:nvPr/>
        </p:nvSpPr>
        <p:spPr>
          <a:xfrm xmlns:a="http://schemas.openxmlformats.org/drawingml/2006/main">
            <a:off x="809625" y="497205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63727A"/>
                </a:solidFill>
              </a:defRPr>
            </a:defPPr>
          </a:lstStyle>
          <a:p xmlns:a="http://schemas.openxmlformats.org/drawingml/2006/main">
            <a:pPr>
              <a:defRPr sz="1500" b="1">
                <a:solidFill>
                  <a:srgbClr val="63727A"/>
                </a:solidFill>
              </a:defRPr>
            </a:pPr>
            <a:r>
              <a:rPr sz="1500" b="1">
                <a:solidFill>
                  <a:srgbClr val="63727A"/>
                </a:solidFill>
              </a:rPr>
              <a:t>Mobility finance  ·  156-week synthetic operating and financing case</a:t>
            </a:r>
          </a:p>
        </p:txBody>
      </p:sp>
      <p:sp>
        <p:nvSpPr>
          <p:cNvPr id="7" name="">
            <a:extLst xmlns:a="http://schemas.openxmlformats.org/drawingml/2006/main">
              <a:ext uri="{FF2B5EF4-FFF2-40B4-BE49-F238E27FC236}">
                <a16:creationId xmlns:a16="http://schemas.microsoft.com/office/drawing/2014/main" id="{73C915BC-868A-422C-B42E-D9CF5749A9C2}"/>
              </a:ext>
            </a:extLst>
          </p:cNvPr>
          <p:cNvSpPr>
            <a:spLocks xmlns:a="http://schemas.openxmlformats.org/drawingml/2006/main" noGrp="1"/>
          </p:cNvSpPr>
          <p:nvPr/>
        </p:nvSpPr>
        <p:spPr>
          <a:xfrm xmlns:a="http://schemas.openxmlformats.org/drawingml/2006/main">
            <a:off x="809625" y="619125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a:solidFill>
                  <a:srgbClr val="63727A"/>
                </a:solidFill>
              </a:defRPr>
            </a:defPPr>
          </a:lstStyle>
          <a:p xmlns:a="http://schemas.openxmlformats.org/drawingml/2006/main">
            <a:pPr>
              <a:defRPr sz="1050" b="0">
                <a:solidFill>
                  <a:srgbClr val="63727A"/>
                </a:solidFill>
              </a:defRPr>
            </a:pPr>
            <a:r>
              <a:rPr sz="1050" b="0">
                <a:solidFill>
                  <a:srgbClr val="63727A"/>
                </a:solidFill>
              </a:rPr>
              <a:t>Nevil Maloba  ·  Research and quantitative finance  ·  14 October 2026</a:t>
            </a:r>
          </a:p>
        </p:txBody>
      </p:sp>
    </p:spTree>
    <p:extLst>
      <p:ext uri="{BB962C8B-B14F-4D97-AF65-F5344CB8AC3E}">
        <p14:creationId xmlns:p14="http://schemas.microsoft.com/office/powerpoint/2010/main" val="15051501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11AD04-3334-44A3-A154-4B0DD7BF9F08}"/>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THE DECISION QUESTION</a:t>
            </a:r>
          </a:p>
        </p:txBody>
      </p:sp>
      <p:sp>
        <p:nvSpPr>
          <p:cNvPr id="2" name="">
            <a:extLst xmlns:a="http://schemas.openxmlformats.org/drawingml/2006/main">
              <a:ext uri="{FF2B5EF4-FFF2-40B4-BE49-F238E27FC236}">
                <a16:creationId xmlns:a16="http://schemas.microsoft.com/office/drawing/2014/main" id="{9752BBB7-65FF-43BE-A253-E4258AE6F0EB}"/>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A repair outage can reduce earnings while scheduled fees continue</a:t>
            </a:r>
          </a:p>
        </p:txBody>
      </p:sp>
      <p:sp>
        <p:nvSpPr>
          <p:cNvPr id="3" name="">
            <a:extLst xmlns:a="http://schemas.openxmlformats.org/drawingml/2006/main">
              <a:ext uri="{FF2B5EF4-FFF2-40B4-BE49-F238E27FC236}">
                <a16:creationId xmlns:a16="http://schemas.microsoft.com/office/drawing/2014/main" id="{8B817FD1-9EEB-4618-8545-F2FBA4FA5462}"/>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731A66-8AD7-4F80-8A50-18046E856AE6}"/>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C859744-6857-40B9-A0F8-0EE3F5068A71}"/>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2FAA4222-79BF-4397-BBA5-78C4D36319BE}"/>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02</a:t>
            </a:r>
          </a:p>
        </p:txBody>
      </p:sp>
      <p:sp>
        <p:nvSpPr>
          <p:cNvPr id="7" name="">
            <a:extLst xmlns:a="http://schemas.openxmlformats.org/drawingml/2006/main">
              <a:ext uri="{FF2B5EF4-FFF2-40B4-BE49-F238E27FC236}">
                <a16:creationId xmlns:a16="http://schemas.microsoft.com/office/drawing/2014/main" id="{C7125A41-0666-4887-8CB9-A0828BEF490F}"/>
              </a:ext>
            </a:extLst>
          </p:cNvPr>
          <p:cNvSpPr>
            <a:spLocks xmlns:a="http://schemas.openxmlformats.org/drawingml/2006/main" noGrp="1"/>
          </p:cNvSpPr>
          <p:nvPr/>
        </p:nvSpPr>
        <p:spPr>
          <a:xfrm xmlns:a="http://schemas.openxmlformats.org/drawingml/2006/main">
            <a:off x="838200" y="1771650"/>
            <a:ext cx="10287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16364B"/>
                </a:solidFill>
              </a:defRPr>
            </a:defPPr>
          </a:lstStyle>
          <a:p xmlns:a="http://schemas.openxmlformats.org/drawingml/2006/main">
            <a:pPr>
              <a:defRPr sz="2025" b="1">
                <a:solidFill>
                  <a:srgbClr val="16364B"/>
                </a:solidFill>
              </a:defRPr>
            </a:pPr>
            <a:r>
              <a:rPr sz="2025" b="1">
                <a:solidFill>
                  <a:srgbClr val="16364B"/>
                </a:solidFill>
              </a:rPr>
              <a:t>When a vehicle is unavailable, which operating response protects driver cash while keeping the full financing arrangement sustainable?</a:t>
            </a:r>
          </a:p>
        </p:txBody>
      </p:sp>
      <p:sp>
        <p:nvSpPr>
          <p:cNvPr id="8" name="">
            <a:extLst xmlns:a="http://schemas.openxmlformats.org/drawingml/2006/main">
              <a:ext uri="{FF2B5EF4-FFF2-40B4-BE49-F238E27FC236}">
                <a16:creationId xmlns:a16="http://schemas.microsoft.com/office/drawing/2014/main" id="{57314362-5AE2-43D6-BE14-BEE9E7EED309}"/>
              </a:ext>
            </a:extLst>
          </p:cNvPr>
          <p:cNvSpPr>
            <a:spLocks xmlns:a="http://schemas.openxmlformats.org/drawingml/2006/main" noGrp="1"/>
          </p:cNvSpPr>
          <p:nvPr/>
        </p:nvSpPr>
        <p:spPr>
          <a:xfrm xmlns:a="http://schemas.openxmlformats.org/drawingml/2006/main">
            <a:off x="857250" y="28765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80"/>
                </a:solidFill>
              </a:defRPr>
            </a:defPPr>
          </a:lstStyle>
          <a:p xmlns:a="http://schemas.openxmlformats.org/drawingml/2006/main">
            <a:pPr>
              <a:defRPr sz="1575" b="1">
                <a:solidFill>
                  <a:srgbClr val="007E80"/>
                </a:solidFill>
              </a:defRPr>
            </a:pPr>
            <a:r>
              <a:rPr sz="1575" b="1">
                <a:solidFill>
                  <a:srgbClr val="007E80"/>
                </a:solidFill>
              </a:rPr>
              <a:t>Observed mechanism</a:t>
            </a:r>
          </a:p>
        </p:txBody>
      </p:sp>
      <p:sp>
        <p:nvSpPr>
          <p:cNvPr id="9" name="">
            <a:extLst xmlns:a="http://schemas.openxmlformats.org/drawingml/2006/main">
              <a:ext uri="{FF2B5EF4-FFF2-40B4-BE49-F238E27FC236}">
                <a16:creationId xmlns:a16="http://schemas.microsoft.com/office/drawing/2014/main" id="{6F00ED41-6E2C-4D87-988D-6B9C2BEC89C7}"/>
              </a:ext>
            </a:extLst>
          </p:cNvPr>
          <p:cNvSpPr>
            <a:spLocks xmlns:a="http://schemas.openxmlformats.org/drawingml/2006/main" noGrp="1"/>
          </p:cNvSpPr>
          <p:nvPr/>
        </p:nvSpPr>
        <p:spPr>
          <a:xfrm xmlns:a="http://schemas.openxmlformats.org/drawingml/2006/main">
            <a:off x="857250" y="3276600"/>
            <a:ext cx="4667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26343C"/>
                </a:solidFill>
              </a:defRPr>
            </a:defPPr>
          </a:lstStyle>
          <a:p xmlns:a="http://schemas.openxmlformats.org/drawingml/2006/main">
            <a:pPr>
              <a:defRPr sz="1350" b="0">
                <a:solidFill>
                  <a:srgbClr val="26343C"/>
                </a:solidFill>
              </a:defRPr>
            </a:pPr>
            <a:r>
              <a:rPr sz="1350" b="0">
                <a:solidFill>
                  <a:srgbClr val="26343C"/>
                </a:solidFill>
              </a:rPr>
              <a:t>Fares and platform receipts depend on productive days. Repair delays can reduce available cash while contractual obligations continue.</a:t>
            </a:r>
          </a:p>
        </p:txBody>
      </p:sp>
      <p:sp>
        <p:nvSpPr>
          <p:cNvPr id="10" name="">
            <a:extLst xmlns:a="http://schemas.openxmlformats.org/drawingml/2006/main">
              <a:ext uri="{FF2B5EF4-FFF2-40B4-BE49-F238E27FC236}">
                <a16:creationId xmlns:a16="http://schemas.microsoft.com/office/drawing/2014/main" id="{E86C4253-8D83-402D-8725-7EA6969E5E30}"/>
              </a:ext>
            </a:extLst>
          </p:cNvPr>
          <p:cNvSpPr>
            <a:spLocks xmlns:a="http://schemas.openxmlformats.org/drawingml/2006/main" noGrp="1"/>
          </p:cNvSpPr>
          <p:nvPr/>
        </p:nvSpPr>
        <p:spPr>
          <a:xfrm xmlns:a="http://schemas.openxmlformats.org/drawingml/2006/main">
            <a:off x="6286500" y="28765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80"/>
                </a:solidFill>
              </a:defRPr>
            </a:defPPr>
          </a:lstStyle>
          <a:p xmlns:a="http://schemas.openxmlformats.org/drawingml/2006/main">
            <a:pPr>
              <a:defRPr sz="1575" b="1">
                <a:solidFill>
                  <a:srgbClr val="007E80"/>
                </a:solidFill>
              </a:defRPr>
            </a:pPr>
            <a:r>
              <a:rPr sz="1575" b="1">
                <a:solidFill>
                  <a:srgbClr val="007E80"/>
                </a:solidFill>
              </a:rPr>
              <a:t>Research question</a:t>
            </a:r>
          </a:p>
        </p:txBody>
      </p:sp>
      <p:sp>
        <p:nvSpPr>
          <p:cNvPr id="11" name="">
            <a:extLst xmlns:a="http://schemas.openxmlformats.org/drawingml/2006/main">
              <a:ext uri="{FF2B5EF4-FFF2-40B4-BE49-F238E27FC236}">
                <a16:creationId xmlns:a16="http://schemas.microsoft.com/office/drawing/2014/main" id="{C120E9EE-C8FC-4FFD-A95A-BDD91026576E}"/>
              </a:ext>
            </a:extLst>
          </p:cNvPr>
          <p:cNvSpPr>
            <a:spLocks xmlns:a="http://schemas.openxmlformats.org/drawingml/2006/main" noGrp="1"/>
          </p:cNvSpPr>
          <p:nvPr/>
        </p:nvSpPr>
        <p:spPr>
          <a:xfrm xmlns:a="http://schemas.openxmlformats.org/drawingml/2006/main">
            <a:off x="6286500" y="3276600"/>
            <a:ext cx="4667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26343C"/>
                </a:solidFill>
              </a:defRPr>
            </a:defPPr>
          </a:lstStyle>
          <a:p xmlns:a="http://schemas.openxmlformats.org/drawingml/2006/main">
            <a:pPr>
              <a:defRPr sz="1350" b="0">
                <a:solidFill>
                  <a:srgbClr val="26343C"/>
                </a:solidFill>
              </a:defRPr>
            </a:pPr>
            <a:r>
              <a:rPr sz="1350" b="0">
                <a:solidFill>
                  <a:srgbClr val="26343C"/>
                </a:solidFill>
              </a:rPr>
              <a:t>Compare repair response and fee treatment using driver, operator, insurer and funder outcomes over the same contract horizon.</a:t>
            </a:r>
          </a:p>
        </p:txBody>
      </p:sp>
      <p:sp>
        <p:nvSpPr>
          <p:cNvPr id="12" name="">
            <a:extLst xmlns:a="http://schemas.openxmlformats.org/drawingml/2006/main">
              <a:ext uri="{FF2B5EF4-FFF2-40B4-BE49-F238E27FC236}">
                <a16:creationId xmlns:a16="http://schemas.microsoft.com/office/drawing/2014/main" id="{4E9B7838-49AB-4A2B-A8E9-1BA65207615D}"/>
              </a:ext>
            </a:extLst>
          </p:cNvPr>
          <p:cNvSpPr>
            <a:spLocks xmlns:a="http://schemas.openxmlformats.org/drawingml/2006/main" noGrp="1"/>
          </p:cNvSpPr>
          <p:nvPr/>
        </p:nvSpPr>
        <p:spPr>
          <a:xfrm xmlns:a="http://schemas.openxmlformats.org/drawingml/2006/main">
            <a:off x="857250" y="5095875"/>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63727A"/>
                </a:solidFill>
              </a:defRPr>
            </a:defPPr>
          </a:lstStyle>
          <a:p xmlns:a="http://schemas.openxmlformats.org/drawingml/2006/main">
            <a:pPr>
              <a:defRPr sz="1350" b="0">
                <a:solidFill>
                  <a:srgbClr val="63727A"/>
                </a:solidFill>
              </a:defRPr>
            </a:pPr>
            <a:r>
              <a:rPr sz="1350" b="0">
                <a:solidFill>
                  <a:srgbClr val="63727A"/>
                </a:solidFill>
              </a:rPr>
              <a:t>The 2023 CGAP case provides the motivation; this model turns the operating question into a reproducible test.</a:t>
            </a:r>
          </a:p>
        </p:txBody>
      </p:sp>
    </p:spTree>
    <p:extLst>
      <p:ext uri="{BB962C8B-B14F-4D97-AF65-F5344CB8AC3E}">
        <p14:creationId xmlns:p14="http://schemas.microsoft.com/office/powerpoint/2010/main" val="10283730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25BCD10-9924-43C3-988F-87E5412A11CC}"/>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OPERATING MECHANISM</a:t>
            </a:r>
          </a:p>
        </p:txBody>
      </p:sp>
      <p:sp>
        <p:nvSpPr>
          <p:cNvPr id="2" name="">
            <a:extLst xmlns:a="http://schemas.openxmlformats.org/drawingml/2006/main">
              <a:ext uri="{FF2B5EF4-FFF2-40B4-BE49-F238E27FC236}">
                <a16:creationId xmlns:a16="http://schemas.microsoft.com/office/drawing/2014/main" id="{036EAF0D-812D-4F2D-83BF-EA04D102FBA4}"/>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One repair event changes four cash ledgers</a:t>
            </a:r>
          </a:p>
        </p:txBody>
      </p:sp>
      <p:sp>
        <p:nvSpPr>
          <p:cNvPr id="3" name="">
            <a:extLst xmlns:a="http://schemas.openxmlformats.org/drawingml/2006/main">
              <a:ext uri="{FF2B5EF4-FFF2-40B4-BE49-F238E27FC236}">
                <a16:creationId xmlns:a16="http://schemas.microsoft.com/office/drawing/2014/main" id="{B2B304D7-F318-4F3B-9B58-60927A4A3585}"/>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5865841-EDD8-480F-A298-3F85BF08E086}"/>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E12685E-2829-4444-8B17-759652D57117}"/>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82391E00-7FB1-4169-AF39-06B60CA66CC6}"/>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03</a:t>
            </a:r>
          </a:p>
        </p:txBody>
      </p:sp>
      <p:sp>
        <p:nvSpPr>
          <p:cNvPr id="7" name="">
            <a:extLst xmlns:a="http://schemas.openxmlformats.org/drawingml/2006/main">
              <a:ext uri="{FF2B5EF4-FFF2-40B4-BE49-F238E27FC236}">
                <a16:creationId xmlns:a16="http://schemas.microsoft.com/office/drawing/2014/main" id="{6071DF5E-7F15-4D04-9A7C-C3E1B345FC98}"/>
              </a:ext>
            </a:extLst>
          </p:cNvPr>
          <p:cNvSpPr>
            <a:spLocks xmlns:a="http://schemas.openxmlformats.org/drawingml/2006/main" noGrp="1"/>
          </p:cNvSpPr>
          <p:nvPr/>
        </p:nvSpPr>
        <p:spPr>
          <a:xfrm xmlns:a="http://schemas.openxmlformats.org/drawingml/2006/main">
            <a:off x="914400" y="2000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6364B"/>
                </a:solidFill>
              </a:defRPr>
            </a:defPPr>
          </a:lstStyle>
          <a:p xmlns:a="http://schemas.openxmlformats.org/drawingml/2006/main">
            <a:pPr>
              <a:defRPr sz="1650" b="1">
                <a:solidFill>
                  <a:srgbClr val="16364B"/>
                </a:solidFill>
              </a:defRPr>
            </a:pPr>
            <a:r>
              <a:rPr sz="1650" b="1">
                <a:solidFill>
                  <a:srgbClr val="16364B"/>
                </a:solidFill>
              </a:rPr>
              <a:t>Vehicle availability</a:t>
            </a:r>
          </a:p>
        </p:txBody>
      </p:sp>
      <p:sp>
        <p:nvSpPr>
          <p:cNvPr id="8" name="">
            <a:extLst xmlns:a="http://schemas.openxmlformats.org/drawingml/2006/main">
              <a:ext uri="{FF2B5EF4-FFF2-40B4-BE49-F238E27FC236}">
                <a16:creationId xmlns:a16="http://schemas.microsoft.com/office/drawing/2014/main" id="{77C40F6D-D57B-4A17-AA3A-07920C60EAE8}"/>
              </a:ext>
            </a:extLst>
          </p:cNvPr>
          <p:cNvSpPr>
            <a:spLocks xmlns:a="http://schemas.openxmlformats.org/drawingml/2006/main" noGrp="1"/>
          </p:cNvSpPr>
          <p:nvPr/>
        </p:nvSpPr>
        <p:spPr>
          <a:xfrm xmlns:a="http://schemas.openxmlformats.org/drawingml/2006/main">
            <a:off x="3143250" y="197167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E80"/>
                </a:solidFill>
              </a:defRPr>
            </a:defPPr>
          </a:lstStyle>
          <a:p xmlns:a="http://schemas.openxmlformats.org/drawingml/2006/main">
            <a:pPr>
              <a:defRPr sz="2250" b="1">
                <a:solidFill>
                  <a:srgbClr val="007E80"/>
                </a:solidFill>
              </a:defRPr>
            </a:pPr>
            <a:r>
              <a:rPr sz="2250" b="1">
                <a:solidFill>
                  <a:srgbClr val="007E80"/>
                </a:solidFill>
              </a:rPr>
              <a:t>→</a:t>
            </a:r>
          </a:p>
        </p:txBody>
      </p:sp>
      <p:sp>
        <p:nvSpPr>
          <p:cNvPr id="9" name="">
            <a:extLst xmlns:a="http://schemas.openxmlformats.org/drawingml/2006/main">
              <a:ext uri="{FF2B5EF4-FFF2-40B4-BE49-F238E27FC236}">
                <a16:creationId xmlns:a16="http://schemas.microsoft.com/office/drawing/2014/main" id="{CA433816-3F41-4B9F-9876-D371601EC78B}"/>
              </a:ext>
            </a:extLst>
          </p:cNvPr>
          <p:cNvSpPr>
            <a:spLocks xmlns:a="http://schemas.openxmlformats.org/drawingml/2006/main" noGrp="1"/>
          </p:cNvSpPr>
          <p:nvPr/>
        </p:nvSpPr>
        <p:spPr>
          <a:xfrm xmlns:a="http://schemas.openxmlformats.org/drawingml/2006/main">
            <a:off x="3667125" y="20002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6364B"/>
                </a:solidFill>
              </a:defRPr>
            </a:defPPr>
          </a:lstStyle>
          <a:p xmlns:a="http://schemas.openxmlformats.org/drawingml/2006/main">
            <a:pPr>
              <a:defRPr sz="1650" b="1">
                <a:solidFill>
                  <a:srgbClr val="16364B"/>
                </a:solidFill>
              </a:defRPr>
            </a:pPr>
            <a:r>
              <a:rPr sz="1650" b="1">
                <a:solidFill>
                  <a:srgbClr val="16364B"/>
                </a:solidFill>
              </a:rPr>
              <a:t>Settled fares</a:t>
            </a:r>
          </a:p>
        </p:txBody>
      </p:sp>
      <p:sp>
        <p:nvSpPr>
          <p:cNvPr id="10" name="">
            <a:extLst xmlns:a="http://schemas.openxmlformats.org/drawingml/2006/main">
              <a:ext uri="{FF2B5EF4-FFF2-40B4-BE49-F238E27FC236}">
                <a16:creationId xmlns:a16="http://schemas.microsoft.com/office/drawing/2014/main" id="{4304EF19-C9A5-4321-9767-8629F3311935}"/>
              </a:ext>
            </a:extLst>
          </p:cNvPr>
          <p:cNvSpPr>
            <a:spLocks xmlns:a="http://schemas.openxmlformats.org/drawingml/2006/main" noGrp="1"/>
          </p:cNvSpPr>
          <p:nvPr/>
        </p:nvSpPr>
        <p:spPr>
          <a:xfrm xmlns:a="http://schemas.openxmlformats.org/drawingml/2006/main">
            <a:off x="5381625" y="197167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E80"/>
                </a:solidFill>
              </a:defRPr>
            </a:defPPr>
          </a:lstStyle>
          <a:p xmlns:a="http://schemas.openxmlformats.org/drawingml/2006/main">
            <a:pPr>
              <a:defRPr sz="2250" b="1">
                <a:solidFill>
                  <a:srgbClr val="007E80"/>
                </a:solidFill>
              </a:defRPr>
            </a:pPr>
            <a:r>
              <a:rPr sz="2250" b="1">
                <a:solidFill>
                  <a:srgbClr val="007E80"/>
                </a:solidFill>
              </a:rPr>
              <a:t>→</a:t>
            </a:r>
          </a:p>
        </p:txBody>
      </p:sp>
      <p:sp>
        <p:nvSpPr>
          <p:cNvPr id="11" name="">
            <a:extLst xmlns:a="http://schemas.openxmlformats.org/drawingml/2006/main">
              <a:ext uri="{FF2B5EF4-FFF2-40B4-BE49-F238E27FC236}">
                <a16:creationId xmlns:a16="http://schemas.microsoft.com/office/drawing/2014/main" id="{156A8198-756A-4717-B27F-D2BFEA2C6E44}"/>
              </a:ext>
            </a:extLst>
          </p:cNvPr>
          <p:cNvSpPr>
            <a:spLocks xmlns:a="http://schemas.openxmlformats.org/drawingml/2006/main" noGrp="1"/>
          </p:cNvSpPr>
          <p:nvPr/>
        </p:nvSpPr>
        <p:spPr>
          <a:xfrm xmlns:a="http://schemas.openxmlformats.org/drawingml/2006/main">
            <a:off x="5905500" y="20002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6364B"/>
                </a:solidFill>
              </a:defRPr>
            </a:defPPr>
          </a:lstStyle>
          <a:p xmlns:a="http://schemas.openxmlformats.org/drawingml/2006/main">
            <a:pPr>
              <a:defRPr sz="1650" b="1">
                <a:solidFill>
                  <a:srgbClr val="16364B"/>
                </a:solidFill>
              </a:defRPr>
            </a:pPr>
            <a:r>
              <a:rPr sz="1650" b="1">
                <a:solidFill>
                  <a:srgbClr val="16364B"/>
                </a:solidFill>
              </a:rPr>
              <a:t>Driver cash</a:t>
            </a:r>
          </a:p>
        </p:txBody>
      </p:sp>
      <p:sp>
        <p:nvSpPr>
          <p:cNvPr id="12" name="">
            <a:extLst xmlns:a="http://schemas.openxmlformats.org/drawingml/2006/main">
              <a:ext uri="{FF2B5EF4-FFF2-40B4-BE49-F238E27FC236}">
                <a16:creationId xmlns:a16="http://schemas.microsoft.com/office/drawing/2014/main" id="{995E8EDE-9FCF-40CE-965C-E9DD21B9B95C}"/>
              </a:ext>
            </a:extLst>
          </p:cNvPr>
          <p:cNvSpPr>
            <a:spLocks xmlns:a="http://schemas.openxmlformats.org/drawingml/2006/main" noGrp="1"/>
          </p:cNvSpPr>
          <p:nvPr/>
        </p:nvSpPr>
        <p:spPr>
          <a:xfrm xmlns:a="http://schemas.openxmlformats.org/drawingml/2006/main">
            <a:off x="7620000" y="197167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E80"/>
                </a:solidFill>
              </a:defRPr>
            </a:defPPr>
          </a:lstStyle>
          <a:p xmlns:a="http://schemas.openxmlformats.org/drawingml/2006/main">
            <a:pPr>
              <a:defRPr sz="2250" b="1">
                <a:solidFill>
                  <a:srgbClr val="007E80"/>
                </a:solidFill>
              </a:defRPr>
            </a:pPr>
            <a:r>
              <a:rPr sz="2250" b="1">
                <a:solidFill>
                  <a:srgbClr val="007E80"/>
                </a:solidFill>
              </a:rPr>
              <a:t>→</a:t>
            </a:r>
          </a:p>
        </p:txBody>
      </p:sp>
      <p:sp>
        <p:nvSpPr>
          <p:cNvPr id="13" name="">
            <a:extLst xmlns:a="http://schemas.openxmlformats.org/drawingml/2006/main">
              <a:ext uri="{FF2B5EF4-FFF2-40B4-BE49-F238E27FC236}">
                <a16:creationId xmlns:a16="http://schemas.microsoft.com/office/drawing/2014/main" id="{DEF4B49D-D329-4D8C-BF5F-B32C99FDF5FE}"/>
              </a:ext>
            </a:extLst>
          </p:cNvPr>
          <p:cNvSpPr>
            <a:spLocks xmlns:a="http://schemas.openxmlformats.org/drawingml/2006/main" noGrp="1"/>
          </p:cNvSpPr>
          <p:nvPr/>
        </p:nvSpPr>
        <p:spPr>
          <a:xfrm xmlns:a="http://schemas.openxmlformats.org/drawingml/2006/main">
            <a:off x="8143875" y="20002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16364B"/>
                </a:solidFill>
              </a:defRPr>
            </a:defPPr>
          </a:lstStyle>
          <a:p xmlns:a="http://schemas.openxmlformats.org/drawingml/2006/main">
            <a:pPr>
              <a:defRPr sz="1650" b="1">
                <a:solidFill>
                  <a:srgbClr val="16364B"/>
                </a:solidFill>
              </a:defRPr>
            </a:pPr>
            <a:r>
              <a:rPr sz="1650" b="1">
                <a:solidFill>
                  <a:srgbClr val="16364B"/>
                </a:solidFill>
              </a:rPr>
              <a:t>Contract fee</a:t>
            </a:r>
          </a:p>
        </p:txBody>
      </p:sp>
      <p:sp>
        <p:nvSpPr>
          <p:cNvPr id="14" name="">
            <a:extLst xmlns:a="http://schemas.openxmlformats.org/drawingml/2006/main">
              <a:ext uri="{FF2B5EF4-FFF2-40B4-BE49-F238E27FC236}">
                <a16:creationId xmlns:a16="http://schemas.microsoft.com/office/drawing/2014/main" id="{B0D670C0-0427-4C02-8171-890BACA7206D}"/>
              </a:ext>
            </a:extLst>
          </p:cNvPr>
          <p:cNvSpPr>
            <a:spLocks xmlns:a="http://schemas.openxmlformats.org/drawingml/2006/main" noGrp="1"/>
          </p:cNvSpPr>
          <p:nvPr/>
        </p:nvSpPr>
        <p:spPr>
          <a:xfrm xmlns:a="http://schemas.openxmlformats.org/drawingml/2006/main">
            <a:off x="9858375" y="1971675"/>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E80"/>
                </a:solidFill>
              </a:defRPr>
            </a:defPPr>
          </a:lstStyle>
          <a:p xmlns:a="http://schemas.openxmlformats.org/drawingml/2006/main">
            <a:pPr>
              <a:defRPr sz="2250" b="1">
                <a:solidFill>
                  <a:srgbClr val="007E80"/>
                </a:solidFill>
              </a:defRPr>
            </a:pPr>
            <a:r>
              <a:rPr sz="2250" b="1">
                <a:solidFill>
                  <a:srgbClr val="007E80"/>
                </a:solidFill>
              </a:rPr>
              <a:t>→</a:t>
            </a:r>
          </a:p>
        </p:txBody>
      </p:sp>
      <p:sp>
        <p:nvSpPr>
          <p:cNvPr id="15" name="">
            <a:extLst xmlns:a="http://schemas.openxmlformats.org/drawingml/2006/main">
              <a:ext uri="{FF2B5EF4-FFF2-40B4-BE49-F238E27FC236}">
                <a16:creationId xmlns:a16="http://schemas.microsoft.com/office/drawing/2014/main" id="{832884E4-7CD3-4606-AADC-818CFFE0481E}"/>
              </a:ext>
            </a:extLst>
          </p:cNvPr>
          <p:cNvSpPr>
            <a:spLocks xmlns:a="http://schemas.openxmlformats.org/drawingml/2006/main" noGrp="1"/>
          </p:cNvSpPr>
          <p:nvPr/>
        </p:nvSpPr>
        <p:spPr>
          <a:xfrm xmlns:a="http://schemas.openxmlformats.org/drawingml/2006/main">
            <a:off x="10315575" y="2000250"/>
            <a:ext cx="123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6364B"/>
                </a:solidFill>
              </a:defRPr>
            </a:defPPr>
          </a:lstStyle>
          <a:p xmlns:a="http://schemas.openxmlformats.org/drawingml/2006/main">
            <a:pPr>
              <a:defRPr sz="1500" b="1">
                <a:solidFill>
                  <a:srgbClr val="16364B"/>
                </a:solidFill>
              </a:defRPr>
            </a:pPr>
            <a:r>
              <a:rPr sz="1500" b="1">
                <a:solidFill>
                  <a:srgbClr val="16364B"/>
                </a:solidFill>
              </a:rPr>
              <a:t>Arrears / cure</a:t>
            </a:r>
          </a:p>
        </p:txBody>
      </p:sp>
      <p:sp>
        <p:nvSpPr>
          <p:cNvPr id="16" name="">
            <a:extLst xmlns:a="http://schemas.openxmlformats.org/drawingml/2006/main">
              <a:ext uri="{FF2B5EF4-FFF2-40B4-BE49-F238E27FC236}">
                <a16:creationId xmlns:a16="http://schemas.microsoft.com/office/drawing/2014/main" id="{DA07A60C-9310-4693-BE4D-1BA27119C785}"/>
              </a:ext>
            </a:extLst>
          </p:cNvPr>
          <p:cNvSpPr>
            <a:spLocks xmlns:a="http://schemas.openxmlformats.org/drawingml/2006/main" noGrp="1"/>
          </p:cNvSpPr>
          <p:nvPr/>
        </p:nvSpPr>
        <p:spPr>
          <a:xfrm xmlns:a="http://schemas.openxmlformats.org/drawingml/2006/main">
            <a:off x="904875" y="2809875"/>
            <a:ext cx="10429875"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23BB785-C969-40FA-8231-220F400EB07E}"/>
              </a:ext>
            </a:extLst>
          </p:cNvPr>
          <p:cNvSpPr>
            <a:spLocks xmlns:a="http://schemas.openxmlformats.org/drawingml/2006/main" noGrp="1"/>
          </p:cNvSpPr>
          <p:nvPr/>
        </p:nvSpPr>
        <p:spPr>
          <a:xfrm xmlns:a="http://schemas.openxmlformats.org/drawingml/2006/main">
            <a:off x="904875" y="3238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007E80"/>
                </a:solidFill>
              </a:defRPr>
            </a:defPPr>
          </a:lstStyle>
          <a:p xmlns:a="http://schemas.openxmlformats.org/drawingml/2006/main">
            <a:pPr>
              <a:defRPr sz="1800" b="1">
                <a:solidFill>
                  <a:srgbClr val="007E80"/>
                </a:solidFill>
              </a:defRPr>
            </a:pPr>
            <a:r>
              <a:rPr sz="1800" b="1">
                <a:solidFill>
                  <a:srgbClr val="007E80"/>
                </a:solidFill>
              </a:rPr>
              <a:t>The weekly ledger reconciles the event into four views</a:t>
            </a:r>
          </a:p>
        </p:txBody>
      </p:sp>
      <p:sp>
        <p:nvSpPr>
          <p:cNvPr id="18" name="">
            <a:extLst xmlns:a="http://schemas.openxmlformats.org/drawingml/2006/main">
              <a:ext uri="{FF2B5EF4-FFF2-40B4-BE49-F238E27FC236}">
                <a16:creationId xmlns:a16="http://schemas.microsoft.com/office/drawing/2014/main" id="{534C173B-5EC4-4AF6-9F07-EC838159A5AE}"/>
              </a:ext>
            </a:extLst>
          </p:cNvPr>
          <p:cNvSpPr>
            <a:spLocks xmlns:a="http://schemas.openxmlformats.org/drawingml/2006/main" noGrp="1"/>
          </p:cNvSpPr>
          <p:nvPr/>
        </p:nvSpPr>
        <p:spPr>
          <a:xfrm xmlns:a="http://schemas.openxmlformats.org/drawingml/2006/main">
            <a:off x="933450" y="379095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26343C"/>
                </a:solidFill>
              </a:defRPr>
            </a:defPPr>
          </a:lstStyle>
          <a:p xmlns:a="http://schemas.openxmlformats.org/drawingml/2006/main">
            <a:pPr>
              <a:defRPr sz="1425" b="0">
                <a:solidFill>
                  <a:srgbClr val="26343C"/>
                </a:solidFill>
              </a:defRPr>
            </a:pPr>
            <a:r>
              <a:rPr sz="1425" b="0">
                <a:solidFill>
                  <a:srgbClr val="26343C"/>
                </a:solidFill>
              </a:rPr>
              <a:t>Driver: fares, energy, household cash, fees and wallet balance</a:t>
            </a:r>
          </a:p>
          <a:p xmlns:a="http://schemas.openxmlformats.org/drawingml/2006/main">
            <a:pPr>
              <a:defRPr sz="1425" b="0">
                <a:solidFill>
                  <a:srgbClr val="26343C"/>
                </a:solidFill>
              </a:defRPr>
            </a:pPr>
            <a:r>
              <a:rPr sz="1425" b="0">
                <a:solidFill>
                  <a:srgbClr val="26343C"/>
                </a:solidFill>
              </a:rPr>
              <a:t>Operator: receipts, repair costs, debt service, equity calls and distributions</a:t>
            </a:r>
          </a:p>
          <a:p xmlns:a="http://schemas.openxmlformats.org/drawingml/2006/main">
            <a:pPr>
              <a:defRPr sz="1425" b="0">
                <a:solidFill>
                  <a:srgbClr val="26343C"/>
                </a:solidFill>
              </a:defRPr>
            </a:pPr>
            <a:r>
              <a:rPr sz="1425" b="0">
                <a:solidFill>
                  <a:srgbClr val="26343C"/>
                </a:solidFill>
              </a:rPr>
              <a:t>Funder: principal, interest, arrears and cure</a:t>
            </a:r>
          </a:p>
          <a:p xmlns:a="http://schemas.openxmlformats.org/drawingml/2006/main">
            <a:pPr>
              <a:defRPr sz="1425" b="0">
                <a:solidFill>
                  <a:srgbClr val="26343C"/>
                </a:solidFill>
              </a:defRPr>
            </a:pPr>
            <a:r>
              <a:rPr sz="1425" b="0">
                <a:solidFill>
                  <a:srgbClr val="26343C"/>
                </a:solidFill>
              </a:rPr>
              <a:t>Insurance: premium, claim timing, repair cost and service continuity</a:t>
            </a:r>
          </a:p>
        </p:txBody>
      </p:sp>
    </p:spTree>
    <p:extLst>
      <p:ext uri="{BB962C8B-B14F-4D97-AF65-F5344CB8AC3E}">
        <p14:creationId xmlns:p14="http://schemas.microsoft.com/office/powerpoint/2010/main" val="116082848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A69063-5B96-405D-BE1F-7415B91B2A9A}"/>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156-WEEK SYNTHETIC CASE</a:t>
            </a:r>
          </a:p>
        </p:txBody>
      </p:sp>
      <p:sp>
        <p:nvSpPr>
          <p:cNvPr id="2" name="">
            <a:extLst xmlns:a="http://schemas.openxmlformats.org/drawingml/2006/main">
              <a:ext uri="{FF2B5EF4-FFF2-40B4-BE49-F238E27FC236}">
                <a16:creationId xmlns:a16="http://schemas.microsoft.com/office/drawing/2014/main" id="{CF1C0238-BA1D-4D15-8CFD-D3C92CA286E6}"/>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Scheduled repair leaves driver cash KES 68,571 below uninterrupted operation</a:t>
            </a:r>
          </a:p>
        </p:txBody>
      </p:sp>
      <p:sp>
        <p:nvSpPr>
          <p:cNvPr id="3" name="">
            <a:extLst xmlns:a="http://schemas.openxmlformats.org/drawingml/2006/main">
              <a:ext uri="{FF2B5EF4-FFF2-40B4-BE49-F238E27FC236}">
                <a16:creationId xmlns:a16="http://schemas.microsoft.com/office/drawing/2014/main" id="{DD8A4DAF-C3DE-4C48-843C-E26FB4009E84}"/>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F9C859C-30C1-45CA-979B-F5E6FABD7901}"/>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2C7DC6-9A37-4C3A-8C01-E2FA695A5C95}"/>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9F41C196-AE64-4465-8BBD-DD35E992F56B}"/>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04</a:t>
            </a:r>
          </a:p>
        </p:txBody>
      </p:sp>
      <p:pic>
        <p:nvPicPr>
          <p:cNvPr id="7" name="">
            <a:extLst xmlns:a="http://schemas.openxmlformats.org/drawingml/2006/main">
              <a:ext uri="{FF2B5EF4-FFF2-40B4-BE49-F238E27FC236}">
                <a16:creationId xmlns:a16="http://schemas.microsoft.com/office/drawing/2014/main" id="{ABB996A4-1E35-4156-B673-181A9C1A76DE}"/>
              </a:ext>
            </a:extLst>
          </p:cNvPr>
          <p:cNvPicPr>
            <a:picLocks xmlns:a="http://schemas.openxmlformats.org/drawingml/2006/main" noChangeAspect="1"/>
          </p:cNvPicPr>
          <p:nvPr/>
        </p:nvPicPr>
        <p:blipFill>
          <a:blip xmlns:r="http://schemas.openxmlformats.org/officeDocument/2006/relationships" xmlns:a="http://schemas.openxmlformats.org/drawingml/2006/main" r:embed="Rbc091b8375154897"/>
          <a:stretch xmlns:a="http://schemas.openxmlformats.org/drawingml/2006/main"/>
        </p:blipFill>
        <p:spPr>
          <a:xfrm xmlns:a="http://schemas.openxmlformats.org/drawingml/2006/main">
            <a:off x="1920875" y="1657350"/>
            <a:ext cx="8331200" cy="4686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BA603FB-3756-4BF1-9DE4-39E1A4A54243}"/>
              </a:ext>
            </a:extLst>
          </p:cNvPr>
          <p:cNvSpPr>
            <a:spLocks xmlns:a="http://schemas.openxmlformats.org/drawingml/2006/main" noGrp="1"/>
          </p:cNvSpPr>
          <p:nvPr/>
        </p:nvSpPr>
        <p:spPr>
          <a:xfrm xmlns:a="http://schemas.openxmlformats.org/drawingml/2006/main">
            <a:off x="857250" y="60674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364B"/>
                </a:solidFill>
              </a:defRPr>
            </a:defPPr>
          </a:lstStyle>
          <a:p xmlns:a="http://schemas.openxmlformats.org/drawingml/2006/main">
            <a:pPr>
              <a:defRPr sz="1350" b="1">
                <a:solidFill>
                  <a:srgbClr val="16364B"/>
                </a:solidFill>
              </a:defRPr>
            </a:pPr>
            <a:r>
              <a:rPr sz="1350" b="1">
                <a:solidFill>
                  <a:srgbClr val="16364B"/>
                </a:solidFill>
              </a:rPr>
              <a:t>The same contract fee total can sit beside different driver cash outcomes.</a:t>
            </a:r>
          </a:p>
        </p:txBody>
      </p:sp>
    </p:spTree>
    <p:extLst>
      <p:ext uri="{BB962C8B-B14F-4D97-AF65-F5344CB8AC3E}">
        <p14:creationId xmlns:p14="http://schemas.microsoft.com/office/powerpoint/2010/main" val="5503241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A43F2BB-676C-4406-815F-6DF54E593FFB}"/>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156-WEEK SYNTHETIC CASE</a:t>
            </a:r>
          </a:p>
        </p:txBody>
      </p:sp>
      <p:sp>
        <p:nvSpPr>
          <p:cNvPr id="2" name="">
            <a:extLst xmlns:a="http://schemas.openxmlformats.org/drawingml/2006/main">
              <a:ext uri="{FF2B5EF4-FFF2-40B4-BE49-F238E27FC236}">
                <a16:creationId xmlns:a16="http://schemas.microsoft.com/office/drawing/2014/main" id="{9D4C9155-DC52-4E18-9D9A-884C66A574B1}"/>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Scheduled repair creates KES 50,000 peak arrears</a:t>
            </a:r>
          </a:p>
        </p:txBody>
      </p:sp>
      <p:sp>
        <p:nvSpPr>
          <p:cNvPr id="3" name="">
            <a:extLst xmlns:a="http://schemas.openxmlformats.org/drawingml/2006/main">
              <a:ext uri="{FF2B5EF4-FFF2-40B4-BE49-F238E27FC236}">
                <a16:creationId xmlns:a16="http://schemas.microsoft.com/office/drawing/2014/main" id="{FAD57532-38F3-4DF4-A8C5-B9963CF798A1}"/>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19FDFF-DD3E-47D7-983F-1AFAF329F068}"/>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6899A89-25DD-43DC-88D0-734D012C3F8B}"/>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13AEF93A-2565-48E0-84B9-4668E4059166}"/>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05</a:t>
            </a:r>
          </a:p>
        </p:txBody>
      </p:sp>
      <p:pic>
        <p:nvPicPr>
          <p:cNvPr id="7" name="">
            <a:extLst xmlns:a="http://schemas.openxmlformats.org/drawingml/2006/main">
              <a:ext uri="{FF2B5EF4-FFF2-40B4-BE49-F238E27FC236}">
                <a16:creationId xmlns:a16="http://schemas.microsoft.com/office/drawing/2014/main" id="{CEFE9D81-8459-4798-807E-2CB0117966CF}"/>
              </a:ext>
            </a:extLst>
          </p:cNvPr>
          <p:cNvPicPr>
            <a:picLocks xmlns:a="http://schemas.openxmlformats.org/drawingml/2006/main" noChangeAspect="1"/>
          </p:cNvPicPr>
          <p:nvPr/>
        </p:nvPicPr>
        <p:blipFill>
          <a:blip xmlns:r="http://schemas.openxmlformats.org/officeDocument/2006/relationships" xmlns:a="http://schemas.openxmlformats.org/drawingml/2006/main" r:embed="R417e0992c14940a9"/>
          <a:stretch xmlns:a="http://schemas.openxmlformats.org/drawingml/2006/main"/>
        </p:blipFill>
        <p:spPr>
          <a:xfrm xmlns:a="http://schemas.openxmlformats.org/drawingml/2006/main">
            <a:off x="1920875" y="1657350"/>
            <a:ext cx="8331200" cy="4686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139D8BF-338D-4BC3-B0B7-BD6EAD21CAE9}"/>
              </a:ext>
            </a:extLst>
          </p:cNvPr>
          <p:cNvSpPr>
            <a:spLocks xmlns:a="http://schemas.openxmlformats.org/drawingml/2006/main" noGrp="1"/>
          </p:cNvSpPr>
          <p:nvPr/>
        </p:nvSpPr>
        <p:spPr>
          <a:xfrm xmlns:a="http://schemas.openxmlformats.org/drawingml/2006/main">
            <a:off x="857250" y="60674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364B"/>
                </a:solidFill>
              </a:defRPr>
            </a:defPPr>
          </a:lstStyle>
          <a:p xmlns:a="http://schemas.openxmlformats.org/drawingml/2006/main">
            <a:pPr>
              <a:defRPr sz="1350" b="1">
                <a:solidFill>
                  <a:srgbClr val="16364B"/>
                </a:solidFill>
              </a:defRPr>
            </a:pPr>
            <a:r>
              <a:rPr sz="1350" b="1">
                <a:solidFill>
                  <a:srgbClr val="16364B"/>
                </a:solidFill>
              </a:rPr>
              <a:t>Scheduled repair reaches full collection after a KES 50,000 peak arrears balance and cure in week 32.</a:t>
            </a:r>
          </a:p>
        </p:txBody>
      </p:sp>
    </p:spTree>
    <p:extLst>
      <p:ext uri="{BB962C8B-B14F-4D97-AF65-F5344CB8AC3E}">
        <p14:creationId xmlns:p14="http://schemas.microsoft.com/office/powerpoint/2010/main" val="4369879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5A0CA44-9BE6-4FAE-B787-1B2376DEE5E8}"/>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156-WEEK SYNTHETIC CASE</a:t>
            </a:r>
          </a:p>
        </p:txBody>
      </p:sp>
      <p:sp>
        <p:nvSpPr>
          <p:cNvPr id="2" name="">
            <a:extLst xmlns:a="http://schemas.openxmlformats.org/drawingml/2006/main">
              <a:ext uri="{FF2B5EF4-FFF2-40B4-BE49-F238E27FC236}">
                <a16:creationId xmlns:a16="http://schemas.microsoft.com/office/drawing/2014/main" id="{3704EBD4-4BDF-4C6B-9060-EE67A9939129}"/>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Expedited repair cuts the operator equity call by KES 36,453</a:t>
            </a:r>
          </a:p>
        </p:txBody>
      </p:sp>
      <p:sp>
        <p:nvSpPr>
          <p:cNvPr id="3" name="">
            <a:extLst xmlns:a="http://schemas.openxmlformats.org/drawingml/2006/main">
              <a:ext uri="{FF2B5EF4-FFF2-40B4-BE49-F238E27FC236}">
                <a16:creationId xmlns:a16="http://schemas.microsoft.com/office/drawing/2014/main" id="{6030B14F-9EB5-4DD2-8ED5-A6DF23254C2F}"/>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087FD4-1F70-40A2-86AD-969D33501872}"/>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566D08C-B686-4CF8-9F80-41BADEA8C4E6}"/>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2A6FB328-C178-41A5-8649-5ABEA908DF88}"/>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06</a:t>
            </a:r>
          </a:p>
        </p:txBody>
      </p:sp>
      <p:pic>
        <p:nvPicPr>
          <p:cNvPr id="7" name="">
            <a:extLst xmlns:a="http://schemas.openxmlformats.org/drawingml/2006/main">
              <a:ext uri="{FF2B5EF4-FFF2-40B4-BE49-F238E27FC236}">
                <a16:creationId xmlns:a16="http://schemas.microsoft.com/office/drawing/2014/main" id="{5A259A50-DA39-435F-8FDA-FF6BEA28BAF2}"/>
              </a:ext>
            </a:extLst>
          </p:cNvPr>
          <p:cNvPicPr>
            <a:picLocks xmlns:a="http://schemas.openxmlformats.org/drawingml/2006/main" noChangeAspect="1"/>
          </p:cNvPicPr>
          <p:nvPr/>
        </p:nvPicPr>
        <p:blipFill>
          <a:blip xmlns:r="http://schemas.openxmlformats.org/officeDocument/2006/relationships" xmlns:a="http://schemas.openxmlformats.org/drawingml/2006/main" r:embed="R94d6ca1e63e14328"/>
          <a:stretch xmlns:a="http://schemas.openxmlformats.org/drawingml/2006/main"/>
        </p:blipFill>
        <p:spPr>
          <a:xfrm xmlns:a="http://schemas.openxmlformats.org/drawingml/2006/main">
            <a:off x="1920875" y="1657350"/>
            <a:ext cx="8331200" cy="4686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2677249-F746-479E-B513-F580BC71D737}"/>
              </a:ext>
            </a:extLst>
          </p:cNvPr>
          <p:cNvSpPr>
            <a:spLocks xmlns:a="http://schemas.openxmlformats.org/drawingml/2006/main" noGrp="1"/>
          </p:cNvSpPr>
          <p:nvPr/>
        </p:nvSpPr>
        <p:spPr>
          <a:xfrm xmlns:a="http://schemas.openxmlformats.org/drawingml/2006/main">
            <a:off x="857250" y="60674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364B"/>
                </a:solidFill>
              </a:defRPr>
            </a:defPPr>
          </a:lstStyle>
          <a:p xmlns:a="http://schemas.openxmlformats.org/drawingml/2006/main">
            <a:pPr>
              <a:defRPr sz="1350" b="1">
                <a:solidFill>
                  <a:srgbClr val="16364B"/>
                </a:solidFill>
              </a:defRPr>
            </a:pPr>
            <a:r>
              <a:rPr sz="1350" b="1">
                <a:solidFill>
                  <a:srgbClr val="16364B"/>
                </a:solidFill>
              </a:rPr>
              <a:t>Expedited repair reduces the modeled equity call relative to scheduled repair; fee treatment changes who carries the cost.</a:t>
            </a:r>
          </a:p>
        </p:txBody>
      </p:sp>
    </p:spTree>
    <p:extLst>
      <p:ext uri="{BB962C8B-B14F-4D97-AF65-F5344CB8AC3E}">
        <p14:creationId xmlns:p14="http://schemas.microsoft.com/office/powerpoint/2010/main" val="94849229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060689-5B76-4C5D-A2CF-892106519578}"/>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DESIGN TRADE-OFF</a:t>
            </a:r>
          </a:p>
        </p:txBody>
      </p:sp>
      <p:sp>
        <p:nvSpPr>
          <p:cNvPr id="2" name="">
            <a:extLst xmlns:a="http://schemas.openxmlformats.org/drawingml/2006/main">
              <a:ext uri="{FF2B5EF4-FFF2-40B4-BE49-F238E27FC236}">
                <a16:creationId xmlns:a16="http://schemas.microsoft.com/office/drawing/2014/main" id="{C802FA56-B2C5-466D-B040-91F9EA1B8468}"/>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Fee relief increases driver cash and operator capital need</a:t>
            </a:r>
          </a:p>
        </p:txBody>
      </p:sp>
      <p:sp>
        <p:nvSpPr>
          <p:cNvPr id="3" name="">
            <a:extLst xmlns:a="http://schemas.openxmlformats.org/drawingml/2006/main">
              <a:ext uri="{FF2B5EF4-FFF2-40B4-BE49-F238E27FC236}">
                <a16:creationId xmlns:a16="http://schemas.microsoft.com/office/drawing/2014/main" id="{C97C1F72-42DC-42DE-8970-3B5A00CC3C4C}"/>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B436E3E-3D59-4B72-ADE3-9D4503068FB9}"/>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E775DB3-96D7-4592-A3C7-41C0A25D831D}"/>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27B98121-5454-45E2-A1D1-8B84EBC4CFB2}"/>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07</a:t>
            </a:r>
          </a:p>
        </p:txBody>
      </p:sp>
      <p:pic>
        <p:nvPicPr>
          <p:cNvPr id="7" name="">
            <a:extLst xmlns:a="http://schemas.openxmlformats.org/drawingml/2006/main">
              <a:ext uri="{FF2B5EF4-FFF2-40B4-BE49-F238E27FC236}">
                <a16:creationId xmlns:a16="http://schemas.microsoft.com/office/drawing/2014/main" id="{90099BE2-DA66-4EB6-AFFC-9520006E8C4E}"/>
              </a:ext>
            </a:extLst>
          </p:cNvPr>
          <p:cNvPicPr>
            <a:picLocks xmlns:a="http://schemas.openxmlformats.org/drawingml/2006/main" noChangeAspect="1"/>
          </p:cNvPicPr>
          <p:nvPr/>
        </p:nvPicPr>
        <p:blipFill>
          <a:blip xmlns:r="http://schemas.openxmlformats.org/officeDocument/2006/relationships" xmlns:a="http://schemas.openxmlformats.org/drawingml/2006/main" r:embed="Rc2f1501cdd1b4d0f"/>
          <a:stretch xmlns:a="http://schemas.openxmlformats.org/drawingml/2006/main"/>
        </p:blipFill>
        <p:spPr>
          <a:xfrm xmlns:a="http://schemas.openxmlformats.org/drawingml/2006/main">
            <a:off x="1920875" y="1657350"/>
            <a:ext cx="8331200" cy="4686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543DEB2-2DF9-4ECC-95FA-CA9100B7C916}"/>
              </a:ext>
            </a:extLst>
          </p:cNvPr>
          <p:cNvSpPr>
            <a:spLocks xmlns:a="http://schemas.openxmlformats.org/drawingml/2006/main" noGrp="1"/>
          </p:cNvSpPr>
          <p:nvPr/>
        </p:nvSpPr>
        <p:spPr>
          <a:xfrm xmlns:a="http://schemas.openxmlformats.org/drawingml/2006/main">
            <a:off x="857250" y="60674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16364B"/>
                </a:solidFill>
              </a:defRPr>
            </a:defPPr>
          </a:lstStyle>
          <a:p xmlns:a="http://schemas.openxmlformats.org/drawingml/2006/main">
            <a:pPr>
              <a:defRPr sz="1350" b="1">
                <a:solidFill>
                  <a:srgbClr val="16364B"/>
                </a:solidFill>
              </a:defRPr>
            </a:pPr>
            <a:r>
              <a:rPr sz="1350" b="1">
                <a:solidFill>
                  <a:srgbClr val="16364B"/>
                </a:solidFill>
              </a:rPr>
              <a:t>Pilot question: does the liquidity gain improve uptime and repayment enough to justify the operator cash call?</a:t>
            </a:r>
          </a:p>
        </p:txBody>
      </p:sp>
    </p:spTree>
    <p:extLst>
      <p:ext uri="{BB962C8B-B14F-4D97-AF65-F5344CB8AC3E}">
        <p14:creationId xmlns:p14="http://schemas.microsoft.com/office/powerpoint/2010/main" val="1689009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AAAF3A-6B5D-4350-A836-52D837E6B5C7}"/>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RESEARCH DESIGN</a:t>
            </a:r>
          </a:p>
        </p:txBody>
      </p:sp>
      <p:sp>
        <p:nvSpPr>
          <p:cNvPr id="2" name="">
            <a:extLst xmlns:a="http://schemas.openxmlformats.org/drawingml/2006/main">
              <a:ext uri="{FF2B5EF4-FFF2-40B4-BE49-F238E27FC236}">
                <a16:creationId xmlns:a16="http://schemas.microsoft.com/office/drawing/2014/main" id="{8124D346-BB9D-49CF-B6BE-DEAA28173309}"/>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Pilot the service response that operations can deliver</a:t>
            </a:r>
          </a:p>
        </p:txBody>
      </p:sp>
      <p:sp>
        <p:nvSpPr>
          <p:cNvPr id="3" name="">
            <a:extLst xmlns:a="http://schemas.openxmlformats.org/drawingml/2006/main">
              <a:ext uri="{FF2B5EF4-FFF2-40B4-BE49-F238E27FC236}">
                <a16:creationId xmlns:a16="http://schemas.microsoft.com/office/drawing/2014/main" id="{7E9D9304-8420-476D-B773-E5FE716E4F19}"/>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D1752A-550D-475F-983C-22FFA736265A}"/>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267C9CC-215F-4249-825E-6C62EB736C61}"/>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18D7858C-A75A-4FD8-81D2-33C7700402C6}"/>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08</a:t>
            </a:r>
          </a:p>
        </p:txBody>
      </p:sp>
      <p:sp>
        <p:nvSpPr>
          <p:cNvPr id="7" name="">
            <a:extLst xmlns:a="http://schemas.openxmlformats.org/drawingml/2006/main">
              <a:ext uri="{FF2B5EF4-FFF2-40B4-BE49-F238E27FC236}">
                <a16:creationId xmlns:a16="http://schemas.microsoft.com/office/drawing/2014/main" id="{620FE7B7-A494-44E6-B9C3-E47C16595C04}"/>
              </a:ext>
            </a:extLst>
          </p:cNvPr>
          <p:cNvSpPr>
            <a:spLocks xmlns:a="http://schemas.openxmlformats.org/drawingml/2006/main" noGrp="1"/>
          </p:cNvSpPr>
          <p:nvPr/>
        </p:nvSpPr>
        <p:spPr>
          <a:xfrm xmlns:a="http://schemas.openxmlformats.org/drawingml/2006/main">
            <a:off x="857250" y="1790700"/>
            <a:ext cx="1047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6364B"/>
                </a:solidFill>
              </a:defRPr>
            </a:defPPr>
          </a:lstStyle>
          <a:p xmlns:a="http://schemas.openxmlformats.org/drawingml/2006/main">
            <a:pPr>
              <a:defRPr sz="1800" b="1">
                <a:solidFill>
                  <a:srgbClr val="16364B"/>
                </a:solidFill>
              </a:defRPr>
            </a:pPr>
            <a:r>
              <a:rPr sz="1800" b="1">
                <a:solidFill>
                  <a:srgbClr val="16364B"/>
                </a:solidFill>
              </a:rPr>
              <a:t>Randomise eligible repair cases between the current process and one specified expedited-response offer, with safety and service rules fixed in advance.</a:t>
            </a:r>
          </a:p>
        </p:txBody>
      </p:sp>
      <p:sp>
        <p:nvSpPr>
          <p:cNvPr id="8" name="">
            <a:extLst xmlns:a="http://schemas.openxmlformats.org/drawingml/2006/main">
              <a:ext uri="{FF2B5EF4-FFF2-40B4-BE49-F238E27FC236}">
                <a16:creationId xmlns:a16="http://schemas.microsoft.com/office/drawing/2014/main" id="{9403A800-CE2F-4EDA-9F58-1864717A5D43}"/>
              </a:ext>
            </a:extLst>
          </p:cNvPr>
          <p:cNvSpPr>
            <a:spLocks xmlns:a="http://schemas.openxmlformats.org/drawingml/2006/main" noGrp="1"/>
          </p:cNvSpPr>
          <p:nvPr/>
        </p:nvSpPr>
        <p:spPr>
          <a:xfrm xmlns:a="http://schemas.openxmlformats.org/drawingml/2006/main">
            <a:off x="876300" y="29718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80"/>
                </a:solidFill>
              </a:defRPr>
            </a:defPPr>
          </a:lstStyle>
          <a:p xmlns:a="http://schemas.openxmlformats.org/drawingml/2006/main">
            <a:pPr>
              <a:defRPr sz="1575" b="1">
                <a:solidFill>
                  <a:srgbClr val="007E80"/>
                </a:solidFill>
              </a:defRPr>
            </a:pPr>
            <a:r>
              <a:rPr sz="1575" b="1">
                <a:solidFill>
                  <a:srgbClr val="007E80"/>
                </a:solidFill>
              </a:rPr>
              <a:t>Primary outcomes</a:t>
            </a:r>
          </a:p>
        </p:txBody>
      </p:sp>
      <p:sp>
        <p:nvSpPr>
          <p:cNvPr id="9" name="">
            <a:extLst xmlns:a="http://schemas.openxmlformats.org/drawingml/2006/main">
              <a:ext uri="{FF2B5EF4-FFF2-40B4-BE49-F238E27FC236}">
                <a16:creationId xmlns:a16="http://schemas.microsoft.com/office/drawing/2014/main" id="{52185945-B6B4-49F6-8E2A-A52126A062C4}"/>
              </a:ext>
            </a:extLst>
          </p:cNvPr>
          <p:cNvSpPr>
            <a:spLocks xmlns:a="http://schemas.openxmlformats.org/drawingml/2006/main" noGrp="1"/>
          </p:cNvSpPr>
          <p:nvPr/>
        </p:nvSpPr>
        <p:spPr>
          <a:xfrm xmlns:a="http://schemas.openxmlformats.org/drawingml/2006/main">
            <a:off x="876300" y="3371850"/>
            <a:ext cx="4762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26343C"/>
                </a:solidFill>
              </a:defRPr>
            </a:defPPr>
          </a:lstStyle>
          <a:p xmlns:a="http://schemas.openxmlformats.org/drawingml/2006/main">
            <a:pPr>
              <a:defRPr sz="1350" b="0">
                <a:solidFill>
                  <a:srgbClr val="26343C"/>
                </a:solidFill>
              </a:defRPr>
            </a:pPr>
            <a:r>
              <a:rPr sz="1350" b="0">
                <a:solidFill>
                  <a:srgbClr val="26343C"/>
                </a:solidFill>
              </a:rPr>
              <a:t>Unavailable days; time to repair; driver net cash; on-time payment; arrears and cure.</a:t>
            </a:r>
          </a:p>
        </p:txBody>
      </p:sp>
      <p:sp>
        <p:nvSpPr>
          <p:cNvPr id="10" name="">
            <a:extLst xmlns:a="http://schemas.openxmlformats.org/drawingml/2006/main">
              <a:ext uri="{FF2B5EF4-FFF2-40B4-BE49-F238E27FC236}">
                <a16:creationId xmlns:a16="http://schemas.microsoft.com/office/drawing/2014/main" id="{771F0E67-4E35-418F-BACD-AA653AA6C064}"/>
              </a:ext>
            </a:extLst>
          </p:cNvPr>
          <p:cNvSpPr>
            <a:spLocks xmlns:a="http://schemas.openxmlformats.org/drawingml/2006/main" noGrp="1"/>
          </p:cNvSpPr>
          <p:nvPr/>
        </p:nvSpPr>
        <p:spPr>
          <a:xfrm xmlns:a="http://schemas.openxmlformats.org/drawingml/2006/main">
            <a:off x="6429375" y="29718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80"/>
                </a:solidFill>
              </a:defRPr>
            </a:defPPr>
          </a:lstStyle>
          <a:p xmlns:a="http://schemas.openxmlformats.org/drawingml/2006/main">
            <a:pPr>
              <a:defRPr sz="1575" b="1">
                <a:solidFill>
                  <a:srgbClr val="007E80"/>
                </a:solidFill>
              </a:defRPr>
            </a:pPr>
            <a:r>
              <a:rPr sz="1575" b="1">
                <a:solidFill>
                  <a:srgbClr val="007E80"/>
                </a:solidFill>
              </a:rPr>
              <a:t>Balancing outcomes</a:t>
            </a:r>
          </a:p>
        </p:txBody>
      </p:sp>
      <p:sp>
        <p:nvSpPr>
          <p:cNvPr id="11" name="">
            <a:extLst xmlns:a="http://schemas.openxmlformats.org/drawingml/2006/main">
              <a:ext uri="{FF2B5EF4-FFF2-40B4-BE49-F238E27FC236}">
                <a16:creationId xmlns:a16="http://schemas.microsoft.com/office/drawing/2014/main" id="{F670F985-82D2-414C-93D5-2A56A69CACC0}"/>
              </a:ext>
            </a:extLst>
          </p:cNvPr>
          <p:cNvSpPr>
            <a:spLocks xmlns:a="http://schemas.openxmlformats.org/drawingml/2006/main" noGrp="1"/>
          </p:cNvSpPr>
          <p:nvPr/>
        </p:nvSpPr>
        <p:spPr>
          <a:xfrm xmlns:a="http://schemas.openxmlformats.org/drawingml/2006/main">
            <a:off x="6429375" y="3371850"/>
            <a:ext cx="4762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26343C"/>
                </a:solidFill>
              </a:defRPr>
            </a:defPPr>
          </a:lstStyle>
          <a:p xmlns:a="http://schemas.openxmlformats.org/drawingml/2006/main">
            <a:pPr>
              <a:defRPr sz="1350" b="0">
                <a:solidFill>
                  <a:srgbClr val="26343C"/>
                </a:solidFill>
              </a:defRPr>
            </a:pPr>
            <a:r>
              <a:rPr sz="1350" b="0">
                <a:solidFill>
                  <a:srgbClr val="26343C"/>
                </a:solidFill>
              </a:rPr>
              <a:t>Operator cash and equity calls; fee waivers; claim frequency; customer complaints; service quality.</a:t>
            </a:r>
          </a:p>
        </p:txBody>
      </p:sp>
      <p:sp>
        <p:nvSpPr>
          <p:cNvPr id="12" name="">
            <a:extLst xmlns:a="http://schemas.openxmlformats.org/drawingml/2006/main">
              <a:ext uri="{FF2B5EF4-FFF2-40B4-BE49-F238E27FC236}">
                <a16:creationId xmlns:a16="http://schemas.microsoft.com/office/drawing/2014/main" id="{327C6E11-9173-4F45-8214-AE3D0361FC29}"/>
              </a:ext>
            </a:extLst>
          </p:cNvPr>
          <p:cNvSpPr>
            <a:spLocks xmlns:a="http://schemas.openxmlformats.org/drawingml/2006/main" noGrp="1"/>
          </p:cNvSpPr>
          <p:nvPr/>
        </p:nvSpPr>
        <p:spPr>
          <a:xfrm xmlns:a="http://schemas.openxmlformats.org/drawingml/2006/main">
            <a:off x="876300" y="5257800"/>
            <a:ext cx="1038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1">
                <a:solidFill>
                  <a:srgbClr val="007E80"/>
                </a:solidFill>
              </a:defRPr>
            </a:defPPr>
          </a:lstStyle>
          <a:p xmlns:a="http://schemas.openxmlformats.org/drawingml/2006/main">
            <a:pPr>
              <a:defRPr sz="1425" b="1">
                <a:solidFill>
                  <a:srgbClr val="007E80"/>
                </a:solidFill>
              </a:defRPr>
            </a:pPr>
            <a:r>
              <a:rPr sz="1425" b="1">
                <a:solidFill>
                  <a:srgbClr val="007E80"/>
                </a:solidFill>
              </a:rPr>
              <a:t>Pre-specify eligibility, assignment, follow-up, exclusions, missing-data treatment and stop conditions.</a:t>
            </a:r>
          </a:p>
        </p:txBody>
      </p:sp>
    </p:spTree>
    <p:extLst>
      <p:ext uri="{BB962C8B-B14F-4D97-AF65-F5344CB8AC3E}">
        <p14:creationId xmlns:p14="http://schemas.microsoft.com/office/powerpoint/2010/main" val="9300651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62D059-94BC-4E4D-A40D-F9A5DA4EA21D}"/>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DATA AND GOVERNANCE</a:t>
            </a:r>
          </a:p>
        </p:txBody>
      </p:sp>
      <p:sp>
        <p:nvSpPr>
          <p:cNvPr id="2" name="">
            <a:extLst xmlns:a="http://schemas.openxmlformats.org/drawingml/2006/main">
              <a:ext uri="{FF2B5EF4-FFF2-40B4-BE49-F238E27FC236}">
                <a16:creationId xmlns:a16="http://schemas.microsoft.com/office/drawing/2014/main" id="{75F7B542-AF47-4785-9E47-A6969C6470EF}"/>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Keep participant rights and decision authority visible</a:t>
            </a:r>
          </a:p>
        </p:txBody>
      </p:sp>
      <p:sp>
        <p:nvSpPr>
          <p:cNvPr id="3" name="">
            <a:extLst xmlns:a="http://schemas.openxmlformats.org/drawingml/2006/main">
              <a:ext uri="{FF2B5EF4-FFF2-40B4-BE49-F238E27FC236}">
                <a16:creationId xmlns:a16="http://schemas.microsoft.com/office/drawing/2014/main" id="{0519DF87-4CD0-4E46-9106-6F2BF2BC54BC}"/>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2901B76-BB85-4207-BAFE-BB1861853EA0}"/>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8572C85-94A8-4E0E-AF1E-C522AFD1CC56}"/>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23590D5F-0CD5-4E19-8150-C58BE6720BB5}"/>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09</a:t>
            </a:r>
          </a:p>
        </p:txBody>
      </p:sp>
      <p:sp>
        <p:nvSpPr>
          <p:cNvPr id="7" name="">
            <a:extLst xmlns:a="http://schemas.openxmlformats.org/drawingml/2006/main">
              <a:ext uri="{FF2B5EF4-FFF2-40B4-BE49-F238E27FC236}">
                <a16:creationId xmlns:a16="http://schemas.microsoft.com/office/drawing/2014/main" id="{103B06C5-D51C-4EF9-B2E3-687884761A8E}"/>
              </a:ext>
            </a:extLst>
          </p:cNvPr>
          <p:cNvSpPr>
            <a:spLocks xmlns:a="http://schemas.openxmlformats.org/drawingml/2006/main" noGrp="1"/>
          </p:cNvSpPr>
          <p:nvPr/>
        </p:nvSpPr>
        <p:spPr>
          <a:xfrm xmlns:a="http://schemas.openxmlformats.org/drawingml/2006/main">
            <a:off x="933450" y="1952625"/>
            <a:ext cx="10001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26343C"/>
                </a:solidFill>
              </a:defRPr>
            </a:defPPr>
          </a:lstStyle>
          <a:p xmlns:a="http://schemas.openxmlformats.org/drawingml/2006/main">
            <a:pPr>
              <a:defRPr sz="1650" b="0">
                <a:solidFill>
                  <a:srgbClr val="26343C"/>
                </a:solidFill>
              </a:defRPr>
            </a:pPr>
            <a:r>
              <a:rPr sz="1650" b="0">
                <a:solidFill>
                  <a:srgbClr val="26343C"/>
                </a:solidFill>
              </a:rPr>
              <a:t>Use a purpose-specific data map across platform, repair, repayment, insurance and household cash records.</a:t>
            </a:r>
          </a:p>
          <a:p xmlns:a="http://schemas.openxmlformats.org/drawingml/2006/main">
            <a:pPr>
              <a:defRPr sz="1650" b="0">
                <a:solidFill>
                  <a:srgbClr val="26343C"/>
                </a:solidFill>
              </a:defRPr>
            </a:pPr>
            <a:r>
              <a:rPr sz="1650" b="0">
                <a:solidFill>
                  <a:srgbClr val="26343C"/>
                </a:solidFill>
              </a:rPr>
              <a:t>Minimise identifiers; retain the linkage key under restricted access.</a:t>
            </a:r>
          </a:p>
          <a:p xmlns:a="http://schemas.openxmlformats.org/drawingml/2006/main">
            <a:pPr>
              <a:defRPr sz="1650" b="0">
                <a:solidFill>
                  <a:srgbClr val="26343C"/>
                </a:solidFill>
              </a:defRPr>
            </a:pPr>
            <a:r>
              <a:rPr sz="1650" b="0">
                <a:solidFill>
                  <a:srgbClr val="26343C"/>
                </a:solidFill>
              </a:rPr>
              <a:t>Record source, timestamp, event ID, model version and decision owner.</a:t>
            </a:r>
          </a:p>
          <a:p xmlns:a="http://schemas.openxmlformats.org/drawingml/2006/main">
            <a:pPr>
              <a:defRPr sz="1650" b="0">
                <a:solidFill>
                  <a:srgbClr val="26343C"/>
                </a:solidFill>
              </a:defRPr>
            </a:pPr>
            <a:r>
              <a:rPr sz="1650" b="0">
                <a:solidFill>
                  <a:srgbClr val="26343C"/>
                </a:solidFill>
              </a:rPr>
              <a:t>Route material changes and hardship cases to trained human review.</a:t>
            </a:r>
          </a:p>
          <a:p xmlns:a="http://schemas.openxmlformats.org/drawingml/2006/main">
            <a:pPr>
              <a:defRPr sz="1650" b="0">
                <a:solidFill>
                  <a:srgbClr val="26343C"/>
                </a:solidFill>
              </a:defRPr>
            </a:pPr>
            <a:r>
              <a:rPr sz="1650" b="0">
                <a:solidFill>
                  <a:srgbClr val="26343C"/>
                </a:solidFill>
              </a:rPr>
              <a:t>Separate proposed service alerts from credit-policy changes and collection authority.</a:t>
            </a:r>
          </a:p>
        </p:txBody>
      </p:sp>
      <p:sp>
        <p:nvSpPr>
          <p:cNvPr id="8" name="">
            <a:extLst xmlns:a="http://schemas.openxmlformats.org/drawingml/2006/main">
              <a:ext uri="{FF2B5EF4-FFF2-40B4-BE49-F238E27FC236}">
                <a16:creationId xmlns:a16="http://schemas.microsoft.com/office/drawing/2014/main" id="{517F1EDC-FBEA-4AA1-BC63-940CC3434CD7}"/>
              </a:ext>
            </a:extLst>
          </p:cNvPr>
          <p:cNvSpPr>
            <a:spLocks xmlns:a="http://schemas.openxmlformats.org/drawingml/2006/main" noGrp="1"/>
          </p:cNvSpPr>
          <p:nvPr/>
        </p:nvSpPr>
        <p:spPr>
          <a:xfrm xmlns:a="http://schemas.openxmlformats.org/drawingml/2006/main">
            <a:off x="933450" y="509587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6364B"/>
                </a:solidFill>
              </a:defRPr>
            </a:defPPr>
          </a:lstStyle>
          <a:p xmlns:a="http://schemas.openxmlformats.org/drawingml/2006/main">
            <a:pPr>
              <a:defRPr sz="1500" b="1">
                <a:solidFill>
                  <a:srgbClr val="16364B"/>
                </a:solidFill>
              </a:defRPr>
            </a:pPr>
            <a:r>
              <a:rPr sz="1500" b="1">
                <a:solidFill>
                  <a:srgbClr val="16364B"/>
                </a:solidFill>
              </a:rPr>
              <a:t>The pilot needs an approved data-protection assessment, customer communication, access controls and a documented review path.</a:t>
            </a:r>
          </a:p>
        </p:txBody>
      </p:sp>
    </p:spTree>
    <p:extLst>
      <p:ext uri="{BB962C8B-B14F-4D97-AF65-F5344CB8AC3E}">
        <p14:creationId xmlns:p14="http://schemas.microsoft.com/office/powerpoint/2010/main" val="1624410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9D70800-5C62-430E-8222-DC2CA899387B}"/>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PROPOSED NEXT STEP</a:t>
            </a:r>
          </a:p>
        </p:txBody>
      </p:sp>
      <p:sp>
        <p:nvSpPr>
          <p:cNvPr id="2" name="">
            <a:extLst xmlns:a="http://schemas.openxmlformats.org/drawingml/2006/main">
              <a:ext uri="{FF2B5EF4-FFF2-40B4-BE49-F238E27FC236}">
                <a16:creationId xmlns:a16="http://schemas.microsoft.com/office/drawing/2014/main" id="{50A48384-BA92-4D3B-B50F-1575A266AA6B}"/>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A focused design phase can produce a decision-ready pilot</a:t>
            </a:r>
          </a:p>
        </p:txBody>
      </p:sp>
      <p:sp>
        <p:nvSpPr>
          <p:cNvPr id="3" name="">
            <a:extLst xmlns:a="http://schemas.openxmlformats.org/drawingml/2006/main">
              <a:ext uri="{FF2B5EF4-FFF2-40B4-BE49-F238E27FC236}">
                <a16:creationId xmlns:a16="http://schemas.microsoft.com/office/drawing/2014/main" id="{69FA1625-CC9A-48B1-AD25-5730FE9D0C61}"/>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34B809-601B-4A88-98EF-B50D646D6382}"/>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72D1FC-44F5-404E-B975-C5E170B6C5CB}"/>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937935F5-DED2-41F7-968D-138FAAC91F27}"/>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10</a:t>
            </a:r>
          </a:p>
        </p:txBody>
      </p:sp>
      <p:sp>
        <p:nvSpPr>
          <p:cNvPr id="7" name="">
            <a:extLst xmlns:a="http://schemas.openxmlformats.org/drawingml/2006/main">
              <a:ext uri="{FF2B5EF4-FFF2-40B4-BE49-F238E27FC236}">
                <a16:creationId xmlns:a16="http://schemas.microsoft.com/office/drawing/2014/main" id="{AE7C2F92-9BB5-4764-BA15-569EBC72CB9D}"/>
              </a:ext>
            </a:extLst>
          </p:cNvPr>
          <p:cNvSpPr>
            <a:spLocks xmlns:a="http://schemas.openxmlformats.org/drawingml/2006/main" noGrp="1"/>
          </p:cNvSpPr>
          <p:nvPr/>
        </p:nvSpPr>
        <p:spPr>
          <a:xfrm xmlns:a="http://schemas.openxmlformats.org/drawingml/2006/main">
            <a:off x="876300" y="1952625"/>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80"/>
                </a:solidFill>
              </a:defRPr>
            </a:defPPr>
          </a:lstStyle>
          <a:p xmlns:a="http://schemas.openxmlformats.org/drawingml/2006/main">
            <a:pPr>
              <a:defRPr sz="1575" b="1">
                <a:solidFill>
                  <a:srgbClr val="007E80"/>
                </a:solidFill>
              </a:defRPr>
            </a:pPr>
            <a:r>
              <a:rPr sz="1575" b="1">
                <a:solidFill>
                  <a:srgbClr val="007E80"/>
                </a:solidFill>
              </a:rPr>
              <a:t>First working session</a:t>
            </a:r>
          </a:p>
        </p:txBody>
      </p:sp>
      <p:sp>
        <p:nvSpPr>
          <p:cNvPr id="8" name="">
            <a:extLst xmlns:a="http://schemas.openxmlformats.org/drawingml/2006/main">
              <a:ext uri="{FF2B5EF4-FFF2-40B4-BE49-F238E27FC236}">
                <a16:creationId xmlns:a16="http://schemas.microsoft.com/office/drawing/2014/main" id="{F1F6DFCD-9A4F-465C-8059-E67EB3C91BE5}"/>
              </a:ext>
            </a:extLst>
          </p:cNvPr>
          <p:cNvSpPr>
            <a:spLocks xmlns:a="http://schemas.openxmlformats.org/drawingml/2006/main" noGrp="1"/>
          </p:cNvSpPr>
          <p:nvPr/>
        </p:nvSpPr>
        <p:spPr>
          <a:xfrm xmlns:a="http://schemas.openxmlformats.org/drawingml/2006/main">
            <a:off x="876300" y="2352675"/>
            <a:ext cx="4857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26343C"/>
                </a:solidFill>
              </a:defRPr>
            </a:defPPr>
          </a:lstStyle>
          <a:p xmlns:a="http://schemas.openxmlformats.org/drawingml/2006/main">
            <a:pPr>
              <a:defRPr sz="1350" b="0">
                <a:solidFill>
                  <a:srgbClr val="26343C"/>
                </a:solidFill>
              </a:defRPr>
            </a:pPr>
            <a:r>
              <a:rPr sz="1350" b="0">
                <a:solidFill>
                  <a:srgbClr val="26343C"/>
                </a:solidFill>
              </a:rPr>
              <a:t>Bring fleet/repair operations, credit, collections, finance, insurance, data, compliance and customer-support owners.</a:t>
            </a:r>
          </a:p>
        </p:txBody>
      </p:sp>
      <p:sp>
        <p:nvSpPr>
          <p:cNvPr id="9" name="">
            <a:extLst xmlns:a="http://schemas.openxmlformats.org/drawingml/2006/main">
              <a:ext uri="{FF2B5EF4-FFF2-40B4-BE49-F238E27FC236}">
                <a16:creationId xmlns:a16="http://schemas.microsoft.com/office/drawing/2014/main" id="{E76E82A4-F820-444F-9C15-036D863D33E9}"/>
              </a:ext>
            </a:extLst>
          </p:cNvPr>
          <p:cNvSpPr>
            <a:spLocks xmlns:a="http://schemas.openxmlformats.org/drawingml/2006/main" noGrp="1"/>
          </p:cNvSpPr>
          <p:nvPr/>
        </p:nvSpPr>
        <p:spPr>
          <a:xfrm xmlns:a="http://schemas.openxmlformats.org/drawingml/2006/main">
            <a:off x="6429375" y="1952625"/>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007E80"/>
                </a:solidFill>
              </a:defRPr>
            </a:defPPr>
          </a:lstStyle>
          <a:p xmlns:a="http://schemas.openxmlformats.org/drawingml/2006/main">
            <a:pPr>
              <a:defRPr sz="1575" b="1">
                <a:solidFill>
                  <a:srgbClr val="007E80"/>
                </a:solidFill>
              </a:defRPr>
            </a:pPr>
            <a:r>
              <a:rPr sz="1575" b="1">
                <a:solidFill>
                  <a:srgbClr val="007E80"/>
                </a:solidFill>
              </a:rPr>
              <a:t>First deliverables</a:t>
            </a:r>
          </a:p>
        </p:txBody>
      </p:sp>
      <p:sp>
        <p:nvSpPr>
          <p:cNvPr id="10" name="">
            <a:extLst xmlns:a="http://schemas.openxmlformats.org/drawingml/2006/main">
              <a:ext uri="{FF2B5EF4-FFF2-40B4-BE49-F238E27FC236}">
                <a16:creationId xmlns:a16="http://schemas.microsoft.com/office/drawing/2014/main" id="{CC23D753-6403-46C9-AB14-811B011D7617}"/>
              </a:ext>
            </a:extLst>
          </p:cNvPr>
          <p:cNvSpPr>
            <a:spLocks xmlns:a="http://schemas.openxmlformats.org/drawingml/2006/main" noGrp="1"/>
          </p:cNvSpPr>
          <p:nvPr/>
        </p:nvSpPr>
        <p:spPr>
          <a:xfrm xmlns:a="http://schemas.openxmlformats.org/drawingml/2006/main">
            <a:off x="6429375" y="2352675"/>
            <a:ext cx="48577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26343C"/>
                </a:solidFill>
              </a:defRPr>
            </a:defPPr>
          </a:lstStyle>
          <a:p xmlns:a="http://schemas.openxmlformats.org/drawingml/2006/main">
            <a:pPr>
              <a:defRPr sz="1350" b="0">
                <a:solidFill>
                  <a:srgbClr val="26343C"/>
                </a:solidFill>
              </a:defRPr>
            </a:pPr>
            <a:r>
              <a:rPr sz="1350" b="0">
                <a:solidFill>
                  <a:srgbClr val="26343C"/>
                </a:solidFill>
              </a:rPr>
              <a:t>Agreed event schema; verified scenario inputs; intervention definition; outcome dictionary; pilot protocol; review gates.</a:t>
            </a:r>
          </a:p>
        </p:txBody>
      </p:sp>
      <p:sp>
        <p:nvSpPr>
          <p:cNvPr id="11" name="">
            <a:extLst xmlns:a="http://schemas.openxmlformats.org/drawingml/2006/main">
              <a:ext uri="{FF2B5EF4-FFF2-40B4-BE49-F238E27FC236}">
                <a16:creationId xmlns:a16="http://schemas.microsoft.com/office/drawing/2014/main" id="{3923A71A-6F9A-48AD-A674-0B7488F87763}"/>
              </a:ext>
            </a:extLst>
          </p:cNvPr>
          <p:cNvSpPr>
            <a:spLocks xmlns:a="http://schemas.openxmlformats.org/drawingml/2006/main" noGrp="1"/>
          </p:cNvSpPr>
          <p:nvPr/>
        </p:nvSpPr>
        <p:spPr>
          <a:xfrm xmlns:a="http://schemas.openxmlformats.org/drawingml/2006/main">
            <a:off x="914400" y="49530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007E80"/>
                </a:solidFill>
              </a:defRPr>
            </a:defPPr>
          </a:lstStyle>
          <a:p xmlns:a="http://schemas.openxmlformats.org/drawingml/2006/main">
            <a:pPr>
              <a:defRPr sz="1875" b="1">
                <a:solidFill>
                  <a:srgbClr val="007E80"/>
                </a:solidFill>
              </a:defRPr>
            </a:pPr>
            <a:r>
              <a:rPr sz="1875" b="1">
                <a:solidFill>
                  <a:srgbClr val="007E80"/>
                </a:solidFill>
              </a:rPr>
              <a:t>Decision requested: nominate data and operating owners for a scoped feasibility workshop.</a:t>
            </a:r>
          </a:p>
        </p:txBody>
      </p:sp>
    </p:spTree>
    <p:extLst>
      <p:ext uri="{BB962C8B-B14F-4D97-AF65-F5344CB8AC3E}">
        <p14:creationId xmlns:p14="http://schemas.microsoft.com/office/powerpoint/2010/main" val="3562453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354F5B-6967-4FA7-ADB7-210535402738}"/>
              </a:ext>
            </a:extLst>
          </p:cNvPr>
          <p:cNvSpPr>
            <a:spLocks xmlns:a="http://schemas.openxmlformats.org/drawingml/2006/main" noGrp="1"/>
          </p:cNvSpPr>
          <p:nvPr/>
        </p:nvSpPr>
        <p:spPr>
          <a:xfrm xmlns:a="http://schemas.openxmlformats.org/drawingml/2006/main">
            <a:off x="704850" y="266700"/>
            <a:ext cx="904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007E80"/>
                </a:solidFill>
              </a:defRPr>
            </a:defPPr>
          </a:lstStyle>
          <a:p xmlns:a="http://schemas.openxmlformats.org/drawingml/2006/main">
            <a:pPr>
              <a:defRPr sz="900" b="1">
                <a:solidFill>
                  <a:srgbClr val="007E80"/>
                </a:solidFill>
              </a:defRPr>
            </a:pPr>
            <a:r>
              <a:rPr sz="900" b="1">
                <a:solidFill>
                  <a:srgbClr val="007E80"/>
                </a:solidFill>
              </a:rPr>
              <a:t>SOURCES AND MODEL NOTE</a:t>
            </a:r>
          </a:p>
        </p:txBody>
      </p:sp>
      <p:sp>
        <p:nvSpPr>
          <p:cNvPr id="2" name="">
            <a:extLst xmlns:a="http://schemas.openxmlformats.org/drawingml/2006/main">
              <a:ext uri="{FF2B5EF4-FFF2-40B4-BE49-F238E27FC236}">
                <a16:creationId xmlns:a16="http://schemas.microsoft.com/office/drawing/2014/main" id="{39518DBE-3DA4-4E74-929F-22DC9CD6AC07}"/>
              </a:ext>
            </a:extLst>
          </p:cNvPr>
          <p:cNvSpPr>
            <a:spLocks xmlns:a="http://schemas.openxmlformats.org/drawingml/2006/main" noGrp="1"/>
          </p:cNvSpPr>
          <p:nvPr/>
        </p:nvSpPr>
        <p:spPr>
          <a:xfrm xmlns:a="http://schemas.openxmlformats.org/drawingml/2006/main">
            <a:off x="704850" y="628650"/>
            <a:ext cx="10782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550" b="1">
                <a:solidFill>
                  <a:srgbClr val="16364B"/>
                </a:solidFill>
              </a:defRPr>
            </a:defPPr>
          </a:lstStyle>
          <a:p xmlns:a="http://schemas.openxmlformats.org/drawingml/2006/main">
            <a:pPr>
              <a:defRPr sz="2550" b="1">
                <a:solidFill>
                  <a:srgbClr val="16364B"/>
                </a:solidFill>
              </a:defRPr>
            </a:pPr>
            <a:r>
              <a:rPr sz="2550" b="1">
                <a:solidFill>
                  <a:srgbClr val="16364B"/>
                </a:solidFill>
              </a:rPr>
              <a:t>Evidence and scope</a:t>
            </a:r>
          </a:p>
        </p:txBody>
      </p:sp>
      <p:sp>
        <p:nvSpPr>
          <p:cNvPr id="3" name="">
            <a:extLst xmlns:a="http://schemas.openxmlformats.org/drawingml/2006/main">
              <a:ext uri="{FF2B5EF4-FFF2-40B4-BE49-F238E27FC236}">
                <a16:creationId xmlns:a16="http://schemas.microsoft.com/office/drawing/2014/main" id="{17AA621B-0E3A-4BA8-8BB6-6858D6CEA6BD}"/>
              </a:ext>
            </a:extLst>
          </p:cNvPr>
          <p:cNvSpPr>
            <a:spLocks xmlns:a="http://schemas.openxmlformats.org/drawingml/2006/main" noGrp="1"/>
          </p:cNvSpPr>
          <p:nvPr/>
        </p:nvSpPr>
        <p:spPr>
          <a:xfrm xmlns:a="http://schemas.openxmlformats.org/drawingml/2006/main">
            <a:off x="704850" y="1438275"/>
            <a:ext cx="10782300" cy="19050"/>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DA1388-735B-4710-A563-EBFAB82F3B06}"/>
              </a:ext>
            </a:extLst>
          </p:cNvPr>
          <p:cNvSpPr>
            <a:spLocks xmlns:a="http://schemas.openxmlformats.org/drawingml/2006/main" noGrp="1"/>
          </p:cNvSpPr>
          <p:nvPr/>
        </p:nvSpPr>
        <p:spPr>
          <a:xfrm xmlns:a="http://schemas.openxmlformats.org/drawingml/2006/main">
            <a:off x="704850" y="6534150"/>
            <a:ext cx="10782300" cy="9525"/>
          </a:xfrm>
          <a:prstGeom xmlns:a="http://schemas.openxmlformats.org/drawingml/2006/main" prst="rect">
            <a:avLst/>
          </a:prstGeom>
          <a:solidFill xmlns:a="http://schemas.openxmlformats.org/drawingml/2006/main">
            <a:srgbClr val="D9E1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1AE318-7017-435F-A857-ACDB36E0D361}"/>
              </a:ext>
            </a:extLst>
          </p:cNvPr>
          <p:cNvSpPr>
            <a:spLocks xmlns:a="http://schemas.openxmlformats.org/drawingml/2006/main" noGrp="1"/>
          </p:cNvSpPr>
          <p:nvPr/>
        </p:nvSpPr>
        <p:spPr>
          <a:xfrm xmlns:a="http://schemas.openxmlformats.org/drawingml/2006/main">
            <a:off x="704850" y="65913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0">
                <a:solidFill>
                  <a:srgbClr val="63727A"/>
                </a:solidFill>
              </a:defRPr>
            </a:defPPr>
          </a:lstStyle>
          <a:p xmlns:a="http://schemas.openxmlformats.org/drawingml/2006/main">
            <a:pPr>
              <a:defRPr sz="825" b="0">
                <a:solidFill>
                  <a:srgbClr val="63727A"/>
                </a:solidFill>
              </a:defRPr>
            </a:pPr>
            <a:r>
              <a:rPr sz="825" b="0">
                <a:solidFill>
                  <a:srgbClr val="63727A"/>
                </a:solidFill>
              </a:rPr>
              <a:t>Research partnership concept  ·  Nevil Maloba  ·  14 October 2026</a:t>
            </a:r>
          </a:p>
        </p:txBody>
      </p:sp>
      <p:sp>
        <p:nvSpPr>
          <p:cNvPr id="6" name="">
            <a:extLst xmlns:a="http://schemas.openxmlformats.org/drawingml/2006/main">
              <a:ext uri="{FF2B5EF4-FFF2-40B4-BE49-F238E27FC236}">
                <a16:creationId xmlns:a16="http://schemas.microsoft.com/office/drawing/2014/main" id="{89FFAE25-E19E-4F97-87DE-B64C11990703}"/>
              </a:ext>
            </a:extLst>
          </p:cNvPr>
          <p:cNvSpPr>
            <a:spLocks xmlns:a="http://schemas.openxmlformats.org/drawingml/2006/main" noGrp="1"/>
          </p:cNvSpPr>
          <p:nvPr/>
        </p:nvSpPr>
        <p:spPr>
          <a:xfrm xmlns:a="http://schemas.openxmlformats.org/drawingml/2006/main">
            <a:off x="11029950" y="659130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825" b="1">
                <a:solidFill>
                  <a:srgbClr val="63727A"/>
                </a:solidFill>
              </a:defRPr>
            </a:defPPr>
          </a:lstStyle>
          <a:p xmlns:a="http://schemas.openxmlformats.org/drawingml/2006/main">
            <a:pPr>
              <a:defRPr sz="825" b="1">
                <a:solidFill>
                  <a:srgbClr val="63727A"/>
                </a:solidFill>
              </a:defRPr>
            </a:pPr>
            <a:r>
              <a:rPr sz="825" b="1">
                <a:solidFill>
                  <a:srgbClr val="63727A"/>
                </a:solidFill>
              </a:rPr>
              <a:t>11</a:t>
            </a:r>
          </a:p>
        </p:txBody>
      </p:sp>
      <p:sp>
        <p:nvSpPr>
          <p:cNvPr id="7" name="">
            <a:extLst xmlns:a="http://schemas.openxmlformats.org/drawingml/2006/main">
              <a:ext uri="{FF2B5EF4-FFF2-40B4-BE49-F238E27FC236}">
                <a16:creationId xmlns:a16="http://schemas.microsoft.com/office/drawing/2014/main" id="{2912563F-2E0E-47AE-A1D8-17B26095A129}"/>
              </a:ext>
            </a:extLst>
          </p:cNvPr>
          <p:cNvSpPr>
            <a:spLocks xmlns:a="http://schemas.openxmlformats.org/drawingml/2006/main" noGrp="1"/>
          </p:cNvSpPr>
          <p:nvPr/>
        </p:nvSpPr>
        <p:spPr>
          <a:xfrm xmlns:a="http://schemas.openxmlformats.org/drawingml/2006/main">
            <a:off x="933450" y="1952625"/>
            <a:ext cx="102870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26343C"/>
                </a:solidFill>
              </a:defRPr>
            </a:defPPr>
          </a:lstStyle>
          <a:p xmlns:a="http://schemas.openxmlformats.org/drawingml/2006/main">
            <a:pPr>
              <a:defRPr sz="1500" b="0">
                <a:solidFill>
                  <a:srgbClr val="26343C"/>
                </a:solidFill>
              </a:defRPr>
            </a:pPr>
            <a:r>
              <a:rPr sz="1500" b="0">
                <a:solidFill>
                  <a:srgbClr val="26343C"/>
                </a:solidFill>
              </a:rPr>
              <a:t>CGAP, Putting Gig Data to Work, 2023.</a:t>
            </a:r>
          </a:p>
          <a:p xmlns:a="http://schemas.openxmlformats.org/drawingml/2006/main">
            <a:pPr>
              <a:defRPr sz="1500" b="0">
                <a:solidFill>
                  <a:srgbClr val="26343C"/>
                </a:solidFill>
              </a:defRPr>
            </a:pPr>
            <a:r>
              <a:rPr sz="1500" b="0">
                <a:solidFill>
                  <a:srgbClr val="26343C"/>
                </a:solidFill>
              </a:rPr>
              <a:t>Mwendo Pamoja repository and 156-week mobility fleet case: https://github.com/TheAlchemistNerd/mwendo-pamoja-continuous-underwriting</a:t>
            </a:r>
          </a:p>
          <a:p xmlns:a="http://schemas.openxmlformats.org/drawingml/2006/main">
            <a:pPr>
              <a:defRPr sz="1500" b="0">
                <a:solidFill>
                  <a:srgbClr val="26343C"/>
                </a:solidFill>
              </a:defRPr>
            </a:pPr>
            <a:r>
              <a:rPr sz="1500" b="0">
                <a:solidFill>
                  <a:srgbClr val="26343C"/>
                </a:solidFill>
              </a:rPr>
              <a:t>Synthetic operating and financing assumptions; weekly ledgers and verification files are retained in the research_lab and output folders.</a:t>
            </a:r>
          </a:p>
          <a:p xmlns:a="http://schemas.openxmlformats.org/drawingml/2006/main">
            <a:pPr>
              <a:defRPr sz="1500" b="0">
                <a:solidFill>
                  <a:srgbClr val="26343C"/>
                </a:solidFill>
              </a:defRPr>
            </a:pPr>
            <a:r>
              <a:rPr sz="1500" b="0">
                <a:solidFill>
                  <a:srgbClr val="26343C"/>
                </a:solidFill>
              </a:rPr>
              <a:t>All chart amounts are KES. Results are illustrative and depend on stated model assumptions.</a:t>
            </a:r>
          </a:p>
        </p:txBody>
      </p:sp>
      <p:sp>
        <p:nvSpPr>
          <p:cNvPr id="8" name="">
            <a:extLst xmlns:a="http://schemas.openxmlformats.org/drawingml/2006/main">
              <a:ext uri="{FF2B5EF4-FFF2-40B4-BE49-F238E27FC236}">
                <a16:creationId xmlns:a16="http://schemas.microsoft.com/office/drawing/2014/main" id="{C962A125-C88E-457B-AE08-E51C068E0856}"/>
              </a:ext>
            </a:extLst>
          </p:cNvPr>
          <p:cNvSpPr>
            <a:spLocks xmlns:a="http://schemas.openxmlformats.org/drawingml/2006/main" noGrp="1"/>
          </p:cNvSpPr>
          <p:nvPr/>
        </p:nvSpPr>
        <p:spPr>
          <a:xfrm xmlns:a="http://schemas.openxmlformats.org/drawingml/2006/main">
            <a:off x="933450" y="5095875"/>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6364B"/>
                </a:solidFill>
              </a:defRPr>
            </a:defPPr>
          </a:lstStyle>
          <a:p xmlns:a="http://schemas.openxmlformats.org/drawingml/2006/main">
            <a:pPr>
              <a:defRPr sz="1800" b="1">
                <a:solidFill>
                  <a:srgbClr val="16364B"/>
                </a:solidFill>
              </a:defRPr>
            </a:pPr>
            <a:r>
              <a:rPr sz="1800" b="1">
                <a:solidFill>
                  <a:srgbClr val="16364B"/>
                </a:solidFill>
              </a:rPr>
              <a:t>Proposed collaboration question: which service and financing design can improve fleet uptime while maintaining transparent economics for each participant?</a:t>
            </a:r>
          </a:p>
        </p:txBody>
      </p:sp>
    </p:spTree>
    <p:extLst>
      <p:ext uri="{BB962C8B-B14F-4D97-AF65-F5344CB8AC3E}">
        <p14:creationId xmlns:p14="http://schemas.microsoft.com/office/powerpoint/2010/main" val="2420383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2026-10-13T23:24:56.0960000Z</dcterms:created>
  <dcterms:modified xsi:type="dcterms:W3CDTF">2026-10-13T23:24:56.0960000Z</dcterms:modified>
</coreProperties>
</file>